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pto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3293" autoAdjust="0"/>
  </p:normalViewPr>
  <p:slideViewPr>
    <p:cSldViewPr>
      <p:cViewPr varScale="1">
        <p:scale>
          <a:sx n="62" d="100"/>
          <a:sy n="62" d="100"/>
        </p:scale>
        <p:origin x="12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Guion </a:t>
            </a:r>
            <a:r>
              <a:rPr lang="en-US" dirty="0" err="1"/>
              <a:t>sugerido</a:t>
            </a:r>
            <a:r>
              <a:rPr lang="en-US" dirty="0"/>
              <a:t>:</a:t>
            </a:r>
          </a:p>
          <a:p>
            <a:r>
              <a:rPr lang="en-US" dirty="0"/>
              <a:t>Buenos días o </a:t>
            </a:r>
            <a:r>
              <a:rPr lang="en-US" dirty="0" err="1"/>
              <a:t>buenas</a:t>
            </a:r>
            <a:r>
              <a:rPr lang="en-US" dirty="0"/>
              <a:t> </a:t>
            </a:r>
            <a:r>
              <a:rPr lang="en-US" dirty="0" err="1"/>
              <a:t>tardes</a:t>
            </a:r>
            <a:r>
              <a:rPr lang="en-US" dirty="0"/>
              <a:t>. Somos Matias Bello y Matias Mercado y </a:t>
            </a:r>
            <a:r>
              <a:rPr lang="en-US" dirty="0" err="1"/>
              <a:t>presentaremos</a:t>
            </a:r>
            <a:r>
              <a:rPr lang="en-US" dirty="0"/>
              <a:t> </a:t>
            </a:r>
            <a:r>
              <a:rPr lang="en-US" dirty="0" err="1"/>
              <a:t>el</a:t>
            </a:r>
            <a:r>
              <a:rPr lang="en-US" dirty="0"/>
              <a:t> </a:t>
            </a:r>
            <a:r>
              <a:rPr lang="en-US" dirty="0" err="1"/>
              <a:t>proyecto</a:t>
            </a:r>
            <a:r>
              <a:rPr lang="en-US" dirty="0"/>
              <a:t> </a:t>
            </a:r>
            <a:r>
              <a:rPr lang="en-US" dirty="0" err="1"/>
              <a:t>realizado</a:t>
            </a:r>
            <a:r>
              <a:rPr lang="en-US" dirty="0"/>
              <a:t> para la </a:t>
            </a:r>
            <a:r>
              <a:rPr lang="en-US" dirty="0" err="1"/>
              <a:t>Evaluación</a:t>
            </a:r>
            <a:r>
              <a:rPr lang="en-US" dirty="0"/>
              <a:t> </a:t>
            </a:r>
            <a:r>
              <a:rPr lang="en-US" dirty="0" err="1"/>
              <a:t>Parcial</a:t>
            </a:r>
            <a:r>
              <a:rPr lang="en-US" dirty="0"/>
              <a:t> N°2 de ISY1101. En </a:t>
            </a:r>
            <a:r>
              <a:rPr lang="en-US" dirty="0" err="1"/>
              <a:t>esta</a:t>
            </a:r>
            <a:r>
              <a:rPr lang="en-US" dirty="0"/>
              <a:t> </a:t>
            </a:r>
            <a:r>
              <a:rPr lang="en-US" dirty="0" err="1"/>
              <a:t>entrega</a:t>
            </a:r>
            <a:r>
              <a:rPr lang="en-US" dirty="0"/>
              <a:t> </a:t>
            </a:r>
            <a:r>
              <a:rPr lang="en-US" dirty="0" err="1"/>
              <a:t>trabajamos</a:t>
            </a:r>
            <a:r>
              <a:rPr lang="en-US" dirty="0"/>
              <a:t> </a:t>
            </a:r>
            <a:r>
              <a:rPr lang="en-US" dirty="0" err="1"/>
              <a:t>una</a:t>
            </a:r>
            <a:r>
              <a:rPr lang="en-US" dirty="0"/>
              <a:t> </a:t>
            </a:r>
            <a:r>
              <a:rPr lang="en-US" dirty="0" err="1"/>
              <a:t>solución</a:t>
            </a:r>
            <a:r>
              <a:rPr lang="en-US" dirty="0"/>
              <a:t> DevOps completa: </a:t>
            </a:r>
            <a:r>
              <a:rPr lang="en-US" dirty="0" err="1"/>
              <a:t>dockerizamos</a:t>
            </a:r>
            <a:r>
              <a:rPr lang="en-US" dirty="0"/>
              <a:t> un frontend React/Vite, dos backends Spring Boot y </a:t>
            </a:r>
            <a:r>
              <a:rPr lang="en-US" dirty="0" err="1"/>
              <a:t>una</a:t>
            </a:r>
            <a:r>
              <a:rPr lang="en-US" dirty="0"/>
              <a:t> base de </a:t>
            </a:r>
            <a:r>
              <a:rPr lang="en-US" dirty="0" err="1"/>
              <a:t>datos</a:t>
            </a:r>
            <a:r>
              <a:rPr lang="en-US" dirty="0"/>
              <a:t> MySQL. </a:t>
            </a:r>
            <a:r>
              <a:rPr lang="en-US" dirty="0" err="1"/>
              <a:t>Además</a:t>
            </a:r>
            <a:r>
              <a:rPr lang="en-US" dirty="0"/>
              <a:t>, </a:t>
            </a:r>
            <a:r>
              <a:rPr lang="en-US" dirty="0" err="1"/>
              <a:t>usamos</a:t>
            </a:r>
            <a:r>
              <a:rPr lang="en-US" dirty="0"/>
              <a:t> Docker Compose para </a:t>
            </a:r>
            <a:r>
              <a:rPr lang="en-US" dirty="0" err="1"/>
              <a:t>levantar</a:t>
            </a:r>
            <a:r>
              <a:rPr lang="en-US" dirty="0"/>
              <a:t> </a:t>
            </a:r>
            <a:r>
              <a:rPr lang="en-US" dirty="0" err="1"/>
              <a:t>el</a:t>
            </a:r>
            <a:r>
              <a:rPr lang="en-US" dirty="0"/>
              <a:t> stack, Docker Hub </a:t>
            </a:r>
            <a:r>
              <a:rPr lang="en-US" dirty="0" err="1"/>
              <a:t>como</a:t>
            </a:r>
            <a:r>
              <a:rPr lang="en-US" dirty="0"/>
              <a:t> </a:t>
            </a:r>
            <a:r>
              <a:rPr lang="en-US" dirty="0" err="1"/>
              <a:t>registro</a:t>
            </a:r>
            <a:r>
              <a:rPr lang="en-US" dirty="0"/>
              <a:t> de </a:t>
            </a:r>
            <a:r>
              <a:rPr lang="en-US" dirty="0" err="1"/>
              <a:t>imágenes</a:t>
            </a:r>
            <a:r>
              <a:rPr lang="en-US" dirty="0"/>
              <a:t>, GitHub Actions para </a:t>
            </a:r>
            <a:r>
              <a:rPr lang="en-US" dirty="0" err="1"/>
              <a:t>automatizar</a:t>
            </a:r>
            <a:r>
              <a:rPr lang="en-US" dirty="0"/>
              <a:t> build y </a:t>
            </a:r>
            <a:r>
              <a:rPr lang="en-US" dirty="0" err="1"/>
              <a:t>publicación</a:t>
            </a:r>
            <a:r>
              <a:rPr lang="en-US" dirty="0"/>
              <a:t>, y AWS EC2 para </a:t>
            </a:r>
            <a:r>
              <a:rPr lang="en-US" dirty="0" err="1"/>
              <a:t>ejecutar</a:t>
            </a:r>
            <a:r>
              <a:rPr lang="en-US" dirty="0"/>
              <a:t> la </a:t>
            </a:r>
            <a:r>
              <a:rPr lang="en-US" dirty="0" err="1"/>
              <a:t>aplicación</a:t>
            </a:r>
            <a:r>
              <a:rPr lang="en-US" dirty="0"/>
              <a:t> </a:t>
            </a:r>
            <a:r>
              <a:rPr lang="en-US" dirty="0" err="1"/>
              <a:t>en</a:t>
            </a:r>
            <a:r>
              <a:rPr lang="en-US" dirty="0"/>
              <a:t> la </a:t>
            </a:r>
            <a:r>
              <a:rPr lang="en-US" dirty="0" err="1"/>
              <a:t>nube</a:t>
            </a:r>
            <a:r>
              <a:rPr lang="en-US" dirty="0"/>
              <a:t>. La idea de </a:t>
            </a:r>
            <a:r>
              <a:rPr lang="en-US" dirty="0" err="1"/>
              <a:t>esta</a:t>
            </a:r>
            <a:r>
              <a:rPr lang="en-US" dirty="0"/>
              <a:t> </a:t>
            </a:r>
            <a:r>
              <a:rPr lang="en-US" dirty="0" err="1"/>
              <a:t>presentación</a:t>
            </a:r>
            <a:r>
              <a:rPr lang="en-US" dirty="0"/>
              <a:t> es </a:t>
            </a:r>
            <a:r>
              <a:rPr lang="en-US" dirty="0" err="1"/>
              <a:t>explicar</a:t>
            </a:r>
            <a:r>
              <a:rPr lang="en-US" dirty="0"/>
              <a:t> las </a:t>
            </a:r>
            <a:r>
              <a:rPr lang="en-US" dirty="0" err="1"/>
              <a:t>decisiones</a:t>
            </a:r>
            <a:r>
              <a:rPr lang="en-US" dirty="0"/>
              <a:t> </a:t>
            </a:r>
            <a:r>
              <a:rPr lang="en-US" dirty="0" err="1"/>
              <a:t>técnicas</a:t>
            </a:r>
            <a:r>
              <a:rPr lang="en-US" dirty="0"/>
              <a:t>, </a:t>
            </a:r>
            <a:r>
              <a:rPr lang="en-US" dirty="0" err="1"/>
              <a:t>mostrar</a:t>
            </a:r>
            <a:r>
              <a:rPr lang="en-US" dirty="0"/>
              <a:t> las </a:t>
            </a:r>
            <a:r>
              <a:rPr lang="en-US" dirty="0" err="1"/>
              <a:t>evidencias</a:t>
            </a:r>
            <a:r>
              <a:rPr lang="en-US" dirty="0"/>
              <a:t> y defender </a:t>
            </a:r>
            <a:r>
              <a:rPr lang="en-US" dirty="0" err="1"/>
              <a:t>cómo</a:t>
            </a:r>
            <a:r>
              <a:rPr lang="en-US" dirty="0"/>
              <a:t> la </a:t>
            </a:r>
            <a:r>
              <a:rPr lang="en-US" dirty="0" err="1"/>
              <a:t>solución</a:t>
            </a:r>
            <a:r>
              <a:rPr lang="en-US" dirty="0"/>
              <a:t> </a:t>
            </a:r>
            <a:r>
              <a:rPr lang="en-US" dirty="0" err="1"/>
              <a:t>cumple</a:t>
            </a:r>
            <a:r>
              <a:rPr lang="en-US" dirty="0"/>
              <a:t> con la </a:t>
            </a:r>
            <a:r>
              <a:rPr lang="en-US" dirty="0" err="1"/>
              <a:t>rúbrica</a:t>
            </a:r>
            <a:r>
              <a:rPr lang="en-US" dirty="0"/>
              <a:t>.</a:t>
            </a:r>
          </a:p>
          <a:p>
            <a:r>
              <a:rPr lang="en-US" dirty="0"/>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El contexto del encargo fue preparar una aplicación para funcionar en contenedores y desplegarla en AWS. El alcance incluye cuatro componentes principales: frontend, backend de ventas, backend de despachos y MySQL. Primero dejamos todo funcionando localmente con Docker Compose; después publicamos las imágenes en Docker Hub; luego configuramos la instancia EC2 y levantamos el stack en la nube. El objetivo no fue solo que la aplicación cargara, sino demostrar reproducibilidad, persistencia, automatización, seguridad básica y comunicación real entre frontend y backends.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La arquitectura se diseñó separando responsabilidades. El frontend queda servido por Nginx dentro de un contenedor y consume dos microservicios backend. Los backends están desarrollados en Spring Boot y Java 17, y la persistencia se realiza con MySQL 8.0. Todos los servicios se conectan mediante una red interna de Docker Compose llamada tienda-net. Esta decisión evita depender de IPs internas fijas y permite que los contenedores se comuniquen por nombre de servicio, por ejemplo mysql:3306. Así mantenemos una arquitectura más portable y fácil de levantar tanto localmente como en EC2.</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Para la contenedorización usamos Dockerfiles con enfoque multi-stage. En el frontend, la primera etapa usa Node para instalar dependencias y compilar React/Vite; la segunda etapa usa Nginx para servir los archivos estáticos ya optimizados. En los backends, la primera etapa usa Maven para construir el JAR y la segunda etapa usa una imagen de runtime Java más liviana. Además, los backends se ejecutan con usuario no root, lo que mejora la seguridad. Esto reduce tamaño, separa construcción de ejecución y aplica buenas prácticas de Docker.</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Docker Compose fue el archivo central para levantar toda la solución. Definimos cuatro servicios: mysql, backend-ventas, backend-despachos y frontend. También configuramos puertos, variables de entorno, red interna y volumen. Los puertos expuestos fueron 8080 para frontend, 8081 para ventas, 8082 para despachos y 3306 para MySQL. En la nube utilizamos la misma lógica, lo que demuestra que el entorno es reproducible. Esta configuración facilita levantar todo el stack con un solo comando y reduce errores manuales.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Para la persistencia usamos un volumen nombrado de Docker asociado a MySQL. La base de datos guarda su información en /var/lib/mysql, y esa ruta se conecta al volumen dbdata. Esto permite que los datos sobrevivan al reinicio o recreación del contenedor. Elegimos named volume porque Docker lo administra de manera portable, sin depender de rutas específicas del sistema operativo. En las evidencias se muestra el volumen local y también el volumen en EC2, demostrando que la persistencia está aplicada tanto en desarrollo como en nube.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Antes de desplegar en AWS validamos todo localmente. Construimos las imágenes, levantamos los contenedores con Docker Compose y verificamos que frontend, backends y MySQL quedaran en estado Up. Luego probamos los endpoints de ventas y despachos desde el navegador y también revisamos la pestaña Network para comprobar respuestas HTTP 200. Esta validación local fue importante porque nos permitió corregir errores antes de pasar a la nube, como rutas del frontend, puertos y comunicación entre servicios.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El proyecto quedó versionado en GitHub usando la rama deploy. Esta rama fue importante porque funciona como punto de entrega y como trigger del workflow de GitHub Actions. Además, dejamos commits explicativos con prefijos como feat, docs, ci y fix, lo que mejora la trazabilidad. El repositorio contiene el código, Dockerfiles, docker-compose.yml, workflow de GitHub Actions y README técnico. Esto cumple la documentación solicitada y permite que otra persona pueda entender cómo levantar y validar el proyecto.</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Como registro de imágenes utilizamos Docker Hub. Publicamos tres imágenes propias: frontend, backend-ventas y backend-despachos, todas con tag v1. Elegimos Docker Hub porque se integra fácilmente con Docker CLI, GitHub Actions y la instancia EC2. Esto permite que el pipeline publique imágenes y que EC2 pueda descargarlas con docker compose pull. En la evidencia se ven los repositorios públicos y el último push, lo que demuestra que las imágenes quedaron disponibles para despliegue.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El pipeline CI/CD se implementó con GitHub Actions y se activa con push a la rama deploy. El workflow realiza checkout del repositorio, inicia sesión en Docker Hub mediante GitHub Secrets, construye las imágenes Docker y las publica en Docker Hub. Es importante aclarar que en esta versión el build y el push están automatizados; la actualización en EC2 se realizó usando docker compose pull y docker compose up -d desde la instancia. Como mejora futura, ese pull/up puede automatizarse completamente desde GitHub Actions mediante SSH o un runner. Esta aclaración es importante porque muestra transparencia técnica y evita afirmar algo que no se implementó al 100%.</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En AWS usamos una instancia EC2 con Ubuntu para ejecutar el stack. Configuramos un Security Group específico para el proyecto, habilitando SSH para administración y los puertos 8080, 8081 y 8082 para validación académica. El puerto 8080 corresponde al frontend público. Los puertos 8081 y 8082 se abrieron para probar directamente los endpoints de ventas y despachos durante la defensa. En producción, esos puertos deberían restringirse a una red privada o al Security Group del frontend. Esta decisión permite validar la evaluación sin perder criterio de seguridad.</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Dentro de EC2 instalamos Docker y Docker Compose. Luego levantamos los servicios usando el docker-compose.yml con las imágenes publicadas en Docker Hub. Se validó que los cuatro contenedores quedaran en estado Up: tienda-frontend, tienda-backend-ventas, tienda-backend-despachos y tienda-mysql. También se corrigieron problemas reales de despliegue, como permisos de MySQL, espera de salud del servicio y espacio de disco. Esto demuestra operación técnica real, no solo una configuración teórica.</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Después del despliegue en EC2 validamos los servicios desde fuera de la instancia usando la IP pública. El frontend quedó disponible en http://3.86.149.11:8080. El backend de ventas respondió en el puerto 8081 y el backend de despachos en el puerto 8082, ambos devolviendo JSON vacío, lo que confirma que los endpoints están activos. Además, desde la propia EC2 usamos curl para validar que los servicios respondían internamente. Esta doble validación ayuda a demostrar funcionamiento externo e interno.</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Esta es la evidencia clave de integración Frontend a Backend en EC2. Abrimos el frontend publicado en la IP pública y usamos DevTools en Network para observar las solicitudes XHR. Al consultar órdenes de compra y despachos, los endpoints ventas y despachos respondieron con código HTTP 200. Esto demuestra que el frontend no solo carga visualmente, sino que consume correctamente los backends desplegados en nube. También corregimos CORS y URLs del frontend para que apuntaran a la IP pública de EC2 en vez de localhost.</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Guion sugerido:</a:t>
            </a:r>
          </a:p>
          <a:p>
            <a:r>
              <a:rPr lang="en-US"/>
              <a:t>Como cierre, el proyecto cumple los principales puntos de la rúbrica: Dockerfiles multi-stage, usuario no root en backends, Docker Compose con servicios, red, puertos y variables, persistencia con volumen MySQL, publicación de imágenes en Docker Hub, GitHub Actions para build y push, ejecución del stack en EC2, endpoints operativos e integración Frontend a Backend con HTTP 200. Como mejora productiva, restringiría los backends a red privada, agregaría HTTPS y automatizaría completamente el pull/up en EC2 desde el pipeline. Con esto finalizo la presentación y quedo atento a preguntas técnicas.</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978027" y="895731"/>
            <a:ext cx="3516630" cy="485394"/>
            <a:chOff x="0" y="0"/>
            <a:chExt cx="4688840" cy="647192"/>
          </a:xfrm>
        </p:grpSpPr>
        <p:sp>
          <p:nvSpPr>
            <p:cNvPr id="3" name="Freeform 3"/>
            <p:cNvSpPr/>
            <p:nvPr/>
          </p:nvSpPr>
          <p:spPr>
            <a:xfrm>
              <a:off x="0" y="0"/>
              <a:ext cx="4688840" cy="647192"/>
            </a:xfrm>
            <a:custGeom>
              <a:avLst/>
              <a:gdLst/>
              <a:ahLst/>
              <a:cxnLst/>
              <a:rect l="l" t="t" r="r" b="b"/>
              <a:pathLst>
                <a:path w="4688840" h="647192">
                  <a:moveTo>
                    <a:pt x="0" y="152273"/>
                  </a:moveTo>
                  <a:cubicBezTo>
                    <a:pt x="0" y="68199"/>
                    <a:pt x="68199" y="0"/>
                    <a:pt x="152273" y="0"/>
                  </a:cubicBezTo>
                  <a:lnTo>
                    <a:pt x="4536567" y="0"/>
                  </a:lnTo>
                  <a:cubicBezTo>
                    <a:pt x="4620641" y="0"/>
                    <a:pt x="4688840" y="68199"/>
                    <a:pt x="4688840" y="152273"/>
                  </a:cubicBezTo>
                  <a:lnTo>
                    <a:pt x="4688840" y="494919"/>
                  </a:lnTo>
                  <a:cubicBezTo>
                    <a:pt x="4688840" y="578993"/>
                    <a:pt x="4620641" y="647192"/>
                    <a:pt x="4536567" y="647192"/>
                  </a:cubicBezTo>
                  <a:lnTo>
                    <a:pt x="152273" y="647192"/>
                  </a:lnTo>
                  <a:cubicBezTo>
                    <a:pt x="68199" y="647192"/>
                    <a:pt x="0" y="578993"/>
                    <a:pt x="0" y="494919"/>
                  </a:cubicBezTo>
                  <a:close/>
                </a:path>
              </a:pathLst>
            </a:custGeom>
            <a:solidFill>
              <a:srgbClr val="0D9488"/>
            </a:solidFill>
            <a:ln w="19050" cap="sq">
              <a:solidFill>
                <a:srgbClr val="0D9488"/>
              </a:solidFill>
              <a:prstDash val="solid"/>
              <a:miter/>
            </a:ln>
          </p:spPr>
          <p:txBody>
            <a:bodyPr/>
            <a:lstStyle/>
            <a:p>
              <a:endParaRPr lang="es-CL"/>
            </a:p>
          </p:txBody>
        </p:sp>
      </p:grpSp>
      <p:grpSp>
        <p:nvGrpSpPr>
          <p:cNvPr id="4" name="Group 4"/>
          <p:cNvGrpSpPr/>
          <p:nvPr/>
        </p:nvGrpSpPr>
        <p:grpSpPr>
          <a:xfrm>
            <a:off x="1152144" y="1008126"/>
            <a:ext cx="3168396" cy="205740"/>
            <a:chOff x="0" y="0"/>
            <a:chExt cx="4224528" cy="274320"/>
          </a:xfrm>
        </p:grpSpPr>
        <p:sp>
          <p:nvSpPr>
            <p:cNvPr id="5" name="Freeform 5"/>
            <p:cNvSpPr/>
            <p:nvPr/>
          </p:nvSpPr>
          <p:spPr>
            <a:xfrm>
              <a:off x="0" y="0"/>
              <a:ext cx="4224528" cy="274320"/>
            </a:xfrm>
            <a:custGeom>
              <a:avLst/>
              <a:gdLst/>
              <a:ahLst/>
              <a:cxnLst/>
              <a:rect l="l" t="t" r="r" b="b"/>
              <a:pathLst>
                <a:path w="4224528" h="274320">
                  <a:moveTo>
                    <a:pt x="0" y="0"/>
                  </a:moveTo>
                  <a:lnTo>
                    <a:pt x="4224528" y="0"/>
                  </a:lnTo>
                  <a:lnTo>
                    <a:pt x="4224528" y="274320"/>
                  </a:lnTo>
                  <a:lnTo>
                    <a:pt x="0" y="274320"/>
                  </a:lnTo>
                  <a:close/>
                </a:path>
              </a:pathLst>
            </a:custGeom>
            <a:blipFill>
              <a:blip r:embed="rId3">
                <a:alphaModFix amt="0"/>
              </a:blip>
              <a:stretch>
                <a:fillRect t="-250069" b="-250069"/>
              </a:stretch>
            </a:blipFill>
          </p:spPr>
          <p:txBody>
            <a:bodyPr/>
            <a:lstStyle/>
            <a:p>
              <a:endParaRPr lang="es-CL"/>
            </a:p>
          </p:txBody>
        </p:sp>
        <p:sp>
          <p:nvSpPr>
            <p:cNvPr id="6" name="TextBox 6"/>
            <p:cNvSpPr txBox="1"/>
            <p:nvPr/>
          </p:nvSpPr>
          <p:spPr>
            <a:xfrm>
              <a:off x="0" y="0"/>
              <a:ext cx="4224528" cy="274320"/>
            </a:xfrm>
            <a:prstGeom prst="rect">
              <a:avLst/>
            </a:prstGeom>
          </p:spPr>
          <p:txBody>
            <a:bodyPr lIns="0" tIns="0" rIns="0" bIns="0" rtlCol="0" anchor="ctr"/>
            <a:lstStyle/>
            <a:p>
              <a:pPr algn="ctr">
                <a:lnSpc>
                  <a:spcPts val="1439"/>
                </a:lnSpc>
              </a:pPr>
              <a:r>
                <a:rPr lang="en-US" sz="1200" b="1">
                  <a:solidFill>
                    <a:srgbClr val="FFFFFF"/>
                  </a:solidFill>
                  <a:latin typeface="Aptos Bold"/>
                  <a:ea typeface="Aptos Bold"/>
                  <a:cs typeface="Aptos Bold"/>
                  <a:sym typeface="Aptos Bold"/>
                </a:rPr>
                <a:t>ISY1101 · Evaluación Parcial N°2</a:t>
              </a:r>
            </a:p>
          </p:txBody>
        </p:sp>
      </p:grpSp>
      <p:grpSp>
        <p:nvGrpSpPr>
          <p:cNvPr id="7" name="Group 7"/>
          <p:cNvGrpSpPr/>
          <p:nvPr/>
        </p:nvGrpSpPr>
        <p:grpSpPr>
          <a:xfrm>
            <a:off x="987552" y="2125980"/>
            <a:ext cx="10424160" cy="1577340"/>
            <a:chOff x="0" y="0"/>
            <a:chExt cx="13898880" cy="2103120"/>
          </a:xfrm>
        </p:grpSpPr>
        <p:sp>
          <p:nvSpPr>
            <p:cNvPr id="8" name="Freeform 8"/>
            <p:cNvSpPr/>
            <p:nvPr/>
          </p:nvSpPr>
          <p:spPr>
            <a:xfrm>
              <a:off x="0" y="0"/>
              <a:ext cx="13898880" cy="2103120"/>
            </a:xfrm>
            <a:custGeom>
              <a:avLst/>
              <a:gdLst/>
              <a:ahLst/>
              <a:cxnLst/>
              <a:rect l="l" t="t" r="r" b="b"/>
              <a:pathLst>
                <a:path w="13898880" h="2103120">
                  <a:moveTo>
                    <a:pt x="0" y="0"/>
                  </a:moveTo>
                  <a:lnTo>
                    <a:pt x="13898880" y="0"/>
                  </a:lnTo>
                  <a:lnTo>
                    <a:pt x="13898880" y="2103120"/>
                  </a:lnTo>
                  <a:lnTo>
                    <a:pt x="0" y="2103120"/>
                  </a:lnTo>
                  <a:close/>
                </a:path>
              </a:pathLst>
            </a:custGeom>
            <a:blipFill>
              <a:blip r:embed="rId3">
                <a:alphaModFix amt="0"/>
              </a:blip>
              <a:stretch>
                <a:fillRect t="-78770" b="-78770"/>
              </a:stretch>
            </a:blipFill>
          </p:spPr>
          <p:txBody>
            <a:bodyPr/>
            <a:lstStyle/>
            <a:p>
              <a:endParaRPr lang="es-CL"/>
            </a:p>
          </p:txBody>
        </p:sp>
        <p:sp>
          <p:nvSpPr>
            <p:cNvPr id="9" name="TextBox 9"/>
            <p:cNvSpPr txBox="1"/>
            <p:nvPr/>
          </p:nvSpPr>
          <p:spPr>
            <a:xfrm>
              <a:off x="0" y="0"/>
              <a:ext cx="13898880" cy="2103120"/>
            </a:xfrm>
            <a:prstGeom prst="rect">
              <a:avLst/>
            </a:prstGeom>
          </p:spPr>
          <p:txBody>
            <a:bodyPr lIns="0" tIns="0" rIns="0" bIns="0" rtlCol="0" anchor="ctr"/>
            <a:lstStyle/>
            <a:p>
              <a:pPr algn="l">
                <a:lnSpc>
                  <a:spcPts val="6480"/>
                </a:lnSpc>
              </a:pPr>
              <a:r>
                <a:rPr lang="en-US" sz="5400" b="1">
                  <a:solidFill>
                    <a:srgbClr val="FFFFFF"/>
                  </a:solidFill>
                  <a:latin typeface="Aptos Bold"/>
                  <a:ea typeface="Aptos Bold"/>
                  <a:cs typeface="Aptos Bold"/>
                  <a:sym typeface="Aptos Bold"/>
                </a:rPr>
                <a:t>Dockerización, CI/CD y despliegue en AWS EC2</a:t>
              </a:r>
            </a:p>
          </p:txBody>
        </p:sp>
      </p:grpSp>
      <p:grpSp>
        <p:nvGrpSpPr>
          <p:cNvPr id="10" name="Group 10"/>
          <p:cNvGrpSpPr/>
          <p:nvPr/>
        </p:nvGrpSpPr>
        <p:grpSpPr>
          <a:xfrm>
            <a:off x="1042416" y="4183380"/>
            <a:ext cx="10149840" cy="822960"/>
            <a:chOff x="0" y="0"/>
            <a:chExt cx="13533120" cy="1097280"/>
          </a:xfrm>
        </p:grpSpPr>
        <p:sp>
          <p:nvSpPr>
            <p:cNvPr id="11" name="Freeform 11"/>
            <p:cNvSpPr/>
            <p:nvPr/>
          </p:nvSpPr>
          <p:spPr>
            <a:xfrm>
              <a:off x="0" y="0"/>
              <a:ext cx="13533120" cy="1097280"/>
            </a:xfrm>
            <a:custGeom>
              <a:avLst/>
              <a:gdLst/>
              <a:ahLst/>
              <a:cxnLst/>
              <a:rect l="l" t="t" r="r" b="b"/>
              <a:pathLst>
                <a:path w="13533120" h="1097280">
                  <a:moveTo>
                    <a:pt x="0" y="0"/>
                  </a:moveTo>
                  <a:lnTo>
                    <a:pt x="13533120" y="0"/>
                  </a:lnTo>
                  <a:lnTo>
                    <a:pt x="13533120" y="1097280"/>
                  </a:lnTo>
                  <a:lnTo>
                    <a:pt x="0" y="1097280"/>
                  </a:lnTo>
                  <a:close/>
                </a:path>
              </a:pathLst>
            </a:custGeom>
            <a:blipFill>
              <a:blip r:embed="rId3">
                <a:alphaModFix amt="0"/>
              </a:blip>
              <a:stretch>
                <a:fillRect t="-190315" b="-190315"/>
              </a:stretch>
            </a:blipFill>
          </p:spPr>
          <p:txBody>
            <a:bodyPr/>
            <a:lstStyle/>
            <a:p>
              <a:endParaRPr lang="es-CL"/>
            </a:p>
          </p:txBody>
        </p:sp>
        <p:sp>
          <p:nvSpPr>
            <p:cNvPr id="12" name="TextBox 12"/>
            <p:cNvSpPr txBox="1"/>
            <p:nvPr/>
          </p:nvSpPr>
          <p:spPr>
            <a:xfrm>
              <a:off x="0" y="0"/>
              <a:ext cx="13533120" cy="1097280"/>
            </a:xfrm>
            <a:prstGeom prst="rect">
              <a:avLst/>
            </a:prstGeom>
          </p:spPr>
          <p:txBody>
            <a:bodyPr lIns="0" tIns="0" rIns="0" bIns="0" rtlCol="0" anchor="ctr"/>
            <a:lstStyle/>
            <a:p>
              <a:pPr algn="l">
                <a:lnSpc>
                  <a:spcPts val="2610"/>
                </a:lnSpc>
              </a:pPr>
              <a:r>
                <a:rPr lang="en-US" sz="2175">
                  <a:solidFill>
                    <a:srgbClr val="DBEAFE"/>
                  </a:solidFill>
                  <a:latin typeface="Aptos"/>
                  <a:ea typeface="Aptos"/>
                  <a:cs typeface="Aptos"/>
                  <a:sym typeface="Aptos"/>
                </a:rPr>
                <a:t>Proyecto semestral · Frontend React/Vite · Backends Spring Boot · MySQL · Docker Hub · GitHub Actions</a:t>
              </a:r>
            </a:p>
          </p:txBody>
        </p:sp>
      </p:grpSp>
      <p:grpSp>
        <p:nvGrpSpPr>
          <p:cNvPr id="13" name="Group 13"/>
          <p:cNvGrpSpPr/>
          <p:nvPr/>
        </p:nvGrpSpPr>
        <p:grpSpPr>
          <a:xfrm>
            <a:off x="1042416" y="8983980"/>
            <a:ext cx="6583680" cy="578145"/>
            <a:chOff x="0" y="0"/>
            <a:chExt cx="8778240" cy="770860"/>
          </a:xfrm>
        </p:grpSpPr>
        <p:sp>
          <p:nvSpPr>
            <p:cNvPr id="14" name="Freeform 14"/>
            <p:cNvSpPr/>
            <p:nvPr/>
          </p:nvSpPr>
          <p:spPr>
            <a:xfrm>
              <a:off x="0" y="0"/>
              <a:ext cx="8778240" cy="770860"/>
            </a:xfrm>
            <a:custGeom>
              <a:avLst/>
              <a:gdLst/>
              <a:ahLst/>
              <a:cxnLst/>
              <a:rect l="l" t="t" r="r" b="b"/>
              <a:pathLst>
                <a:path w="8778240" h="770860">
                  <a:moveTo>
                    <a:pt x="0" y="0"/>
                  </a:moveTo>
                  <a:lnTo>
                    <a:pt x="8778240" y="0"/>
                  </a:lnTo>
                  <a:lnTo>
                    <a:pt x="8778240" y="770860"/>
                  </a:lnTo>
                  <a:lnTo>
                    <a:pt x="0" y="770860"/>
                  </a:lnTo>
                  <a:close/>
                </a:path>
              </a:pathLst>
            </a:custGeom>
            <a:blipFill>
              <a:blip r:embed="rId3">
                <a:alphaModFix amt="0"/>
              </a:blip>
              <a:stretch>
                <a:fillRect t="-186301" b="-157473"/>
              </a:stretch>
            </a:blipFill>
          </p:spPr>
          <p:txBody>
            <a:bodyPr/>
            <a:lstStyle/>
            <a:p>
              <a:endParaRPr lang="es-CL"/>
            </a:p>
          </p:txBody>
        </p:sp>
        <p:sp>
          <p:nvSpPr>
            <p:cNvPr id="15" name="TextBox 15"/>
            <p:cNvSpPr txBox="1"/>
            <p:nvPr/>
          </p:nvSpPr>
          <p:spPr>
            <a:xfrm>
              <a:off x="0" y="0"/>
              <a:ext cx="8778240" cy="770860"/>
            </a:xfrm>
            <a:prstGeom prst="rect">
              <a:avLst/>
            </a:prstGeom>
          </p:spPr>
          <p:txBody>
            <a:bodyPr lIns="0" tIns="0" rIns="0" bIns="0" rtlCol="0" anchor="ctr"/>
            <a:lstStyle/>
            <a:p>
              <a:pPr algn="l">
                <a:lnSpc>
                  <a:spcPts val="2070"/>
                </a:lnSpc>
              </a:pPr>
              <a:r>
                <a:rPr lang="en-US" sz="1725" b="1">
                  <a:solidFill>
                    <a:srgbClr val="FFFFFF"/>
                  </a:solidFill>
                  <a:latin typeface="Aptos Bold"/>
                  <a:ea typeface="Aptos Bold"/>
                  <a:cs typeface="Aptos Bold"/>
                  <a:sym typeface="Aptos Bold"/>
                </a:rPr>
                <a:t>Matías Bello</a:t>
              </a:r>
            </a:p>
            <a:p>
              <a:pPr algn="l">
                <a:lnSpc>
                  <a:spcPts val="2070"/>
                </a:lnSpc>
              </a:pPr>
              <a:r>
                <a:rPr lang="en-US" sz="1725" b="1">
                  <a:solidFill>
                    <a:srgbClr val="FFFFFF"/>
                  </a:solidFill>
                  <a:latin typeface="Aptos Bold"/>
                  <a:ea typeface="Aptos Bold"/>
                  <a:cs typeface="Aptos Bold"/>
                  <a:sym typeface="Aptos Bold"/>
                </a:rPr>
                <a:t>Matias Mercado</a:t>
              </a:r>
            </a:p>
          </p:txBody>
        </p:sp>
      </p:grpSp>
      <p:grpSp>
        <p:nvGrpSpPr>
          <p:cNvPr id="16" name="Group 16"/>
          <p:cNvGrpSpPr/>
          <p:nvPr/>
        </p:nvGrpSpPr>
        <p:grpSpPr>
          <a:xfrm>
            <a:off x="15019020" y="8983980"/>
            <a:ext cx="2331720" cy="411480"/>
            <a:chOff x="0" y="0"/>
            <a:chExt cx="3108960" cy="548640"/>
          </a:xfrm>
        </p:grpSpPr>
        <p:sp>
          <p:nvSpPr>
            <p:cNvPr id="17" name="Freeform 17"/>
            <p:cNvSpPr/>
            <p:nvPr/>
          </p:nvSpPr>
          <p:spPr>
            <a:xfrm>
              <a:off x="0" y="0"/>
              <a:ext cx="3108960" cy="548640"/>
            </a:xfrm>
            <a:custGeom>
              <a:avLst/>
              <a:gdLst/>
              <a:ahLst/>
              <a:cxnLst/>
              <a:rect l="l" t="t" r="r" b="b"/>
              <a:pathLst>
                <a:path w="3108960" h="548640">
                  <a:moveTo>
                    <a:pt x="0" y="0"/>
                  </a:moveTo>
                  <a:lnTo>
                    <a:pt x="3108960" y="0"/>
                  </a:lnTo>
                  <a:lnTo>
                    <a:pt x="3108960" y="548640"/>
                  </a:lnTo>
                  <a:lnTo>
                    <a:pt x="0" y="548640"/>
                  </a:lnTo>
                  <a:close/>
                </a:path>
              </a:pathLst>
            </a:custGeom>
            <a:blipFill>
              <a:blip r:embed="rId3">
                <a:alphaModFix amt="0"/>
              </a:blip>
              <a:stretch>
                <a:fillRect t="-60415" b="-60415"/>
              </a:stretch>
            </a:blipFill>
          </p:spPr>
          <p:txBody>
            <a:bodyPr/>
            <a:lstStyle/>
            <a:p>
              <a:endParaRPr lang="es-CL"/>
            </a:p>
          </p:txBody>
        </p:sp>
        <p:sp>
          <p:nvSpPr>
            <p:cNvPr id="18" name="TextBox 18"/>
            <p:cNvSpPr txBox="1"/>
            <p:nvPr/>
          </p:nvSpPr>
          <p:spPr>
            <a:xfrm>
              <a:off x="0" y="0"/>
              <a:ext cx="3108960" cy="548640"/>
            </a:xfrm>
            <a:prstGeom prst="rect">
              <a:avLst/>
            </a:prstGeom>
          </p:spPr>
          <p:txBody>
            <a:bodyPr lIns="0" tIns="0" rIns="0" bIns="0" rtlCol="0" anchor="ctr"/>
            <a:lstStyle/>
            <a:p>
              <a:pPr algn="r">
                <a:lnSpc>
                  <a:spcPts val="2070"/>
                </a:lnSpc>
              </a:pPr>
              <a:r>
                <a:rPr lang="en-US" sz="1725" b="1">
                  <a:solidFill>
                    <a:srgbClr val="FFFFFF"/>
                  </a:solidFill>
                  <a:latin typeface="Aptos Bold"/>
                  <a:ea typeface="Aptos Bold"/>
                  <a:cs typeface="Aptos Bold"/>
                  <a:sym typeface="Aptos Bold"/>
                </a:rPr>
                <a:t>DUOC UC · 2026</a:t>
              </a:r>
            </a:p>
          </p:txBody>
        </p:sp>
      </p:grpSp>
      <p:grpSp>
        <p:nvGrpSpPr>
          <p:cNvPr id="19" name="Group 19"/>
          <p:cNvGrpSpPr/>
          <p:nvPr/>
        </p:nvGrpSpPr>
        <p:grpSpPr>
          <a:xfrm>
            <a:off x="754380" y="9779508"/>
            <a:ext cx="7406640" cy="246888"/>
            <a:chOff x="0" y="0"/>
            <a:chExt cx="9875520" cy="329184"/>
          </a:xfrm>
        </p:grpSpPr>
        <p:sp>
          <p:nvSpPr>
            <p:cNvPr id="20" name="Freeform 20"/>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21" name="TextBox 21"/>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22" name="Group 22"/>
          <p:cNvGrpSpPr/>
          <p:nvPr/>
        </p:nvGrpSpPr>
        <p:grpSpPr>
          <a:xfrm>
            <a:off x="16952976" y="9669780"/>
            <a:ext cx="576072" cy="356616"/>
            <a:chOff x="0" y="0"/>
            <a:chExt cx="768096" cy="475488"/>
          </a:xfrm>
        </p:grpSpPr>
        <p:sp>
          <p:nvSpPr>
            <p:cNvPr id="23" name="Freeform 23"/>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24" name="TextBox 24"/>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01</a:t>
              </a:r>
            </a:p>
          </p:txBody>
        </p:sp>
      </p:grpSp>
      <p:sp>
        <p:nvSpPr>
          <p:cNvPr id="25" name="Freeform 25"/>
          <p:cNvSpPr/>
          <p:nvPr/>
        </p:nvSpPr>
        <p:spPr>
          <a:xfrm>
            <a:off x="3385529" y="5006340"/>
            <a:ext cx="5018454" cy="4152770"/>
          </a:xfrm>
          <a:custGeom>
            <a:avLst/>
            <a:gdLst/>
            <a:ahLst/>
            <a:cxnLst/>
            <a:rect l="l" t="t" r="r" b="b"/>
            <a:pathLst>
              <a:path w="5018454" h="4152770">
                <a:moveTo>
                  <a:pt x="0" y="0"/>
                </a:moveTo>
                <a:lnTo>
                  <a:pt x="5018454" y="0"/>
                </a:lnTo>
                <a:lnTo>
                  <a:pt x="5018454" y="4152770"/>
                </a:lnTo>
                <a:lnTo>
                  <a:pt x="0" y="4152770"/>
                </a:lnTo>
                <a:lnTo>
                  <a:pt x="0" y="0"/>
                </a:lnTo>
                <a:close/>
              </a:path>
            </a:pathLst>
          </a:custGeom>
          <a:blipFill>
            <a:blip r:embed="rId4"/>
            <a:stretch>
              <a:fillRect/>
            </a:stretch>
          </a:blipFill>
        </p:spPr>
        <p:txBody>
          <a:bodyPr/>
          <a:lstStyle/>
          <a:p>
            <a:endParaRPr lang="es-CL"/>
          </a:p>
        </p:txBody>
      </p:sp>
      <p:sp>
        <p:nvSpPr>
          <p:cNvPr id="26" name="Freeform 26"/>
          <p:cNvSpPr/>
          <p:nvPr/>
        </p:nvSpPr>
        <p:spPr>
          <a:xfrm>
            <a:off x="8578700" y="5143500"/>
            <a:ext cx="6265602" cy="4015610"/>
          </a:xfrm>
          <a:custGeom>
            <a:avLst/>
            <a:gdLst/>
            <a:ahLst/>
            <a:cxnLst/>
            <a:rect l="l" t="t" r="r" b="b"/>
            <a:pathLst>
              <a:path w="6265602" h="4015610">
                <a:moveTo>
                  <a:pt x="0" y="0"/>
                </a:moveTo>
                <a:lnTo>
                  <a:pt x="6265603" y="0"/>
                </a:lnTo>
                <a:lnTo>
                  <a:pt x="6265603" y="4015610"/>
                </a:lnTo>
                <a:lnTo>
                  <a:pt x="0" y="4015610"/>
                </a:lnTo>
                <a:lnTo>
                  <a:pt x="0" y="0"/>
                </a:lnTo>
                <a:close/>
              </a:path>
            </a:pathLst>
          </a:custGeom>
          <a:blipFill>
            <a:blip r:embed="rId5"/>
            <a:stretch>
              <a:fillRect/>
            </a:stretch>
          </a:blipFill>
        </p:spPr>
        <p:txBody>
          <a:bodyPr/>
          <a:lstStyle/>
          <a:p>
            <a:endParaRPr lang="es-C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Contexto del encargo</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Objetivo y alcance de la entrega</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1028700" y="2263140"/>
            <a:ext cx="7406640" cy="4389120"/>
            <a:chOff x="0" y="0"/>
            <a:chExt cx="9875520" cy="5852160"/>
          </a:xfrm>
        </p:grpSpPr>
        <p:sp>
          <p:nvSpPr>
            <p:cNvPr id="14" name="Freeform 14"/>
            <p:cNvSpPr/>
            <p:nvPr/>
          </p:nvSpPr>
          <p:spPr>
            <a:xfrm>
              <a:off x="0" y="0"/>
              <a:ext cx="9875520" cy="5852160"/>
            </a:xfrm>
            <a:custGeom>
              <a:avLst/>
              <a:gdLst/>
              <a:ahLst/>
              <a:cxnLst/>
              <a:rect l="l" t="t" r="r" b="b"/>
              <a:pathLst>
                <a:path w="9875520" h="5852160">
                  <a:moveTo>
                    <a:pt x="0" y="0"/>
                  </a:moveTo>
                  <a:lnTo>
                    <a:pt x="9875520" y="0"/>
                  </a:lnTo>
                  <a:lnTo>
                    <a:pt x="9875520" y="5852160"/>
                  </a:lnTo>
                  <a:lnTo>
                    <a:pt x="0" y="5852160"/>
                  </a:lnTo>
                  <a:close/>
                </a:path>
              </a:pathLst>
            </a:custGeom>
            <a:blipFill>
              <a:blip r:embed="rId3">
                <a:alphaModFix amt="0"/>
              </a:blip>
              <a:stretch>
                <a:fillRect l="-26031" r="-26031"/>
              </a:stretch>
            </a:blipFill>
          </p:spPr>
          <p:txBody>
            <a:bodyPr/>
            <a:lstStyle/>
            <a:p>
              <a:endParaRPr lang="es-CL"/>
            </a:p>
          </p:txBody>
        </p:sp>
        <p:sp>
          <p:nvSpPr>
            <p:cNvPr id="15" name="TextBox 15"/>
            <p:cNvSpPr txBox="1"/>
            <p:nvPr/>
          </p:nvSpPr>
          <p:spPr>
            <a:xfrm>
              <a:off x="0" y="0"/>
              <a:ext cx="9875520" cy="5852160"/>
            </a:xfrm>
            <a:prstGeom prst="rect">
              <a:avLst/>
            </a:prstGeom>
          </p:spPr>
          <p:txBody>
            <a:bodyPr lIns="0" tIns="0" rIns="0" bIns="0" rtlCol="0" anchor="ctr"/>
            <a:lstStyle/>
            <a:p>
              <a:pPr algn="l">
                <a:lnSpc>
                  <a:spcPts val="2610"/>
                </a:lnSpc>
              </a:pPr>
              <a:r>
                <a:rPr lang="en-US" sz="2175">
                  <a:solidFill>
                    <a:srgbClr val="18212F"/>
                  </a:solidFill>
                  <a:latin typeface="Aptos"/>
                  <a:ea typeface="Aptos"/>
                  <a:cs typeface="Aptos"/>
                  <a:sym typeface="Aptos"/>
                </a:rPr>
                <a:t>Dockerizar frontend, backends y base de datos en contenedores reproducibles.</a:t>
              </a:r>
            </a:p>
            <a:p>
              <a:pPr algn="l">
                <a:lnSpc>
                  <a:spcPts val="2610"/>
                </a:lnSpc>
              </a:pPr>
              <a:r>
                <a:rPr lang="en-US" sz="2175">
                  <a:solidFill>
                    <a:srgbClr val="18212F"/>
                  </a:solidFill>
                  <a:latin typeface="Aptos"/>
                  <a:ea typeface="Aptos"/>
                  <a:cs typeface="Aptos"/>
                  <a:sym typeface="Aptos"/>
                </a:rPr>
                <a:t>Orquestar el stack completo con Docker Compose: servicios, red, puertos, variables y volumen.</a:t>
              </a:r>
            </a:p>
            <a:p>
              <a:pPr algn="l">
                <a:lnSpc>
                  <a:spcPts val="2610"/>
                </a:lnSpc>
              </a:pPr>
              <a:r>
                <a:rPr lang="en-US" sz="2175">
                  <a:solidFill>
                    <a:srgbClr val="18212F"/>
                  </a:solidFill>
                  <a:latin typeface="Aptos"/>
                  <a:ea typeface="Aptos"/>
                  <a:cs typeface="Aptos"/>
                  <a:sym typeface="Aptos"/>
                </a:rPr>
                <a:t>Publicar imágenes versionadas en Docker Hub y ejecutar el stack en AWS EC2.</a:t>
              </a:r>
            </a:p>
            <a:p>
              <a:pPr algn="l">
                <a:lnSpc>
                  <a:spcPts val="2610"/>
                </a:lnSpc>
              </a:pPr>
              <a:r>
                <a:rPr lang="en-US" sz="2175">
                  <a:solidFill>
                    <a:srgbClr val="18212F"/>
                  </a:solidFill>
                  <a:latin typeface="Aptos"/>
                  <a:ea typeface="Aptos"/>
                  <a:cs typeface="Aptos"/>
                  <a:sym typeface="Aptos"/>
                </a:rPr>
                <a:t>Evidenciar pipeline CI/CD, persistencia, seguridad y comunicación Frontend → Backend.</a:t>
              </a:r>
            </a:p>
          </p:txBody>
        </p:sp>
      </p:grpSp>
      <p:grpSp>
        <p:nvGrpSpPr>
          <p:cNvPr id="16" name="Group 16"/>
          <p:cNvGrpSpPr/>
          <p:nvPr/>
        </p:nvGrpSpPr>
        <p:grpSpPr>
          <a:xfrm>
            <a:off x="9567100" y="1954720"/>
            <a:ext cx="7680579" cy="6034659"/>
            <a:chOff x="0" y="0"/>
            <a:chExt cx="10240772" cy="8046212"/>
          </a:xfrm>
        </p:grpSpPr>
        <p:sp>
          <p:nvSpPr>
            <p:cNvPr id="17" name="Freeform 17"/>
            <p:cNvSpPr/>
            <p:nvPr/>
          </p:nvSpPr>
          <p:spPr>
            <a:xfrm>
              <a:off x="0" y="0"/>
              <a:ext cx="10240772" cy="8046212"/>
            </a:xfrm>
            <a:custGeom>
              <a:avLst/>
              <a:gdLst/>
              <a:ahLst/>
              <a:cxnLst/>
              <a:rect l="l" t="t" r="r" b="b"/>
              <a:pathLst>
                <a:path w="10240772" h="8046212">
                  <a:moveTo>
                    <a:pt x="0" y="146558"/>
                  </a:moveTo>
                  <a:cubicBezTo>
                    <a:pt x="0" y="65659"/>
                    <a:pt x="65659" y="0"/>
                    <a:pt x="146558" y="0"/>
                  </a:cubicBezTo>
                  <a:lnTo>
                    <a:pt x="10094214" y="0"/>
                  </a:lnTo>
                  <a:cubicBezTo>
                    <a:pt x="10175240" y="0"/>
                    <a:pt x="10240772" y="65659"/>
                    <a:pt x="10240772" y="146558"/>
                  </a:cubicBezTo>
                  <a:lnTo>
                    <a:pt x="10240772" y="7899654"/>
                  </a:lnTo>
                  <a:cubicBezTo>
                    <a:pt x="10240772" y="7980680"/>
                    <a:pt x="10175113" y="8046212"/>
                    <a:pt x="10094214" y="8046212"/>
                  </a:cubicBezTo>
                  <a:lnTo>
                    <a:pt x="146558" y="8046212"/>
                  </a:lnTo>
                  <a:cubicBezTo>
                    <a:pt x="65659" y="8046212"/>
                    <a:pt x="0" y="7980553"/>
                    <a:pt x="0" y="789965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8" name="Group 18"/>
          <p:cNvGrpSpPr/>
          <p:nvPr/>
        </p:nvGrpSpPr>
        <p:grpSpPr>
          <a:xfrm>
            <a:off x="9984696" y="2084832"/>
            <a:ext cx="6845389" cy="5472684"/>
            <a:chOff x="0" y="0"/>
            <a:chExt cx="9127185" cy="7296912"/>
          </a:xfrm>
        </p:grpSpPr>
        <p:sp>
          <p:nvSpPr>
            <p:cNvPr id="19" name="Freeform 19" descr="/mnt/data/evidencias/Evidencias_EP2_ISY1101/SS-01_EstructuraProyecto.png"/>
            <p:cNvSpPr/>
            <p:nvPr/>
          </p:nvSpPr>
          <p:spPr>
            <a:xfrm>
              <a:off x="0" y="0"/>
              <a:ext cx="9127236" cy="7296912"/>
            </a:xfrm>
            <a:custGeom>
              <a:avLst/>
              <a:gdLst/>
              <a:ahLst/>
              <a:cxnLst/>
              <a:rect l="l" t="t" r="r" b="b"/>
              <a:pathLst>
                <a:path w="9127236" h="7296912">
                  <a:moveTo>
                    <a:pt x="0" y="0"/>
                  </a:moveTo>
                  <a:lnTo>
                    <a:pt x="9127236" y="0"/>
                  </a:lnTo>
                  <a:lnTo>
                    <a:pt x="9127236" y="7296912"/>
                  </a:lnTo>
                  <a:lnTo>
                    <a:pt x="0" y="7296912"/>
                  </a:lnTo>
                  <a:lnTo>
                    <a:pt x="0" y="0"/>
                  </a:lnTo>
                  <a:close/>
                </a:path>
              </a:pathLst>
            </a:custGeom>
            <a:blipFill>
              <a:blip r:embed="rId4"/>
              <a:stretch>
                <a:fillRect/>
              </a:stretch>
            </a:blipFill>
          </p:spPr>
          <p:txBody>
            <a:bodyPr/>
            <a:lstStyle/>
            <a:p>
              <a:endParaRPr lang="es-CL"/>
            </a:p>
          </p:txBody>
        </p:sp>
      </p:grpSp>
      <p:grpSp>
        <p:nvGrpSpPr>
          <p:cNvPr id="20" name="Group 20"/>
          <p:cNvGrpSpPr/>
          <p:nvPr/>
        </p:nvGrpSpPr>
        <p:grpSpPr>
          <a:xfrm>
            <a:off x="9765792" y="7626096"/>
            <a:ext cx="7283196" cy="246888"/>
            <a:chOff x="0" y="0"/>
            <a:chExt cx="9710928" cy="329184"/>
          </a:xfrm>
        </p:grpSpPr>
        <p:sp>
          <p:nvSpPr>
            <p:cNvPr id="21" name="Freeform 21"/>
            <p:cNvSpPr/>
            <p:nvPr/>
          </p:nvSpPr>
          <p:spPr>
            <a:xfrm>
              <a:off x="0" y="0"/>
              <a:ext cx="9710928" cy="329184"/>
            </a:xfrm>
            <a:custGeom>
              <a:avLst/>
              <a:gdLst/>
              <a:ahLst/>
              <a:cxnLst/>
              <a:rect l="l" t="t" r="r" b="b"/>
              <a:pathLst>
                <a:path w="9710928" h="329184">
                  <a:moveTo>
                    <a:pt x="0" y="0"/>
                  </a:moveTo>
                  <a:lnTo>
                    <a:pt x="9710928" y="0"/>
                  </a:lnTo>
                  <a:lnTo>
                    <a:pt x="9710928" y="329184"/>
                  </a:lnTo>
                  <a:lnTo>
                    <a:pt x="0" y="329184"/>
                  </a:lnTo>
                  <a:close/>
                </a:path>
              </a:pathLst>
            </a:custGeom>
            <a:blipFill>
              <a:blip r:embed="rId3">
                <a:alphaModFix amt="0"/>
              </a:blip>
              <a:stretch>
                <a:fillRect t="-524808" b="-524808"/>
              </a:stretch>
            </a:blipFill>
          </p:spPr>
          <p:txBody>
            <a:bodyPr/>
            <a:lstStyle/>
            <a:p>
              <a:endParaRPr lang="es-CL"/>
            </a:p>
          </p:txBody>
        </p:sp>
        <p:sp>
          <p:nvSpPr>
            <p:cNvPr id="22" name="TextBox 22"/>
            <p:cNvSpPr txBox="1"/>
            <p:nvPr/>
          </p:nvSpPr>
          <p:spPr>
            <a:xfrm>
              <a:off x="0" y="0"/>
              <a:ext cx="97109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Estructura del proyecto: frontend, backends y configuración DevOps</a:t>
              </a:r>
            </a:p>
          </p:txBody>
        </p:sp>
      </p:grpSp>
      <p:grpSp>
        <p:nvGrpSpPr>
          <p:cNvPr id="23" name="Group 23"/>
          <p:cNvGrpSpPr/>
          <p:nvPr/>
        </p:nvGrpSpPr>
        <p:grpSpPr>
          <a:xfrm>
            <a:off x="754380" y="9779508"/>
            <a:ext cx="7406640" cy="246888"/>
            <a:chOff x="0" y="0"/>
            <a:chExt cx="9875520" cy="329184"/>
          </a:xfrm>
        </p:grpSpPr>
        <p:sp>
          <p:nvSpPr>
            <p:cNvPr id="24" name="Freeform 24"/>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25" name="TextBox 25"/>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26" name="Group 26"/>
          <p:cNvGrpSpPr/>
          <p:nvPr/>
        </p:nvGrpSpPr>
        <p:grpSpPr>
          <a:xfrm>
            <a:off x="16952976" y="9669780"/>
            <a:ext cx="576072" cy="356616"/>
            <a:chOff x="0" y="0"/>
            <a:chExt cx="768096" cy="475488"/>
          </a:xfrm>
        </p:grpSpPr>
        <p:sp>
          <p:nvSpPr>
            <p:cNvPr id="27" name="Freeform 27"/>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28" name="TextBox 28"/>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Diseño de solución</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Arquitectura técnica del stack</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1126998" y="3307842"/>
            <a:ext cx="3863340" cy="1641348"/>
            <a:chOff x="0" y="0"/>
            <a:chExt cx="5151120" cy="2188464"/>
          </a:xfrm>
        </p:grpSpPr>
        <p:sp>
          <p:nvSpPr>
            <p:cNvPr id="14" name="Freeform 14"/>
            <p:cNvSpPr/>
            <p:nvPr/>
          </p:nvSpPr>
          <p:spPr>
            <a:xfrm>
              <a:off x="0" y="0"/>
              <a:ext cx="5151120" cy="2188464"/>
            </a:xfrm>
            <a:custGeom>
              <a:avLst/>
              <a:gdLst/>
              <a:ahLst/>
              <a:cxnLst/>
              <a:rect l="l" t="t" r="r" b="b"/>
              <a:pathLst>
                <a:path w="5151120" h="2188464">
                  <a:moveTo>
                    <a:pt x="0" y="222504"/>
                  </a:moveTo>
                  <a:cubicBezTo>
                    <a:pt x="0" y="99695"/>
                    <a:pt x="99695" y="0"/>
                    <a:pt x="222504" y="0"/>
                  </a:cubicBezTo>
                  <a:lnTo>
                    <a:pt x="4928616" y="0"/>
                  </a:lnTo>
                  <a:cubicBezTo>
                    <a:pt x="5051552" y="0"/>
                    <a:pt x="5151120" y="99695"/>
                    <a:pt x="5151120" y="222504"/>
                  </a:cubicBezTo>
                  <a:lnTo>
                    <a:pt x="5151120" y="1965960"/>
                  </a:lnTo>
                  <a:cubicBezTo>
                    <a:pt x="5151120" y="2088896"/>
                    <a:pt x="5051425" y="2188464"/>
                    <a:pt x="4928616" y="2188464"/>
                  </a:cubicBezTo>
                  <a:lnTo>
                    <a:pt x="222504" y="2188464"/>
                  </a:lnTo>
                  <a:cubicBezTo>
                    <a:pt x="99695" y="2188464"/>
                    <a:pt x="0" y="2088769"/>
                    <a:pt x="0" y="1965960"/>
                  </a:cubicBezTo>
                  <a:close/>
                </a:path>
              </a:pathLst>
            </a:custGeom>
            <a:solidFill>
              <a:srgbClr val="0D9488"/>
            </a:solidFill>
            <a:ln w="22860" cap="sq">
              <a:solidFill>
                <a:srgbClr val="0D9488"/>
              </a:solidFill>
              <a:prstDash val="solid"/>
              <a:miter/>
            </a:ln>
          </p:spPr>
          <p:txBody>
            <a:bodyPr/>
            <a:lstStyle/>
            <a:p>
              <a:endParaRPr lang="es-CL"/>
            </a:p>
          </p:txBody>
        </p:sp>
      </p:grpSp>
      <p:grpSp>
        <p:nvGrpSpPr>
          <p:cNvPr id="15" name="Group 15"/>
          <p:cNvGrpSpPr/>
          <p:nvPr/>
        </p:nvGrpSpPr>
        <p:grpSpPr>
          <a:xfrm>
            <a:off x="1385316" y="3566160"/>
            <a:ext cx="3346704" cy="329184"/>
            <a:chOff x="0" y="0"/>
            <a:chExt cx="4462272" cy="438912"/>
          </a:xfrm>
        </p:grpSpPr>
        <p:sp>
          <p:nvSpPr>
            <p:cNvPr id="16" name="Freeform 16"/>
            <p:cNvSpPr/>
            <p:nvPr/>
          </p:nvSpPr>
          <p:spPr>
            <a:xfrm>
              <a:off x="0" y="0"/>
              <a:ext cx="4462272" cy="438912"/>
            </a:xfrm>
            <a:custGeom>
              <a:avLst/>
              <a:gdLst/>
              <a:ahLst/>
              <a:cxnLst/>
              <a:rect l="l" t="t" r="r" b="b"/>
              <a:pathLst>
                <a:path w="4462272" h="438912">
                  <a:moveTo>
                    <a:pt x="0" y="0"/>
                  </a:moveTo>
                  <a:lnTo>
                    <a:pt x="4462272" y="0"/>
                  </a:lnTo>
                  <a:lnTo>
                    <a:pt x="4462272" y="438912"/>
                  </a:lnTo>
                  <a:lnTo>
                    <a:pt x="0" y="438912"/>
                  </a:lnTo>
                  <a:close/>
                </a:path>
              </a:pathLst>
            </a:custGeom>
            <a:blipFill>
              <a:blip r:embed="rId3">
                <a:alphaModFix amt="0"/>
              </a:blip>
              <a:stretch>
                <a:fillRect t="-148097" b="-148097"/>
              </a:stretch>
            </a:blipFill>
          </p:spPr>
          <p:txBody>
            <a:bodyPr/>
            <a:lstStyle/>
            <a:p>
              <a:endParaRPr lang="es-CL"/>
            </a:p>
          </p:txBody>
        </p:sp>
        <p:sp>
          <p:nvSpPr>
            <p:cNvPr id="17" name="TextBox 17"/>
            <p:cNvSpPr txBox="1"/>
            <p:nvPr/>
          </p:nvSpPr>
          <p:spPr>
            <a:xfrm>
              <a:off x="0" y="0"/>
              <a:ext cx="4462272" cy="438912"/>
            </a:xfrm>
            <a:prstGeom prst="rect">
              <a:avLst/>
            </a:prstGeom>
          </p:spPr>
          <p:txBody>
            <a:bodyPr lIns="0" tIns="0" rIns="0" bIns="0" rtlCol="0" anchor="ctr"/>
            <a:lstStyle/>
            <a:p>
              <a:pPr algn="l">
                <a:lnSpc>
                  <a:spcPts val="2340"/>
                </a:lnSpc>
              </a:pPr>
              <a:r>
                <a:rPr lang="en-US" sz="1950" b="1">
                  <a:solidFill>
                    <a:srgbClr val="FFFFFF"/>
                  </a:solidFill>
                  <a:latin typeface="Aptos Bold"/>
                  <a:ea typeface="Aptos Bold"/>
                  <a:cs typeface="Aptos Bold"/>
                  <a:sym typeface="Aptos Bold"/>
                </a:rPr>
                <a:t>Frontend</a:t>
              </a:r>
            </a:p>
          </p:txBody>
        </p:sp>
      </p:grpSp>
      <p:grpSp>
        <p:nvGrpSpPr>
          <p:cNvPr id="18" name="Group 18"/>
          <p:cNvGrpSpPr/>
          <p:nvPr/>
        </p:nvGrpSpPr>
        <p:grpSpPr>
          <a:xfrm>
            <a:off x="1385316" y="4073652"/>
            <a:ext cx="3346704" cy="658368"/>
            <a:chOff x="0" y="0"/>
            <a:chExt cx="4462272" cy="877824"/>
          </a:xfrm>
        </p:grpSpPr>
        <p:sp>
          <p:nvSpPr>
            <p:cNvPr id="19" name="Freeform 19"/>
            <p:cNvSpPr/>
            <p:nvPr/>
          </p:nvSpPr>
          <p:spPr>
            <a:xfrm>
              <a:off x="0" y="0"/>
              <a:ext cx="4462272" cy="877824"/>
            </a:xfrm>
            <a:custGeom>
              <a:avLst/>
              <a:gdLst/>
              <a:ahLst/>
              <a:cxnLst/>
              <a:rect l="l" t="t" r="r" b="b"/>
              <a:pathLst>
                <a:path w="4462272" h="877824">
                  <a:moveTo>
                    <a:pt x="0" y="0"/>
                  </a:moveTo>
                  <a:lnTo>
                    <a:pt x="4462272" y="0"/>
                  </a:lnTo>
                  <a:lnTo>
                    <a:pt x="4462272" y="877824"/>
                  </a:lnTo>
                  <a:lnTo>
                    <a:pt x="0" y="877824"/>
                  </a:lnTo>
                  <a:close/>
                </a:path>
              </a:pathLst>
            </a:custGeom>
            <a:blipFill>
              <a:blip r:embed="rId3">
                <a:alphaModFix amt="0"/>
              </a:blip>
              <a:stretch>
                <a:fillRect t="-49048" b="-49048"/>
              </a:stretch>
            </a:blipFill>
          </p:spPr>
          <p:txBody>
            <a:bodyPr/>
            <a:lstStyle/>
            <a:p>
              <a:endParaRPr lang="es-CL"/>
            </a:p>
          </p:txBody>
        </p:sp>
        <p:sp>
          <p:nvSpPr>
            <p:cNvPr id="20" name="TextBox 20"/>
            <p:cNvSpPr txBox="1"/>
            <p:nvPr/>
          </p:nvSpPr>
          <p:spPr>
            <a:xfrm>
              <a:off x="0" y="-9525"/>
              <a:ext cx="4462272" cy="887349"/>
            </a:xfrm>
            <a:prstGeom prst="rect">
              <a:avLst/>
            </a:prstGeom>
          </p:spPr>
          <p:txBody>
            <a:bodyPr lIns="0" tIns="0" rIns="0" bIns="0" rtlCol="0" anchor="ctr"/>
            <a:lstStyle/>
            <a:p>
              <a:pPr algn="l">
                <a:lnSpc>
                  <a:spcPts val="1530"/>
                </a:lnSpc>
              </a:pPr>
              <a:r>
                <a:rPr lang="en-US" sz="1275">
                  <a:solidFill>
                    <a:srgbClr val="E0F2FE"/>
                  </a:solidFill>
                  <a:latin typeface="Aptos"/>
                  <a:ea typeface="Aptos"/>
                  <a:cs typeface="Aptos"/>
                  <a:sym typeface="Aptos"/>
                </a:rPr>
                <a:t>React/Vite + Nginx</a:t>
              </a:r>
            </a:p>
            <a:p>
              <a:pPr algn="l">
                <a:lnSpc>
                  <a:spcPts val="1530"/>
                </a:lnSpc>
              </a:pPr>
              <a:r>
                <a:rPr lang="en-US" sz="1275">
                  <a:solidFill>
                    <a:srgbClr val="E0F2FE"/>
                  </a:solidFill>
                  <a:latin typeface="Aptos"/>
                  <a:ea typeface="Aptos"/>
                  <a:cs typeface="Aptos"/>
                  <a:sym typeface="Aptos"/>
                </a:rPr>
                <a:t>Puerto 8080</a:t>
              </a:r>
            </a:p>
          </p:txBody>
        </p:sp>
      </p:grpSp>
      <p:grpSp>
        <p:nvGrpSpPr>
          <p:cNvPr id="21" name="Group 21"/>
          <p:cNvGrpSpPr/>
          <p:nvPr/>
        </p:nvGrpSpPr>
        <p:grpSpPr>
          <a:xfrm>
            <a:off x="6846570" y="2114550"/>
            <a:ext cx="3931920" cy="1668780"/>
            <a:chOff x="0" y="0"/>
            <a:chExt cx="5242560" cy="2225040"/>
          </a:xfrm>
        </p:grpSpPr>
        <p:sp>
          <p:nvSpPr>
            <p:cNvPr id="22" name="Freeform 22"/>
            <p:cNvSpPr/>
            <p:nvPr/>
          </p:nvSpPr>
          <p:spPr>
            <a:xfrm>
              <a:off x="0" y="0"/>
              <a:ext cx="5242560" cy="2225040"/>
            </a:xfrm>
            <a:custGeom>
              <a:avLst/>
              <a:gdLst/>
              <a:ahLst/>
              <a:cxnLst/>
              <a:rect l="l" t="t" r="r" b="b"/>
              <a:pathLst>
                <a:path w="5242560" h="2225040">
                  <a:moveTo>
                    <a:pt x="0" y="222504"/>
                  </a:moveTo>
                  <a:cubicBezTo>
                    <a:pt x="0" y="99568"/>
                    <a:pt x="99568" y="0"/>
                    <a:pt x="222504" y="0"/>
                  </a:cubicBezTo>
                  <a:lnTo>
                    <a:pt x="5020056" y="0"/>
                  </a:lnTo>
                  <a:cubicBezTo>
                    <a:pt x="5142992" y="0"/>
                    <a:pt x="5242560" y="99568"/>
                    <a:pt x="5242560" y="222504"/>
                  </a:cubicBezTo>
                  <a:lnTo>
                    <a:pt x="5242560" y="2002536"/>
                  </a:lnTo>
                  <a:cubicBezTo>
                    <a:pt x="5242560" y="2125472"/>
                    <a:pt x="5142992" y="2225040"/>
                    <a:pt x="5020056" y="2225040"/>
                  </a:cubicBezTo>
                  <a:lnTo>
                    <a:pt x="222504" y="2225040"/>
                  </a:lnTo>
                  <a:cubicBezTo>
                    <a:pt x="99568" y="2225040"/>
                    <a:pt x="0" y="2125472"/>
                    <a:pt x="0" y="2002536"/>
                  </a:cubicBezTo>
                  <a:close/>
                </a:path>
              </a:pathLst>
            </a:custGeom>
            <a:solidFill>
              <a:srgbClr val="0B1320"/>
            </a:solidFill>
            <a:ln w="22860" cap="sq">
              <a:solidFill>
                <a:srgbClr val="0B1320"/>
              </a:solidFill>
              <a:prstDash val="solid"/>
              <a:miter/>
            </a:ln>
          </p:spPr>
          <p:txBody>
            <a:bodyPr/>
            <a:lstStyle/>
            <a:p>
              <a:endParaRPr lang="es-CL"/>
            </a:p>
          </p:txBody>
        </p:sp>
      </p:grpSp>
      <p:grpSp>
        <p:nvGrpSpPr>
          <p:cNvPr id="23" name="Group 23"/>
          <p:cNvGrpSpPr/>
          <p:nvPr/>
        </p:nvGrpSpPr>
        <p:grpSpPr>
          <a:xfrm>
            <a:off x="7104888" y="2372868"/>
            <a:ext cx="3415284" cy="329184"/>
            <a:chOff x="0" y="0"/>
            <a:chExt cx="4553712" cy="438912"/>
          </a:xfrm>
        </p:grpSpPr>
        <p:sp>
          <p:nvSpPr>
            <p:cNvPr id="24" name="Freeform 24"/>
            <p:cNvSpPr/>
            <p:nvPr/>
          </p:nvSpPr>
          <p:spPr>
            <a:xfrm>
              <a:off x="0" y="0"/>
              <a:ext cx="4553712" cy="438912"/>
            </a:xfrm>
            <a:custGeom>
              <a:avLst/>
              <a:gdLst/>
              <a:ahLst/>
              <a:cxnLst/>
              <a:rect l="l" t="t" r="r" b="b"/>
              <a:pathLst>
                <a:path w="4553712" h="438912">
                  <a:moveTo>
                    <a:pt x="0" y="0"/>
                  </a:moveTo>
                  <a:lnTo>
                    <a:pt x="4553712" y="0"/>
                  </a:lnTo>
                  <a:lnTo>
                    <a:pt x="4553712" y="438912"/>
                  </a:lnTo>
                  <a:lnTo>
                    <a:pt x="0" y="438912"/>
                  </a:lnTo>
                  <a:close/>
                </a:path>
              </a:pathLst>
            </a:custGeom>
            <a:blipFill>
              <a:blip r:embed="rId3">
                <a:alphaModFix amt="0"/>
              </a:blip>
              <a:stretch>
                <a:fillRect t="-152157" b="-152157"/>
              </a:stretch>
            </a:blipFill>
          </p:spPr>
          <p:txBody>
            <a:bodyPr/>
            <a:lstStyle/>
            <a:p>
              <a:endParaRPr lang="es-CL"/>
            </a:p>
          </p:txBody>
        </p:sp>
        <p:sp>
          <p:nvSpPr>
            <p:cNvPr id="25" name="TextBox 25"/>
            <p:cNvSpPr txBox="1"/>
            <p:nvPr/>
          </p:nvSpPr>
          <p:spPr>
            <a:xfrm>
              <a:off x="0" y="0"/>
              <a:ext cx="4553712" cy="438912"/>
            </a:xfrm>
            <a:prstGeom prst="rect">
              <a:avLst/>
            </a:prstGeom>
          </p:spPr>
          <p:txBody>
            <a:bodyPr lIns="0" tIns="0" rIns="0" bIns="0" rtlCol="0" anchor="ctr"/>
            <a:lstStyle/>
            <a:p>
              <a:pPr algn="l">
                <a:lnSpc>
                  <a:spcPts val="2340"/>
                </a:lnSpc>
              </a:pPr>
              <a:r>
                <a:rPr lang="en-US" sz="1950" b="1">
                  <a:solidFill>
                    <a:srgbClr val="FFFFFF"/>
                  </a:solidFill>
                  <a:latin typeface="Aptos Bold"/>
                  <a:ea typeface="Aptos Bold"/>
                  <a:cs typeface="Aptos Bold"/>
                  <a:sym typeface="Aptos Bold"/>
                </a:rPr>
                <a:t>Backend Ventas</a:t>
              </a:r>
            </a:p>
          </p:txBody>
        </p:sp>
      </p:grpSp>
      <p:grpSp>
        <p:nvGrpSpPr>
          <p:cNvPr id="26" name="Group 26"/>
          <p:cNvGrpSpPr/>
          <p:nvPr/>
        </p:nvGrpSpPr>
        <p:grpSpPr>
          <a:xfrm>
            <a:off x="7104888" y="2880360"/>
            <a:ext cx="3415284" cy="658368"/>
            <a:chOff x="0" y="0"/>
            <a:chExt cx="4553712" cy="877824"/>
          </a:xfrm>
        </p:grpSpPr>
        <p:sp>
          <p:nvSpPr>
            <p:cNvPr id="27" name="Freeform 27"/>
            <p:cNvSpPr/>
            <p:nvPr/>
          </p:nvSpPr>
          <p:spPr>
            <a:xfrm>
              <a:off x="0" y="0"/>
              <a:ext cx="4553712" cy="877824"/>
            </a:xfrm>
            <a:custGeom>
              <a:avLst/>
              <a:gdLst/>
              <a:ahLst/>
              <a:cxnLst/>
              <a:rect l="l" t="t" r="r" b="b"/>
              <a:pathLst>
                <a:path w="4553712" h="877824">
                  <a:moveTo>
                    <a:pt x="0" y="0"/>
                  </a:moveTo>
                  <a:lnTo>
                    <a:pt x="4553712" y="0"/>
                  </a:lnTo>
                  <a:lnTo>
                    <a:pt x="4553712" y="877824"/>
                  </a:lnTo>
                  <a:lnTo>
                    <a:pt x="0" y="877824"/>
                  </a:lnTo>
                  <a:close/>
                </a:path>
              </a:pathLst>
            </a:custGeom>
            <a:blipFill>
              <a:blip r:embed="rId3">
                <a:alphaModFix amt="0"/>
              </a:blip>
              <a:stretch>
                <a:fillRect t="-51078" b="-51078"/>
              </a:stretch>
            </a:blipFill>
          </p:spPr>
          <p:txBody>
            <a:bodyPr/>
            <a:lstStyle/>
            <a:p>
              <a:endParaRPr lang="es-CL"/>
            </a:p>
          </p:txBody>
        </p:sp>
        <p:sp>
          <p:nvSpPr>
            <p:cNvPr id="28" name="TextBox 28"/>
            <p:cNvSpPr txBox="1"/>
            <p:nvPr/>
          </p:nvSpPr>
          <p:spPr>
            <a:xfrm>
              <a:off x="0" y="-9525"/>
              <a:ext cx="4553712" cy="887349"/>
            </a:xfrm>
            <a:prstGeom prst="rect">
              <a:avLst/>
            </a:prstGeom>
          </p:spPr>
          <p:txBody>
            <a:bodyPr lIns="0" tIns="0" rIns="0" bIns="0" rtlCol="0" anchor="ctr"/>
            <a:lstStyle/>
            <a:p>
              <a:pPr algn="l">
                <a:lnSpc>
                  <a:spcPts val="1530"/>
                </a:lnSpc>
              </a:pPr>
              <a:r>
                <a:rPr lang="en-US" sz="1275">
                  <a:solidFill>
                    <a:srgbClr val="E0F2FE"/>
                  </a:solidFill>
                  <a:latin typeface="Aptos"/>
                  <a:ea typeface="Aptos"/>
                  <a:cs typeface="Aptos"/>
                  <a:sym typeface="Aptos"/>
                </a:rPr>
                <a:t>Spring Boot + Java 17</a:t>
              </a:r>
            </a:p>
            <a:p>
              <a:pPr algn="l">
                <a:lnSpc>
                  <a:spcPts val="1530"/>
                </a:lnSpc>
              </a:pPr>
              <a:r>
                <a:rPr lang="en-US" sz="1275">
                  <a:solidFill>
                    <a:srgbClr val="E0F2FE"/>
                  </a:solidFill>
                  <a:latin typeface="Aptos"/>
                  <a:ea typeface="Aptos"/>
                  <a:cs typeface="Aptos"/>
                  <a:sym typeface="Aptos"/>
                </a:rPr>
                <a:t>Puerto 8081</a:t>
              </a:r>
            </a:p>
          </p:txBody>
        </p:sp>
      </p:grpSp>
      <p:grpSp>
        <p:nvGrpSpPr>
          <p:cNvPr id="29" name="Group 29"/>
          <p:cNvGrpSpPr/>
          <p:nvPr/>
        </p:nvGrpSpPr>
        <p:grpSpPr>
          <a:xfrm>
            <a:off x="6846570" y="4446270"/>
            <a:ext cx="3931920" cy="1668780"/>
            <a:chOff x="0" y="0"/>
            <a:chExt cx="5242560" cy="2225040"/>
          </a:xfrm>
        </p:grpSpPr>
        <p:sp>
          <p:nvSpPr>
            <p:cNvPr id="30" name="Freeform 30"/>
            <p:cNvSpPr/>
            <p:nvPr/>
          </p:nvSpPr>
          <p:spPr>
            <a:xfrm>
              <a:off x="0" y="0"/>
              <a:ext cx="5242560" cy="2225040"/>
            </a:xfrm>
            <a:custGeom>
              <a:avLst/>
              <a:gdLst/>
              <a:ahLst/>
              <a:cxnLst/>
              <a:rect l="l" t="t" r="r" b="b"/>
              <a:pathLst>
                <a:path w="5242560" h="2225040">
                  <a:moveTo>
                    <a:pt x="0" y="222504"/>
                  </a:moveTo>
                  <a:cubicBezTo>
                    <a:pt x="0" y="99568"/>
                    <a:pt x="99568" y="0"/>
                    <a:pt x="222504" y="0"/>
                  </a:cubicBezTo>
                  <a:lnTo>
                    <a:pt x="5020056" y="0"/>
                  </a:lnTo>
                  <a:cubicBezTo>
                    <a:pt x="5142992" y="0"/>
                    <a:pt x="5242560" y="99568"/>
                    <a:pt x="5242560" y="222504"/>
                  </a:cubicBezTo>
                  <a:lnTo>
                    <a:pt x="5242560" y="2002536"/>
                  </a:lnTo>
                  <a:cubicBezTo>
                    <a:pt x="5242560" y="2125472"/>
                    <a:pt x="5142992" y="2225040"/>
                    <a:pt x="5020056" y="2225040"/>
                  </a:cubicBezTo>
                  <a:lnTo>
                    <a:pt x="222504" y="2225040"/>
                  </a:lnTo>
                  <a:cubicBezTo>
                    <a:pt x="99568" y="2225040"/>
                    <a:pt x="0" y="2125472"/>
                    <a:pt x="0" y="2002536"/>
                  </a:cubicBezTo>
                  <a:close/>
                </a:path>
              </a:pathLst>
            </a:custGeom>
            <a:solidFill>
              <a:srgbClr val="0B1320"/>
            </a:solidFill>
            <a:ln w="22860" cap="sq">
              <a:solidFill>
                <a:srgbClr val="0B1320"/>
              </a:solidFill>
              <a:prstDash val="solid"/>
              <a:miter/>
            </a:ln>
          </p:spPr>
          <p:txBody>
            <a:bodyPr/>
            <a:lstStyle/>
            <a:p>
              <a:endParaRPr lang="es-CL"/>
            </a:p>
          </p:txBody>
        </p:sp>
      </p:grpSp>
      <p:grpSp>
        <p:nvGrpSpPr>
          <p:cNvPr id="31" name="Group 31"/>
          <p:cNvGrpSpPr/>
          <p:nvPr/>
        </p:nvGrpSpPr>
        <p:grpSpPr>
          <a:xfrm>
            <a:off x="7104888" y="4704588"/>
            <a:ext cx="3415284" cy="329184"/>
            <a:chOff x="0" y="0"/>
            <a:chExt cx="4553712" cy="438912"/>
          </a:xfrm>
        </p:grpSpPr>
        <p:sp>
          <p:nvSpPr>
            <p:cNvPr id="32" name="Freeform 32"/>
            <p:cNvSpPr/>
            <p:nvPr/>
          </p:nvSpPr>
          <p:spPr>
            <a:xfrm>
              <a:off x="0" y="0"/>
              <a:ext cx="4553712" cy="438912"/>
            </a:xfrm>
            <a:custGeom>
              <a:avLst/>
              <a:gdLst/>
              <a:ahLst/>
              <a:cxnLst/>
              <a:rect l="l" t="t" r="r" b="b"/>
              <a:pathLst>
                <a:path w="4553712" h="438912">
                  <a:moveTo>
                    <a:pt x="0" y="0"/>
                  </a:moveTo>
                  <a:lnTo>
                    <a:pt x="4553712" y="0"/>
                  </a:lnTo>
                  <a:lnTo>
                    <a:pt x="4553712" y="438912"/>
                  </a:lnTo>
                  <a:lnTo>
                    <a:pt x="0" y="438912"/>
                  </a:lnTo>
                  <a:close/>
                </a:path>
              </a:pathLst>
            </a:custGeom>
            <a:blipFill>
              <a:blip r:embed="rId3">
                <a:alphaModFix amt="0"/>
              </a:blip>
              <a:stretch>
                <a:fillRect t="-152157" b="-152157"/>
              </a:stretch>
            </a:blipFill>
          </p:spPr>
          <p:txBody>
            <a:bodyPr/>
            <a:lstStyle/>
            <a:p>
              <a:endParaRPr lang="es-CL"/>
            </a:p>
          </p:txBody>
        </p:sp>
        <p:sp>
          <p:nvSpPr>
            <p:cNvPr id="33" name="TextBox 33"/>
            <p:cNvSpPr txBox="1"/>
            <p:nvPr/>
          </p:nvSpPr>
          <p:spPr>
            <a:xfrm>
              <a:off x="0" y="0"/>
              <a:ext cx="4553712" cy="438912"/>
            </a:xfrm>
            <a:prstGeom prst="rect">
              <a:avLst/>
            </a:prstGeom>
          </p:spPr>
          <p:txBody>
            <a:bodyPr lIns="0" tIns="0" rIns="0" bIns="0" rtlCol="0" anchor="ctr"/>
            <a:lstStyle/>
            <a:p>
              <a:pPr algn="l">
                <a:lnSpc>
                  <a:spcPts val="2340"/>
                </a:lnSpc>
              </a:pPr>
              <a:r>
                <a:rPr lang="en-US" sz="1950" b="1">
                  <a:solidFill>
                    <a:srgbClr val="FFFFFF"/>
                  </a:solidFill>
                  <a:latin typeface="Aptos Bold"/>
                  <a:ea typeface="Aptos Bold"/>
                  <a:cs typeface="Aptos Bold"/>
                  <a:sym typeface="Aptos Bold"/>
                </a:rPr>
                <a:t>Backend Despachos</a:t>
              </a:r>
            </a:p>
          </p:txBody>
        </p:sp>
      </p:grpSp>
      <p:grpSp>
        <p:nvGrpSpPr>
          <p:cNvPr id="34" name="Group 34"/>
          <p:cNvGrpSpPr/>
          <p:nvPr/>
        </p:nvGrpSpPr>
        <p:grpSpPr>
          <a:xfrm>
            <a:off x="7104888" y="5212080"/>
            <a:ext cx="3415284" cy="658368"/>
            <a:chOff x="0" y="0"/>
            <a:chExt cx="4553712" cy="877824"/>
          </a:xfrm>
        </p:grpSpPr>
        <p:sp>
          <p:nvSpPr>
            <p:cNvPr id="35" name="Freeform 35"/>
            <p:cNvSpPr/>
            <p:nvPr/>
          </p:nvSpPr>
          <p:spPr>
            <a:xfrm>
              <a:off x="0" y="0"/>
              <a:ext cx="4553712" cy="877824"/>
            </a:xfrm>
            <a:custGeom>
              <a:avLst/>
              <a:gdLst/>
              <a:ahLst/>
              <a:cxnLst/>
              <a:rect l="l" t="t" r="r" b="b"/>
              <a:pathLst>
                <a:path w="4553712" h="877824">
                  <a:moveTo>
                    <a:pt x="0" y="0"/>
                  </a:moveTo>
                  <a:lnTo>
                    <a:pt x="4553712" y="0"/>
                  </a:lnTo>
                  <a:lnTo>
                    <a:pt x="4553712" y="877824"/>
                  </a:lnTo>
                  <a:lnTo>
                    <a:pt x="0" y="877824"/>
                  </a:lnTo>
                  <a:close/>
                </a:path>
              </a:pathLst>
            </a:custGeom>
            <a:blipFill>
              <a:blip r:embed="rId3">
                <a:alphaModFix amt="0"/>
              </a:blip>
              <a:stretch>
                <a:fillRect t="-51078" b="-51078"/>
              </a:stretch>
            </a:blipFill>
          </p:spPr>
          <p:txBody>
            <a:bodyPr/>
            <a:lstStyle/>
            <a:p>
              <a:endParaRPr lang="es-CL"/>
            </a:p>
          </p:txBody>
        </p:sp>
        <p:sp>
          <p:nvSpPr>
            <p:cNvPr id="36" name="TextBox 36"/>
            <p:cNvSpPr txBox="1"/>
            <p:nvPr/>
          </p:nvSpPr>
          <p:spPr>
            <a:xfrm>
              <a:off x="0" y="-9525"/>
              <a:ext cx="4553712" cy="887349"/>
            </a:xfrm>
            <a:prstGeom prst="rect">
              <a:avLst/>
            </a:prstGeom>
          </p:spPr>
          <p:txBody>
            <a:bodyPr lIns="0" tIns="0" rIns="0" bIns="0" rtlCol="0" anchor="ctr"/>
            <a:lstStyle/>
            <a:p>
              <a:pPr algn="l">
                <a:lnSpc>
                  <a:spcPts val="1530"/>
                </a:lnSpc>
              </a:pPr>
              <a:r>
                <a:rPr lang="en-US" sz="1275">
                  <a:solidFill>
                    <a:srgbClr val="E0F2FE"/>
                  </a:solidFill>
                  <a:latin typeface="Aptos"/>
                  <a:ea typeface="Aptos"/>
                  <a:cs typeface="Aptos"/>
                  <a:sym typeface="Aptos"/>
                </a:rPr>
                <a:t>Spring Boot + Java 17</a:t>
              </a:r>
            </a:p>
            <a:p>
              <a:pPr algn="l">
                <a:lnSpc>
                  <a:spcPts val="1530"/>
                </a:lnSpc>
              </a:pPr>
              <a:r>
                <a:rPr lang="en-US" sz="1275">
                  <a:solidFill>
                    <a:srgbClr val="E0F2FE"/>
                  </a:solidFill>
                  <a:latin typeface="Aptos"/>
                  <a:ea typeface="Aptos"/>
                  <a:cs typeface="Aptos"/>
                  <a:sym typeface="Aptos"/>
                </a:rPr>
                <a:t>Puerto 8082</a:t>
              </a:r>
            </a:p>
          </p:txBody>
        </p:sp>
      </p:grpSp>
      <p:grpSp>
        <p:nvGrpSpPr>
          <p:cNvPr id="37" name="Group 37"/>
          <p:cNvGrpSpPr/>
          <p:nvPr/>
        </p:nvGrpSpPr>
        <p:grpSpPr>
          <a:xfrm>
            <a:off x="12127230" y="3307842"/>
            <a:ext cx="3931920" cy="1641348"/>
            <a:chOff x="0" y="0"/>
            <a:chExt cx="5242560" cy="2188464"/>
          </a:xfrm>
        </p:grpSpPr>
        <p:sp>
          <p:nvSpPr>
            <p:cNvPr id="38" name="Freeform 38"/>
            <p:cNvSpPr/>
            <p:nvPr/>
          </p:nvSpPr>
          <p:spPr>
            <a:xfrm>
              <a:off x="0" y="0"/>
              <a:ext cx="5242560" cy="2188464"/>
            </a:xfrm>
            <a:custGeom>
              <a:avLst/>
              <a:gdLst/>
              <a:ahLst/>
              <a:cxnLst/>
              <a:rect l="l" t="t" r="r" b="b"/>
              <a:pathLst>
                <a:path w="5242560" h="2188464">
                  <a:moveTo>
                    <a:pt x="0" y="222504"/>
                  </a:moveTo>
                  <a:cubicBezTo>
                    <a:pt x="0" y="99695"/>
                    <a:pt x="99695" y="0"/>
                    <a:pt x="222504" y="0"/>
                  </a:cubicBezTo>
                  <a:lnTo>
                    <a:pt x="5020056" y="0"/>
                  </a:lnTo>
                  <a:cubicBezTo>
                    <a:pt x="5142992" y="0"/>
                    <a:pt x="5242560" y="99695"/>
                    <a:pt x="5242560" y="222504"/>
                  </a:cubicBezTo>
                  <a:lnTo>
                    <a:pt x="5242560" y="1965960"/>
                  </a:lnTo>
                  <a:cubicBezTo>
                    <a:pt x="5242560" y="2088896"/>
                    <a:pt x="5142865" y="2188464"/>
                    <a:pt x="5020056" y="2188464"/>
                  </a:cubicBezTo>
                  <a:lnTo>
                    <a:pt x="222504" y="2188464"/>
                  </a:lnTo>
                  <a:cubicBezTo>
                    <a:pt x="99695" y="2188464"/>
                    <a:pt x="0" y="2088769"/>
                    <a:pt x="0" y="1965960"/>
                  </a:cubicBezTo>
                  <a:close/>
                </a:path>
              </a:pathLst>
            </a:custGeom>
            <a:solidFill>
              <a:srgbClr val="F2B705"/>
            </a:solidFill>
            <a:ln w="22860" cap="sq">
              <a:solidFill>
                <a:srgbClr val="F2B705"/>
              </a:solidFill>
              <a:prstDash val="solid"/>
              <a:miter/>
            </a:ln>
          </p:spPr>
          <p:txBody>
            <a:bodyPr/>
            <a:lstStyle/>
            <a:p>
              <a:endParaRPr lang="es-CL"/>
            </a:p>
          </p:txBody>
        </p:sp>
      </p:grpSp>
      <p:grpSp>
        <p:nvGrpSpPr>
          <p:cNvPr id="39" name="Group 39"/>
          <p:cNvGrpSpPr/>
          <p:nvPr/>
        </p:nvGrpSpPr>
        <p:grpSpPr>
          <a:xfrm>
            <a:off x="12385548" y="3566160"/>
            <a:ext cx="3415284" cy="329184"/>
            <a:chOff x="0" y="0"/>
            <a:chExt cx="4553712" cy="438912"/>
          </a:xfrm>
        </p:grpSpPr>
        <p:sp>
          <p:nvSpPr>
            <p:cNvPr id="40" name="Freeform 40"/>
            <p:cNvSpPr/>
            <p:nvPr/>
          </p:nvSpPr>
          <p:spPr>
            <a:xfrm>
              <a:off x="0" y="0"/>
              <a:ext cx="4553712" cy="438912"/>
            </a:xfrm>
            <a:custGeom>
              <a:avLst/>
              <a:gdLst/>
              <a:ahLst/>
              <a:cxnLst/>
              <a:rect l="l" t="t" r="r" b="b"/>
              <a:pathLst>
                <a:path w="4553712" h="438912">
                  <a:moveTo>
                    <a:pt x="0" y="0"/>
                  </a:moveTo>
                  <a:lnTo>
                    <a:pt x="4553712" y="0"/>
                  </a:lnTo>
                  <a:lnTo>
                    <a:pt x="4553712" y="438912"/>
                  </a:lnTo>
                  <a:lnTo>
                    <a:pt x="0" y="438912"/>
                  </a:lnTo>
                  <a:close/>
                </a:path>
              </a:pathLst>
            </a:custGeom>
            <a:blipFill>
              <a:blip r:embed="rId3">
                <a:alphaModFix amt="0"/>
              </a:blip>
              <a:stretch>
                <a:fillRect t="-152157" b="-152157"/>
              </a:stretch>
            </a:blipFill>
          </p:spPr>
          <p:txBody>
            <a:bodyPr/>
            <a:lstStyle/>
            <a:p>
              <a:endParaRPr lang="es-CL"/>
            </a:p>
          </p:txBody>
        </p:sp>
        <p:sp>
          <p:nvSpPr>
            <p:cNvPr id="41" name="TextBox 41"/>
            <p:cNvSpPr txBox="1"/>
            <p:nvPr/>
          </p:nvSpPr>
          <p:spPr>
            <a:xfrm>
              <a:off x="0" y="0"/>
              <a:ext cx="4553712" cy="438912"/>
            </a:xfrm>
            <a:prstGeom prst="rect">
              <a:avLst/>
            </a:prstGeom>
          </p:spPr>
          <p:txBody>
            <a:bodyPr lIns="0" tIns="0" rIns="0" bIns="0" rtlCol="0" anchor="ctr"/>
            <a:lstStyle/>
            <a:p>
              <a:pPr algn="l">
                <a:lnSpc>
                  <a:spcPts val="2340"/>
                </a:lnSpc>
              </a:pPr>
              <a:r>
                <a:rPr lang="en-US" sz="1950" b="1">
                  <a:solidFill>
                    <a:srgbClr val="FFFFFF"/>
                  </a:solidFill>
                  <a:latin typeface="Aptos Bold"/>
                  <a:ea typeface="Aptos Bold"/>
                  <a:cs typeface="Aptos Bold"/>
                  <a:sym typeface="Aptos Bold"/>
                </a:rPr>
                <a:t>MySQL</a:t>
              </a:r>
            </a:p>
          </p:txBody>
        </p:sp>
      </p:grpSp>
      <p:grpSp>
        <p:nvGrpSpPr>
          <p:cNvPr id="42" name="Group 42"/>
          <p:cNvGrpSpPr/>
          <p:nvPr/>
        </p:nvGrpSpPr>
        <p:grpSpPr>
          <a:xfrm>
            <a:off x="12385548" y="4073652"/>
            <a:ext cx="3415284" cy="658368"/>
            <a:chOff x="0" y="0"/>
            <a:chExt cx="4553712" cy="877824"/>
          </a:xfrm>
        </p:grpSpPr>
        <p:sp>
          <p:nvSpPr>
            <p:cNvPr id="43" name="Freeform 43"/>
            <p:cNvSpPr/>
            <p:nvPr/>
          </p:nvSpPr>
          <p:spPr>
            <a:xfrm>
              <a:off x="0" y="0"/>
              <a:ext cx="4553712" cy="877824"/>
            </a:xfrm>
            <a:custGeom>
              <a:avLst/>
              <a:gdLst/>
              <a:ahLst/>
              <a:cxnLst/>
              <a:rect l="l" t="t" r="r" b="b"/>
              <a:pathLst>
                <a:path w="4553712" h="877824">
                  <a:moveTo>
                    <a:pt x="0" y="0"/>
                  </a:moveTo>
                  <a:lnTo>
                    <a:pt x="4553712" y="0"/>
                  </a:lnTo>
                  <a:lnTo>
                    <a:pt x="4553712" y="877824"/>
                  </a:lnTo>
                  <a:lnTo>
                    <a:pt x="0" y="877824"/>
                  </a:lnTo>
                  <a:close/>
                </a:path>
              </a:pathLst>
            </a:custGeom>
            <a:blipFill>
              <a:blip r:embed="rId3">
                <a:alphaModFix amt="0"/>
              </a:blip>
              <a:stretch>
                <a:fillRect t="-51078" b="-51078"/>
              </a:stretch>
            </a:blipFill>
          </p:spPr>
          <p:txBody>
            <a:bodyPr/>
            <a:lstStyle/>
            <a:p>
              <a:endParaRPr lang="es-CL"/>
            </a:p>
          </p:txBody>
        </p:sp>
        <p:sp>
          <p:nvSpPr>
            <p:cNvPr id="44" name="TextBox 44"/>
            <p:cNvSpPr txBox="1"/>
            <p:nvPr/>
          </p:nvSpPr>
          <p:spPr>
            <a:xfrm>
              <a:off x="0" y="-9525"/>
              <a:ext cx="4553712" cy="887349"/>
            </a:xfrm>
            <a:prstGeom prst="rect">
              <a:avLst/>
            </a:prstGeom>
          </p:spPr>
          <p:txBody>
            <a:bodyPr lIns="0" tIns="0" rIns="0" bIns="0" rtlCol="0" anchor="ctr"/>
            <a:lstStyle/>
            <a:p>
              <a:pPr algn="l">
                <a:lnSpc>
                  <a:spcPts val="1530"/>
                </a:lnSpc>
              </a:pPr>
              <a:r>
                <a:rPr lang="en-US" sz="1275">
                  <a:solidFill>
                    <a:srgbClr val="E0F2FE"/>
                  </a:solidFill>
                  <a:latin typeface="Aptos"/>
                  <a:ea typeface="Aptos"/>
                  <a:cs typeface="Aptos"/>
                  <a:sym typeface="Aptos"/>
                </a:rPr>
                <a:t>Persistencia en volumen</a:t>
              </a:r>
            </a:p>
            <a:p>
              <a:pPr algn="l">
                <a:lnSpc>
                  <a:spcPts val="1530"/>
                </a:lnSpc>
              </a:pPr>
              <a:r>
                <a:rPr lang="en-US" sz="1275">
                  <a:solidFill>
                    <a:srgbClr val="E0F2FE"/>
                  </a:solidFill>
                  <a:latin typeface="Aptos"/>
                  <a:ea typeface="Aptos"/>
                  <a:cs typeface="Aptos"/>
                  <a:sym typeface="Aptos"/>
                </a:rPr>
                <a:t>Servicio mysql:3306</a:t>
              </a:r>
            </a:p>
          </p:txBody>
        </p:sp>
      </p:grpSp>
      <p:grpSp>
        <p:nvGrpSpPr>
          <p:cNvPr id="45" name="Group 45"/>
          <p:cNvGrpSpPr/>
          <p:nvPr/>
        </p:nvGrpSpPr>
        <p:grpSpPr>
          <a:xfrm>
            <a:off x="1087755" y="7232523"/>
            <a:ext cx="14969490" cy="1006602"/>
            <a:chOff x="0" y="0"/>
            <a:chExt cx="19959320" cy="1342136"/>
          </a:xfrm>
        </p:grpSpPr>
        <p:sp>
          <p:nvSpPr>
            <p:cNvPr id="46" name="Freeform 46"/>
            <p:cNvSpPr/>
            <p:nvPr/>
          </p:nvSpPr>
          <p:spPr>
            <a:xfrm>
              <a:off x="0" y="0"/>
              <a:ext cx="19959321" cy="1342136"/>
            </a:xfrm>
            <a:custGeom>
              <a:avLst/>
              <a:gdLst/>
              <a:ahLst/>
              <a:cxnLst/>
              <a:rect l="l" t="t" r="r" b="b"/>
              <a:pathLst>
                <a:path w="19959321" h="1342136">
                  <a:moveTo>
                    <a:pt x="0" y="186436"/>
                  </a:moveTo>
                  <a:cubicBezTo>
                    <a:pt x="0" y="83439"/>
                    <a:pt x="83439" y="0"/>
                    <a:pt x="186436" y="0"/>
                  </a:cubicBezTo>
                  <a:lnTo>
                    <a:pt x="19772885" y="0"/>
                  </a:lnTo>
                  <a:cubicBezTo>
                    <a:pt x="19875881" y="0"/>
                    <a:pt x="19959321" y="83439"/>
                    <a:pt x="19959321" y="186436"/>
                  </a:cubicBezTo>
                  <a:lnTo>
                    <a:pt x="19959321" y="1155700"/>
                  </a:lnTo>
                  <a:cubicBezTo>
                    <a:pt x="19959321" y="1258697"/>
                    <a:pt x="19875881" y="1342136"/>
                    <a:pt x="19772885" y="1342136"/>
                  </a:cubicBezTo>
                  <a:lnTo>
                    <a:pt x="186436" y="1342136"/>
                  </a:lnTo>
                  <a:cubicBezTo>
                    <a:pt x="83439" y="1342136"/>
                    <a:pt x="0" y="1258697"/>
                    <a:pt x="0" y="1155700"/>
                  </a:cubicBezTo>
                  <a:close/>
                </a:path>
              </a:pathLst>
            </a:custGeom>
            <a:solidFill>
              <a:srgbClr val="E0F2FE"/>
            </a:solidFill>
            <a:ln w="19050" cap="sq">
              <a:solidFill>
                <a:srgbClr val="BAE6FD"/>
              </a:solidFill>
              <a:prstDash val="solid"/>
              <a:miter/>
            </a:ln>
          </p:spPr>
          <p:txBody>
            <a:bodyPr/>
            <a:lstStyle/>
            <a:p>
              <a:endParaRPr lang="es-CL"/>
            </a:p>
          </p:txBody>
        </p:sp>
      </p:grpSp>
      <p:grpSp>
        <p:nvGrpSpPr>
          <p:cNvPr id="47" name="Group 47"/>
          <p:cNvGrpSpPr/>
          <p:nvPr/>
        </p:nvGrpSpPr>
        <p:grpSpPr>
          <a:xfrm>
            <a:off x="1371600" y="7571232"/>
            <a:ext cx="14401800" cy="301752"/>
            <a:chOff x="0" y="0"/>
            <a:chExt cx="19202400" cy="402336"/>
          </a:xfrm>
        </p:grpSpPr>
        <p:sp>
          <p:nvSpPr>
            <p:cNvPr id="48" name="Freeform 48"/>
            <p:cNvSpPr/>
            <p:nvPr/>
          </p:nvSpPr>
          <p:spPr>
            <a:xfrm>
              <a:off x="0" y="0"/>
              <a:ext cx="19202400" cy="402336"/>
            </a:xfrm>
            <a:custGeom>
              <a:avLst/>
              <a:gdLst/>
              <a:ahLst/>
              <a:cxnLst/>
              <a:rect l="l" t="t" r="r" b="b"/>
              <a:pathLst>
                <a:path w="19202400" h="402336">
                  <a:moveTo>
                    <a:pt x="0" y="0"/>
                  </a:moveTo>
                  <a:lnTo>
                    <a:pt x="19202400" y="0"/>
                  </a:lnTo>
                  <a:lnTo>
                    <a:pt x="19202400" y="402336"/>
                  </a:lnTo>
                  <a:lnTo>
                    <a:pt x="0" y="402336"/>
                  </a:lnTo>
                  <a:close/>
                </a:path>
              </a:pathLst>
            </a:custGeom>
            <a:blipFill>
              <a:blip r:embed="rId3">
                <a:alphaModFix amt="0"/>
              </a:blip>
              <a:stretch>
                <a:fillRect t="-879967" b="-879967"/>
              </a:stretch>
            </a:blipFill>
          </p:spPr>
          <p:txBody>
            <a:bodyPr/>
            <a:lstStyle/>
            <a:p>
              <a:endParaRPr lang="es-CL"/>
            </a:p>
          </p:txBody>
        </p:sp>
        <p:sp>
          <p:nvSpPr>
            <p:cNvPr id="49" name="TextBox 49"/>
            <p:cNvSpPr txBox="1"/>
            <p:nvPr/>
          </p:nvSpPr>
          <p:spPr>
            <a:xfrm>
              <a:off x="0" y="0"/>
              <a:ext cx="19202400" cy="402336"/>
            </a:xfrm>
            <a:prstGeom prst="rect">
              <a:avLst/>
            </a:prstGeom>
          </p:spPr>
          <p:txBody>
            <a:bodyPr lIns="0" tIns="0" rIns="0" bIns="0" rtlCol="0" anchor="ctr"/>
            <a:lstStyle/>
            <a:p>
              <a:pPr algn="ctr">
                <a:lnSpc>
                  <a:spcPts val="1980"/>
                </a:lnSpc>
              </a:pPr>
              <a:r>
                <a:rPr lang="en-US" sz="1650" b="1">
                  <a:solidFill>
                    <a:srgbClr val="18212F"/>
                  </a:solidFill>
                  <a:latin typeface="Aptos Bold"/>
                  <a:ea typeface="Aptos Bold"/>
                  <a:cs typeface="Aptos Bold"/>
                  <a:sym typeface="Aptos Bold"/>
                </a:rPr>
                <a:t>Red interna Docker: tienda-net · Comunicación por nombres de servicio · Despliegue en EC2 con Docker Compose</a:t>
              </a:r>
            </a:p>
          </p:txBody>
        </p:sp>
      </p:grpSp>
      <p:grpSp>
        <p:nvGrpSpPr>
          <p:cNvPr id="50" name="Group 50"/>
          <p:cNvGrpSpPr/>
          <p:nvPr/>
        </p:nvGrpSpPr>
        <p:grpSpPr>
          <a:xfrm>
            <a:off x="754380" y="9779508"/>
            <a:ext cx="7406640" cy="246888"/>
            <a:chOff x="0" y="0"/>
            <a:chExt cx="9875520" cy="329184"/>
          </a:xfrm>
        </p:grpSpPr>
        <p:sp>
          <p:nvSpPr>
            <p:cNvPr id="51" name="Freeform 51"/>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52" name="TextBox 52"/>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53" name="Group 53"/>
          <p:cNvGrpSpPr/>
          <p:nvPr/>
        </p:nvGrpSpPr>
        <p:grpSpPr>
          <a:xfrm>
            <a:off x="16952976" y="9669780"/>
            <a:ext cx="576072" cy="356616"/>
            <a:chOff x="0" y="0"/>
            <a:chExt cx="768096" cy="475488"/>
          </a:xfrm>
        </p:grpSpPr>
        <p:sp>
          <p:nvSpPr>
            <p:cNvPr id="54" name="Freeform 54"/>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55" name="TextBox 55"/>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03</a:t>
              </a:r>
            </a:p>
          </p:txBody>
        </p:sp>
      </p:grpSp>
      <p:sp>
        <p:nvSpPr>
          <p:cNvPr id="56" name="Freeform 56"/>
          <p:cNvSpPr/>
          <p:nvPr/>
        </p:nvSpPr>
        <p:spPr>
          <a:xfrm rot="931442">
            <a:off x="5218041" y="4878378"/>
            <a:ext cx="1400827" cy="749442"/>
          </a:xfrm>
          <a:custGeom>
            <a:avLst/>
            <a:gdLst/>
            <a:ahLst/>
            <a:cxnLst/>
            <a:rect l="l" t="t" r="r" b="b"/>
            <a:pathLst>
              <a:path w="1400827" h="749442">
                <a:moveTo>
                  <a:pt x="0" y="0"/>
                </a:moveTo>
                <a:lnTo>
                  <a:pt x="1400826" y="0"/>
                </a:lnTo>
                <a:lnTo>
                  <a:pt x="1400826" y="749442"/>
                </a:lnTo>
                <a:lnTo>
                  <a:pt x="0" y="749442"/>
                </a:lnTo>
                <a:lnTo>
                  <a:pt x="0" y="0"/>
                </a:lnTo>
                <a:close/>
              </a:path>
            </a:pathLst>
          </a:custGeom>
          <a:blipFill>
            <a:blip r:embed="rId4"/>
            <a:stretch>
              <a:fillRect/>
            </a:stretch>
          </a:blipFill>
        </p:spPr>
        <p:txBody>
          <a:bodyPr/>
          <a:lstStyle/>
          <a:p>
            <a:endParaRPr lang="es-CL"/>
          </a:p>
        </p:txBody>
      </p:sp>
      <p:sp>
        <p:nvSpPr>
          <p:cNvPr id="57" name="Freeform 57"/>
          <p:cNvSpPr/>
          <p:nvPr/>
        </p:nvSpPr>
        <p:spPr>
          <a:xfrm rot="-407050">
            <a:off x="5111107" y="2736602"/>
            <a:ext cx="1400827" cy="749442"/>
          </a:xfrm>
          <a:custGeom>
            <a:avLst/>
            <a:gdLst/>
            <a:ahLst/>
            <a:cxnLst/>
            <a:rect l="l" t="t" r="r" b="b"/>
            <a:pathLst>
              <a:path w="1400827" h="749442">
                <a:moveTo>
                  <a:pt x="0" y="0"/>
                </a:moveTo>
                <a:lnTo>
                  <a:pt x="1400827" y="0"/>
                </a:lnTo>
                <a:lnTo>
                  <a:pt x="1400827" y="749442"/>
                </a:lnTo>
                <a:lnTo>
                  <a:pt x="0" y="749442"/>
                </a:lnTo>
                <a:lnTo>
                  <a:pt x="0" y="0"/>
                </a:lnTo>
                <a:close/>
              </a:path>
            </a:pathLst>
          </a:custGeom>
          <a:blipFill>
            <a:blip r:embed="rId4"/>
            <a:stretch>
              <a:fillRect/>
            </a:stretch>
          </a:blipFill>
        </p:spPr>
        <p:txBody>
          <a:bodyPr/>
          <a:lstStyle/>
          <a:p>
            <a:endParaRPr lang="es-CL"/>
          </a:p>
        </p:txBody>
      </p:sp>
      <p:sp>
        <p:nvSpPr>
          <p:cNvPr id="58" name="Freeform 58"/>
          <p:cNvSpPr/>
          <p:nvPr/>
        </p:nvSpPr>
        <p:spPr>
          <a:xfrm rot="931442">
            <a:off x="10848798" y="2546658"/>
            <a:ext cx="1400827" cy="749442"/>
          </a:xfrm>
          <a:custGeom>
            <a:avLst/>
            <a:gdLst/>
            <a:ahLst/>
            <a:cxnLst/>
            <a:rect l="l" t="t" r="r" b="b"/>
            <a:pathLst>
              <a:path w="1400827" h="749442">
                <a:moveTo>
                  <a:pt x="0" y="0"/>
                </a:moveTo>
                <a:lnTo>
                  <a:pt x="1400827" y="0"/>
                </a:lnTo>
                <a:lnTo>
                  <a:pt x="1400827" y="749442"/>
                </a:lnTo>
                <a:lnTo>
                  <a:pt x="0" y="749442"/>
                </a:lnTo>
                <a:lnTo>
                  <a:pt x="0" y="0"/>
                </a:lnTo>
                <a:close/>
              </a:path>
            </a:pathLst>
          </a:custGeom>
          <a:blipFill>
            <a:blip r:embed="rId4"/>
            <a:stretch>
              <a:fillRect/>
            </a:stretch>
          </a:blipFill>
        </p:spPr>
        <p:txBody>
          <a:bodyPr/>
          <a:lstStyle/>
          <a:p>
            <a:endParaRPr lang="es-CL"/>
          </a:p>
        </p:txBody>
      </p:sp>
      <p:sp>
        <p:nvSpPr>
          <p:cNvPr id="59" name="Freeform 59"/>
          <p:cNvSpPr/>
          <p:nvPr/>
        </p:nvSpPr>
        <p:spPr>
          <a:xfrm rot="-888745">
            <a:off x="10851013" y="5035792"/>
            <a:ext cx="1400827" cy="749442"/>
          </a:xfrm>
          <a:custGeom>
            <a:avLst/>
            <a:gdLst/>
            <a:ahLst/>
            <a:cxnLst/>
            <a:rect l="l" t="t" r="r" b="b"/>
            <a:pathLst>
              <a:path w="1400827" h="749442">
                <a:moveTo>
                  <a:pt x="0" y="0"/>
                </a:moveTo>
                <a:lnTo>
                  <a:pt x="1400827" y="0"/>
                </a:lnTo>
                <a:lnTo>
                  <a:pt x="1400827" y="749442"/>
                </a:lnTo>
                <a:lnTo>
                  <a:pt x="0" y="749442"/>
                </a:lnTo>
                <a:lnTo>
                  <a:pt x="0" y="0"/>
                </a:lnTo>
                <a:close/>
              </a:path>
            </a:pathLst>
          </a:custGeom>
          <a:blipFill>
            <a:blip r:embed="rId4"/>
            <a:stretch>
              <a:fillRect/>
            </a:stretch>
          </a:blipFill>
        </p:spPr>
        <p:txBody>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Contenedorización</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Dockerfiles: construcción segura y optimizada</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53452" y="2091880"/>
            <a:ext cx="5280279" cy="6377559"/>
            <a:chOff x="0" y="0"/>
            <a:chExt cx="7040372" cy="8503412"/>
          </a:xfrm>
        </p:grpSpPr>
        <p:sp>
          <p:nvSpPr>
            <p:cNvPr id="14" name="Freeform 14"/>
            <p:cNvSpPr/>
            <p:nvPr/>
          </p:nvSpPr>
          <p:spPr>
            <a:xfrm>
              <a:off x="0" y="0"/>
              <a:ext cx="7040372" cy="8503412"/>
            </a:xfrm>
            <a:custGeom>
              <a:avLst/>
              <a:gdLst/>
              <a:ahLst/>
              <a:cxnLst/>
              <a:rect l="l" t="t" r="r" b="b"/>
              <a:pathLst>
                <a:path w="7040372" h="8503412">
                  <a:moveTo>
                    <a:pt x="0" y="146685"/>
                  </a:moveTo>
                  <a:cubicBezTo>
                    <a:pt x="0" y="65659"/>
                    <a:pt x="65659" y="0"/>
                    <a:pt x="146685" y="0"/>
                  </a:cubicBezTo>
                  <a:lnTo>
                    <a:pt x="6893687" y="0"/>
                  </a:lnTo>
                  <a:cubicBezTo>
                    <a:pt x="6974713" y="0"/>
                    <a:pt x="7040372" y="65659"/>
                    <a:pt x="7040372" y="146685"/>
                  </a:cubicBezTo>
                  <a:lnTo>
                    <a:pt x="7040372" y="8356727"/>
                  </a:lnTo>
                  <a:cubicBezTo>
                    <a:pt x="7040372" y="8437753"/>
                    <a:pt x="6974713" y="8503412"/>
                    <a:pt x="6893687" y="8503412"/>
                  </a:cubicBezTo>
                  <a:lnTo>
                    <a:pt x="146685" y="8503412"/>
                  </a:lnTo>
                  <a:cubicBezTo>
                    <a:pt x="65659" y="8503412"/>
                    <a:pt x="0" y="8437753"/>
                    <a:pt x="0" y="8356727"/>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097280" y="3212621"/>
            <a:ext cx="4992624" cy="3834336"/>
            <a:chOff x="0" y="0"/>
            <a:chExt cx="6656832" cy="5112448"/>
          </a:xfrm>
        </p:grpSpPr>
        <p:sp>
          <p:nvSpPr>
            <p:cNvPr id="16" name="Freeform 16" descr="/mnt/data/evidencias/Evidencias_EP2_ISY1101/SS-02_DockerfileFrontend.png"/>
            <p:cNvSpPr/>
            <p:nvPr/>
          </p:nvSpPr>
          <p:spPr>
            <a:xfrm>
              <a:off x="0" y="0"/>
              <a:ext cx="6656832" cy="5112385"/>
            </a:xfrm>
            <a:custGeom>
              <a:avLst/>
              <a:gdLst/>
              <a:ahLst/>
              <a:cxnLst/>
              <a:rect l="l" t="t" r="r" b="b"/>
              <a:pathLst>
                <a:path w="6656832" h="5112385">
                  <a:moveTo>
                    <a:pt x="0" y="0"/>
                  </a:moveTo>
                  <a:lnTo>
                    <a:pt x="6656832" y="0"/>
                  </a:lnTo>
                  <a:lnTo>
                    <a:pt x="6656832" y="5112385"/>
                  </a:lnTo>
                  <a:lnTo>
                    <a:pt x="0" y="5112385"/>
                  </a:lnTo>
                  <a:lnTo>
                    <a:pt x="0" y="0"/>
                  </a:lnTo>
                  <a:close/>
                </a:path>
              </a:pathLst>
            </a:custGeom>
            <a:blipFill>
              <a:blip r:embed="rId4"/>
              <a:stretch>
                <a:fillRect b="-1"/>
              </a:stretch>
            </a:blipFill>
          </p:spPr>
          <p:txBody>
            <a:bodyPr/>
            <a:lstStyle/>
            <a:p>
              <a:endParaRPr lang="es-CL"/>
            </a:p>
          </p:txBody>
        </p:sp>
      </p:grpSp>
      <p:grpSp>
        <p:nvGrpSpPr>
          <p:cNvPr id="17" name="Group 17"/>
          <p:cNvGrpSpPr/>
          <p:nvPr/>
        </p:nvGrpSpPr>
        <p:grpSpPr>
          <a:xfrm>
            <a:off x="1152144" y="8106156"/>
            <a:ext cx="4882896" cy="246888"/>
            <a:chOff x="0" y="0"/>
            <a:chExt cx="6510528" cy="329184"/>
          </a:xfrm>
        </p:grpSpPr>
        <p:sp>
          <p:nvSpPr>
            <p:cNvPr id="18" name="Freeform 18"/>
            <p:cNvSpPr/>
            <p:nvPr/>
          </p:nvSpPr>
          <p:spPr>
            <a:xfrm>
              <a:off x="0" y="0"/>
              <a:ext cx="6510528" cy="329184"/>
            </a:xfrm>
            <a:custGeom>
              <a:avLst/>
              <a:gdLst/>
              <a:ahLst/>
              <a:cxnLst/>
              <a:rect l="l" t="t" r="r" b="b"/>
              <a:pathLst>
                <a:path w="6510528" h="329184">
                  <a:moveTo>
                    <a:pt x="0" y="0"/>
                  </a:moveTo>
                  <a:lnTo>
                    <a:pt x="6510528" y="0"/>
                  </a:lnTo>
                  <a:lnTo>
                    <a:pt x="6510528" y="329184"/>
                  </a:lnTo>
                  <a:lnTo>
                    <a:pt x="0" y="329184"/>
                  </a:lnTo>
                  <a:close/>
                </a:path>
              </a:pathLst>
            </a:custGeom>
            <a:blipFill>
              <a:blip r:embed="rId3">
                <a:alphaModFix amt="0"/>
              </a:blip>
              <a:stretch>
                <a:fillRect t="-335370" b="-335370"/>
              </a:stretch>
            </a:blipFill>
          </p:spPr>
          <p:txBody>
            <a:bodyPr/>
            <a:lstStyle/>
            <a:p>
              <a:endParaRPr lang="es-CL"/>
            </a:p>
          </p:txBody>
        </p:sp>
        <p:sp>
          <p:nvSpPr>
            <p:cNvPr id="19" name="TextBox 19"/>
            <p:cNvSpPr txBox="1"/>
            <p:nvPr/>
          </p:nvSpPr>
          <p:spPr>
            <a:xfrm>
              <a:off x="0" y="0"/>
              <a:ext cx="65105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Frontend: Node build + Nginx runtime</a:t>
              </a:r>
            </a:p>
          </p:txBody>
        </p:sp>
      </p:grpSp>
      <p:grpSp>
        <p:nvGrpSpPr>
          <p:cNvPr id="20" name="Group 20"/>
          <p:cNvGrpSpPr/>
          <p:nvPr/>
        </p:nvGrpSpPr>
        <p:grpSpPr>
          <a:xfrm>
            <a:off x="6522149" y="2091880"/>
            <a:ext cx="5280279" cy="6377559"/>
            <a:chOff x="0" y="0"/>
            <a:chExt cx="7040372" cy="8503412"/>
          </a:xfrm>
        </p:grpSpPr>
        <p:sp>
          <p:nvSpPr>
            <p:cNvPr id="21" name="Freeform 21"/>
            <p:cNvSpPr/>
            <p:nvPr/>
          </p:nvSpPr>
          <p:spPr>
            <a:xfrm>
              <a:off x="0" y="0"/>
              <a:ext cx="7040372" cy="8503412"/>
            </a:xfrm>
            <a:custGeom>
              <a:avLst/>
              <a:gdLst/>
              <a:ahLst/>
              <a:cxnLst/>
              <a:rect l="l" t="t" r="r" b="b"/>
              <a:pathLst>
                <a:path w="7040372" h="8503412">
                  <a:moveTo>
                    <a:pt x="0" y="146685"/>
                  </a:moveTo>
                  <a:cubicBezTo>
                    <a:pt x="0" y="65659"/>
                    <a:pt x="65659" y="0"/>
                    <a:pt x="146685" y="0"/>
                  </a:cubicBezTo>
                  <a:lnTo>
                    <a:pt x="6893687" y="0"/>
                  </a:lnTo>
                  <a:cubicBezTo>
                    <a:pt x="6974713" y="0"/>
                    <a:pt x="7040372" y="65659"/>
                    <a:pt x="7040372" y="146685"/>
                  </a:cubicBezTo>
                  <a:lnTo>
                    <a:pt x="7040372" y="8356727"/>
                  </a:lnTo>
                  <a:cubicBezTo>
                    <a:pt x="7040372" y="8437753"/>
                    <a:pt x="6974713" y="8503412"/>
                    <a:pt x="6893687" y="8503412"/>
                  </a:cubicBezTo>
                  <a:lnTo>
                    <a:pt x="146685" y="8503412"/>
                  </a:lnTo>
                  <a:cubicBezTo>
                    <a:pt x="65659" y="8503412"/>
                    <a:pt x="0" y="8437753"/>
                    <a:pt x="0" y="8356727"/>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6665976" y="3581552"/>
            <a:ext cx="4992624" cy="3096473"/>
            <a:chOff x="0" y="0"/>
            <a:chExt cx="6656832" cy="4128630"/>
          </a:xfrm>
        </p:grpSpPr>
        <p:sp>
          <p:nvSpPr>
            <p:cNvPr id="23" name="Freeform 23" descr="/mnt/data/evidencias/Evidencias_EP2_ISY1101/SS-03_DockerfileVentas.png"/>
            <p:cNvSpPr/>
            <p:nvPr/>
          </p:nvSpPr>
          <p:spPr>
            <a:xfrm>
              <a:off x="0" y="0"/>
              <a:ext cx="6656832" cy="4128643"/>
            </a:xfrm>
            <a:custGeom>
              <a:avLst/>
              <a:gdLst/>
              <a:ahLst/>
              <a:cxnLst/>
              <a:rect l="l" t="t" r="r" b="b"/>
              <a:pathLst>
                <a:path w="6656832" h="4128643">
                  <a:moveTo>
                    <a:pt x="0" y="0"/>
                  </a:moveTo>
                  <a:lnTo>
                    <a:pt x="6656832" y="0"/>
                  </a:lnTo>
                  <a:lnTo>
                    <a:pt x="6656832" y="4128643"/>
                  </a:lnTo>
                  <a:lnTo>
                    <a:pt x="0" y="4128643"/>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6720840" y="8106156"/>
            <a:ext cx="4882896" cy="246888"/>
            <a:chOff x="0" y="0"/>
            <a:chExt cx="6510528" cy="329184"/>
          </a:xfrm>
        </p:grpSpPr>
        <p:sp>
          <p:nvSpPr>
            <p:cNvPr id="25" name="Freeform 25"/>
            <p:cNvSpPr/>
            <p:nvPr/>
          </p:nvSpPr>
          <p:spPr>
            <a:xfrm>
              <a:off x="0" y="0"/>
              <a:ext cx="6510528" cy="329184"/>
            </a:xfrm>
            <a:custGeom>
              <a:avLst/>
              <a:gdLst/>
              <a:ahLst/>
              <a:cxnLst/>
              <a:rect l="l" t="t" r="r" b="b"/>
              <a:pathLst>
                <a:path w="6510528" h="329184">
                  <a:moveTo>
                    <a:pt x="0" y="0"/>
                  </a:moveTo>
                  <a:lnTo>
                    <a:pt x="6510528" y="0"/>
                  </a:lnTo>
                  <a:lnTo>
                    <a:pt x="6510528" y="329184"/>
                  </a:lnTo>
                  <a:lnTo>
                    <a:pt x="0" y="329184"/>
                  </a:lnTo>
                  <a:close/>
                </a:path>
              </a:pathLst>
            </a:custGeom>
            <a:blipFill>
              <a:blip r:embed="rId3">
                <a:alphaModFix amt="0"/>
              </a:blip>
              <a:stretch>
                <a:fillRect t="-335370" b="-335370"/>
              </a:stretch>
            </a:blipFill>
          </p:spPr>
          <p:txBody>
            <a:bodyPr/>
            <a:lstStyle/>
            <a:p>
              <a:endParaRPr lang="es-CL"/>
            </a:p>
          </p:txBody>
        </p:sp>
        <p:sp>
          <p:nvSpPr>
            <p:cNvPr id="26" name="TextBox 26"/>
            <p:cNvSpPr txBox="1"/>
            <p:nvPr/>
          </p:nvSpPr>
          <p:spPr>
            <a:xfrm>
              <a:off x="0" y="0"/>
              <a:ext cx="65105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Backend ventas: Maven build + Java runtime</a:t>
              </a:r>
            </a:p>
          </p:txBody>
        </p:sp>
      </p:grpSp>
      <p:grpSp>
        <p:nvGrpSpPr>
          <p:cNvPr id="27" name="Group 27"/>
          <p:cNvGrpSpPr/>
          <p:nvPr/>
        </p:nvGrpSpPr>
        <p:grpSpPr>
          <a:xfrm>
            <a:off x="12090845" y="2091880"/>
            <a:ext cx="5280279" cy="6377559"/>
            <a:chOff x="0" y="0"/>
            <a:chExt cx="7040372" cy="8503412"/>
          </a:xfrm>
        </p:grpSpPr>
        <p:sp>
          <p:nvSpPr>
            <p:cNvPr id="28" name="Freeform 28"/>
            <p:cNvSpPr/>
            <p:nvPr/>
          </p:nvSpPr>
          <p:spPr>
            <a:xfrm>
              <a:off x="0" y="0"/>
              <a:ext cx="7040372" cy="8503412"/>
            </a:xfrm>
            <a:custGeom>
              <a:avLst/>
              <a:gdLst/>
              <a:ahLst/>
              <a:cxnLst/>
              <a:rect l="l" t="t" r="r" b="b"/>
              <a:pathLst>
                <a:path w="7040372" h="8503412">
                  <a:moveTo>
                    <a:pt x="0" y="146685"/>
                  </a:moveTo>
                  <a:cubicBezTo>
                    <a:pt x="0" y="65659"/>
                    <a:pt x="65659" y="0"/>
                    <a:pt x="146685" y="0"/>
                  </a:cubicBezTo>
                  <a:lnTo>
                    <a:pt x="6893687" y="0"/>
                  </a:lnTo>
                  <a:cubicBezTo>
                    <a:pt x="6974713" y="0"/>
                    <a:pt x="7040372" y="65659"/>
                    <a:pt x="7040372" y="146685"/>
                  </a:cubicBezTo>
                  <a:lnTo>
                    <a:pt x="7040372" y="8356727"/>
                  </a:lnTo>
                  <a:cubicBezTo>
                    <a:pt x="7040372" y="8437753"/>
                    <a:pt x="6974713" y="8503412"/>
                    <a:pt x="6893687" y="8503412"/>
                  </a:cubicBezTo>
                  <a:lnTo>
                    <a:pt x="146685" y="8503412"/>
                  </a:lnTo>
                  <a:cubicBezTo>
                    <a:pt x="65659" y="8503412"/>
                    <a:pt x="0" y="8437753"/>
                    <a:pt x="0" y="8356727"/>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2234672" y="3167767"/>
            <a:ext cx="4992624" cy="3924043"/>
            <a:chOff x="0" y="0"/>
            <a:chExt cx="6656832" cy="5232057"/>
          </a:xfrm>
        </p:grpSpPr>
        <p:sp>
          <p:nvSpPr>
            <p:cNvPr id="30" name="Freeform 30" descr="/mnt/data/evidencias/Evidencias_EP2_ISY1101/SS-04_DockerfileDespachos.png"/>
            <p:cNvSpPr/>
            <p:nvPr/>
          </p:nvSpPr>
          <p:spPr>
            <a:xfrm>
              <a:off x="0" y="0"/>
              <a:ext cx="6656832" cy="5232019"/>
            </a:xfrm>
            <a:custGeom>
              <a:avLst/>
              <a:gdLst/>
              <a:ahLst/>
              <a:cxnLst/>
              <a:rect l="l" t="t" r="r" b="b"/>
              <a:pathLst>
                <a:path w="6656832" h="5232019">
                  <a:moveTo>
                    <a:pt x="0" y="0"/>
                  </a:moveTo>
                  <a:lnTo>
                    <a:pt x="6656832" y="0"/>
                  </a:lnTo>
                  <a:lnTo>
                    <a:pt x="6656832" y="5232019"/>
                  </a:lnTo>
                  <a:lnTo>
                    <a:pt x="0" y="5232019"/>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12289536" y="8106156"/>
            <a:ext cx="4882896" cy="246888"/>
            <a:chOff x="0" y="0"/>
            <a:chExt cx="6510528" cy="329184"/>
          </a:xfrm>
        </p:grpSpPr>
        <p:sp>
          <p:nvSpPr>
            <p:cNvPr id="32" name="Freeform 32"/>
            <p:cNvSpPr/>
            <p:nvPr/>
          </p:nvSpPr>
          <p:spPr>
            <a:xfrm>
              <a:off x="0" y="0"/>
              <a:ext cx="6510528" cy="329184"/>
            </a:xfrm>
            <a:custGeom>
              <a:avLst/>
              <a:gdLst/>
              <a:ahLst/>
              <a:cxnLst/>
              <a:rect l="l" t="t" r="r" b="b"/>
              <a:pathLst>
                <a:path w="6510528" h="329184">
                  <a:moveTo>
                    <a:pt x="0" y="0"/>
                  </a:moveTo>
                  <a:lnTo>
                    <a:pt x="6510528" y="0"/>
                  </a:lnTo>
                  <a:lnTo>
                    <a:pt x="6510528" y="329184"/>
                  </a:lnTo>
                  <a:lnTo>
                    <a:pt x="0" y="329184"/>
                  </a:lnTo>
                  <a:close/>
                </a:path>
              </a:pathLst>
            </a:custGeom>
            <a:blipFill>
              <a:blip r:embed="rId3">
                <a:alphaModFix amt="0"/>
              </a:blip>
              <a:stretch>
                <a:fillRect t="-335370" b="-335370"/>
              </a:stretch>
            </a:blipFill>
          </p:spPr>
          <p:txBody>
            <a:bodyPr/>
            <a:lstStyle/>
            <a:p>
              <a:endParaRPr lang="es-CL"/>
            </a:p>
          </p:txBody>
        </p:sp>
        <p:sp>
          <p:nvSpPr>
            <p:cNvPr id="33" name="TextBox 33"/>
            <p:cNvSpPr txBox="1"/>
            <p:nvPr/>
          </p:nvSpPr>
          <p:spPr>
            <a:xfrm>
              <a:off x="0" y="0"/>
              <a:ext cx="65105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Backend despachos: usuario no root</a:t>
              </a:r>
            </a:p>
          </p:txBody>
        </p:sp>
      </p:grpSp>
      <p:grpSp>
        <p:nvGrpSpPr>
          <p:cNvPr id="34" name="Group 34"/>
          <p:cNvGrpSpPr/>
          <p:nvPr/>
        </p:nvGrpSpPr>
        <p:grpSpPr>
          <a:xfrm>
            <a:off x="1069848" y="8709660"/>
            <a:ext cx="356616" cy="274320"/>
            <a:chOff x="0" y="0"/>
            <a:chExt cx="475488" cy="365760"/>
          </a:xfrm>
        </p:grpSpPr>
        <p:sp>
          <p:nvSpPr>
            <p:cNvPr id="35" name="Freeform 35"/>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6" name="TextBox 36"/>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37" name="Group 37"/>
          <p:cNvGrpSpPr/>
          <p:nvPr/>
        </p:nvGrpSpPr>
        <p:grpSpPr>
          <a:xfrm>
            <a:off x="1508760" y="8737092"/>
            <a:ext cx="5047488" cy="356616"/>
            <a:chOff x="0" y="0"/>
            <a:chExt cx="6729984" cy="475488"/>
          </a:xfrm>
        </p:grpSpPr>
        <p:sp>
          <p:nvSpPr>
            <p:cNvPr id="38" name="Freeform 38"/>
            <p:cNvSpPr/>
            <p:nvPr/>
          </p:nvSpPr>
          <p:spPr>
            <a:xfrm>
              <a:off x="0" y="0"/>
              <a:ext cx="6729984" cy="475488"/>
            </a:xfrm>
            <a:custGeom>
              <a:avLst/>
              <a:gdLst/>
              <a:ahLst/>
              <a:cxnLst/>
              <a:rect l="l" t="t" r="r" b="b"/>
              <a:pathLst>
                <a:path w="6729984" h="475488">
                  <a:moveTo>
                    <a:pt x="0" y="0"/>
                  </a:moveTo>
                  <a:lnTo>
                    <a:pt x="6729984" y="0"/>
                  </a:lnTo>
                  <a:lnTo>
                    <a:pt x="6729984" y="475488"/>
                  </a:lnTo>
                  <a:lnTo>
                    <a:pt x="0" y="475488"/>
                  </a:lnTo>
                  <a:close/>
                </a:path>
              </a:pathLst>
            </a:custGeom>
            <a:blipFill>
              <a:blip r:embed="rId3">
                <a:alphaModFix amt="0"/>
              </a:blip>
              <a:stretch>
                <a:fillRect t="-225788" b="-225788"/>
              </a:stretch>
            </a:blipFill>
          </p:spPr>
          <p:txBody>
            <a:bodyPr/>
            <a:lstStyle/>
            <a:p>
              <a:endParaRPr lang="es-CL"/>
            </a:p>
          </p:txBody>
        </p:sp>
        <p:sp>
          <p:nvSpPr>
            <p:cNvPr id="39" name="TextBox 39"/>
            <p:cNvSpPr txBox="1"/>
            <p:nvPr/>
          </p:nvSpPr>
          <p:spPr>
            <a:xfrm>
              <a:off x="0" y="-9525"/>
              <a:ext cx="672998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Multi-stage build para separar compilación y ejecución</a:t>
              </a:r>
            </a:p>
          </p:txBody>
        </p:sp>
      </p:grpSp>
      <p:grpSp>
        <p:nvGrpSpPr>
          <p:cNvPr id="40" name="Group 40"/>
          <p:cNvGrpSpPr/>
          <p:nvPr/>
        </p:nvGrpSpPr>
        <p:grpSpPr>
          <a:xfrm>
            <a:off x="6583680" y="8709660"/>
            <a:ext cx="356616" cy="274320"/>
            <a:chOff x="0" y="0"/>
            <a:chExt cx="475488" cy="365760"/>
          </a:xfrm>
        </p:grpSpPr>
        <p:sp>
          <p:nvSpPr>
            <p:cNvPr id="41" name="Freeform 41"/>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42" name="TextBox 42"/>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3" name="Group 43"/>
          <p:cNvGrpSpPr/>
          <p:nvPr/>
        </p:nvGrpSpPr>
        <p:grpSpPr>
          <a:xfrm>
            <a:off x="7022592" y="8737092"/>
            <a:ext cx="3675888" cy="356616"/>
            <a:chOff x="0" y="0"/>
            <a:chExt cx="4901184" cy="475488"/>
          </a:xfrm>
        </p:grpSpPr>
        <p:sp>
          <p:nvSpPr>
            <p:cNvPr id="44" name="Freeform 44"/>
            <p:cNvSpPr/>
            <p:nvPr/>
          </p:nvSpPr>
          <p:spPr>
            <a:xfrm>
              <a:off x="0" y="0"/>
              <a:ext cx="4901184" cy="475488"/>
            </a:xfrm>
            <a:custGeom>
              <a:avLst/>
              <a:gdLst/>
              <a:ahLst/>
              <a:cxnLst/>
              <a:rect l="l" t="t" r="r" b="b"/>
              <a:pathLst>
                <a:path w="4901184" h="475488">
                  <a:moveTo>
                    <a:pt x="0" y="0"/>
                  </a:moveTo>
                  <a:lnTo>
                    <a:pt x="4901184" y="0"/>
                  </a:lnTo>
                  <a:lnTo>
                    <a:pt x="4901184" y="475488"/>
                  </a:lnTo>
                  <a:lnTo>
                    <a:pt x="0" y="475488"/>
                  </a:lnTo>
                  <a:close/>
                </a:path>
              </a:pathLst>
            </a:custGeom>
            <a:blipFill>
              <a:blip r:embed="rId3">
                <a:alphaModFix amt="0"/>
              </a:blip>
              <a:stretch>
                <a:fillRect t="-150845" b="-150845"/>
              </a:stretch>
            </a:blipFill>
          </p:spPr>
          <p:txBody>
            <a:bodyPr/>
            <a:lstStyle/>
            <a:p>
              <a:endParaRPr lang="es-CL"/>
            </a:p>
          </p:txBody>
        </p:sp>
        <p:sp>
          <p:nvSpPr>
            <p:cNvPr id="45" name="TextBox 45"/>
            <p:cNvSpPr txBox="1"/>
            <p:nvPr/>
          </p:nvSpPr>
          <p:spPr>
            <a:xfrm>
              <a:off x="0" y="-9525"/>
              <a:ext cx="490118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Imagen final más limpia y segura</a:t>
              </a:r>
            </a:p>
          </p:txBody>
        </p:sp>
      </p:grpSp>
      <p:grpSp>
        <p:nvGrpSpPr>
          <p:cNvPr id="46" name="Group 46"/>
          <p:cNvGrpSpPr/>
          <p:nvPr/>
        </p:nvGrpSpPr>
        <p:grpSpPr>
          <a:xfrm>
            <a:off x="11521440" y="8709660"/>
            <a:ext cx="356616" cy="274320"/>
            <a:chOff x="0" y="0"/>
            <a:chExt cx="475488" cy="365760"/>
          </a:xfrm>
        </p:grpSpPr>
        <p:sp>
          <p:nvSpPr>
            <p:cNvPr id="47" name="Freeform 47"/>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48" name="TextBox 48"/>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9" name="Group 49"/>
          <p:cNvGrpSpPr/>
          <p:nvPr/>
        </p:nvGrpSpPr>
        <p:grpSpPr>
          <a:xfrm>
            <a:off x="11960352" y="8737092"/>
            <a:ext cx="5184648" cy="356616"/>
            <a:chOff x="0" y="0"/>
            <a:chExt cx="6912864" cy="475488"/>
          </a:xfrm>
        </p:grpSpPr>
        <p:sp>
          <p:nvSpPr>
            <p:cNvPr id="50" name="Freeform 50"/>
            <p:cNvSpPr/>
            <p:nvPr/>
          </p:nvSpPr>
          <p:spPr>
            <a:xfrm>
              <a:off x="0" y="0"/>
              <a:ext cx="6912864" cy="475488"/>
            </a:xfrm>
            <a:custGeom>
              <a:avLst/>
              <a:gdLst/>
              <a:ahLst/>
              <a:cxnLst/>
              <a:rect l="l" t="t" r="r" b="b"/>
              <a:pathLst>
                <a:path w="6912864" h="475488">
                  <a:moveTo>
                    <a:pt x="0" y="0"/>
                  </a:moveTo>
                  <a:lnTo>
                    <a:pt x="6912864" y="0"/>
                  </a:lnTo>
                  <a:lnTo>
                    <a:pt x="6912864" y="475488"/>
                  </a:lnTo>
                  <a:lnTo>
                    <a:pt x="0" y="475488"/>
                  </a:lnTo>
                  <a:close/>
                </a:path>
              </a:pathLst>
            </a:custGeom>
            <a:blipFill>
              <a:blip r:embed="rId3">
                <a:alphaModFix amt="0"/>
              </a:blip>
              <a:stretch>
                <a:fillRect t="-233282" b="-233282"/>
              </a:stretch>
            </a:blipFill>
          </p:spPr>
          <p:txBody>
            <a:bodyPr/>
            <a:lstStyle/>
            <a:p>
              <a:endParaRPr lang="es-CL"/>
            </a:p>
          </p:txBody>
        </p:sp>
        <p:sp>
          <p:nvSpPr>
            <p:cNvPr id="51" name="TextBox 51"/>
            <p:cNvSpPr txBox="1"/>
            <p:nvPr/>
          </p:nvSpPr>
          <p:spPr>
            <a:xfrm>
              <a:off x="0" y="-9525"/>
              <a:ext cx="69128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Buenas prácticas: usuario no root en backends</a:t>
              </a:r>
            </a:p>
          </p:txBody>
        </p:sp>
      </p:grpSp>
      <p:grpSp>
        <p:nvGrpSpPr>
          <p:cNvPr id="52" name="Group 52"/>
          <p:cNvGrpSpPr/>
          <p:nvPr/>
        </p:nvGrpSpPr>
        <p:grpSpPr>
          <a:xfrm>
            <a:off x="754380" y="9779508"/>
            <a:ext cx="7406640" cy="246888"/>
            <a:chOff x="0" y="0"/>
            <a:chExt cx="9875520" cy="329184"/>
          </a:xfrm>
        </p:grpSpPr>
        <p:sp>
          <p:nvSpPr>
            <p:cNvPr id="53" name="Freeform 53"/>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54" name="TextBox 54"/>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55" name="Group 55"/>
          <p:cNvGrpSpPr/>
          <p:nvPr/>
        </p:nvGrpSpPr>
        <p:grpSpPr>
          <a:xfrm>
            <a:off x="16952976" y="9669780"/>
            <a:ext cx="576072" cy="356616"/>
            <a:chOff x="0" y="0"/>
            <a:chExt cx="768096" cy="475488"/>
          </a:xfrm>
        </p:grpSpPr>
        <p:sp>
          <p:nvSpPr>
            <p:cNvPr id="56" name="Freeform 56"/>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57" name="TextBox 57"/>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Orquestación local y nube</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Docker Compose: stack completo reproducible</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8092059" cy="6034659"/>
            <a:chOff x="0" y="0"/>
            <a:chExt cx="10789412" cy="8046212"/>
          </a:xfrm>
        </p:grpSpPr>
        <p:sp>
          <p:nvSpPr>
            <p:cNvPr id="14" name="Freeform 14"/>
            <p:cNvSpPr/>
            <p:nvPr/>
          </p:nvSpPr>
          <p:spPr>
            <a:xfrm>
              <a:off x="0" y="0"/>
              <a:ext cx="10789412" cy="8046212"/>
            </a:xfrm>
            <a:custGeom>
              <a:avLst/>
              <a:gdLst/>
              <a:ahLst/>
              <a:cxnLst/>
              <a:rect l="l" t="t" r="r" b="b"/>
              <a:pathLst>
                <a:path w="10789412" h="8046212">
                  <a:moveTo>
                    <a:pt x="0" y="146558"/>
                  </a:moveTo>
                  <a:cubicBezTo>
                    <a:pt x="0" y="65659"/>
                    <a:pt x="65659" y="0"/>
                    <a:pt x="146558" y="0"/>
                  </a:cubicBezTo>
                  <a:lnTo>
                    <a:pt x="10642854" y="0"/>
                  </a:lnTo>
                  <a:cubicBezTo>
                    <a:pt x="10723880" y="0"/>
                    <a:pt x="10789412" y="65659"/>
                    <a:pt x="10789412" y="146558"/>
                  </a:cubicBezTo>
                  <a:lnTo>
                    <a:pt x="10789412" y="7899654"/>
                  </a:lnTo>
                  <a:cubicBezTo>
                    <a:pt x="10789412" y="7980680"/>
                    <a:pt x="10723753" y="8046212"/>
                    <a:pt x="10642854" y="8046212"/>
                  </a:cubicBezTo>
                  <a:lnTo>
                    <a:pt x="146558" y="8046212"/>
                  </a:lnTo>
                  <a:cubicBezTo>
                    <a:pt x="65659" y="8046212"/>
                    <a:pt x="0" y="7980553"/>
                    <a:pt x="0" y="789965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138428" y="2417959"/>
            <a:ext cx="7804404" cy="4806429"/>
            <a:chOff x="0" y="0"/>
            <a:chExt cx="10405872" cy="6408572"/>
          </a:xfrm>
        </p:grpSpPr>
        <p:sp>
          <p:nvSpPr>
            <p:cNvPr id="16" name="Freeform 16" descr="/mnt/data/evidencias/Evidencias_EP2_ISY1101/SS-05A_DockerCompose_ServiciosBackends.png"/>
            <p:cNvSpPr/>
            <p:nvPr/>
          </p:nvSpPr>
          <p:spPr>
            <a:xfrm>
              <a:off x="0" y="0"/>
              <a:ext cx="10405872" cy="6408547"/>
            </a:xfrm>
            <a:custGeom>
              <a:avLst/>
              <a:gdLst/>
              <a:ahLst/>
              <a:cxnLst/>
              <a:rect l="l" t="t" r="r" b="b"/>
              <a:pathLst>
                <a:path w="10405872" h="6408547">
                  <a:moveTo>
                    <a:pt x="0" y="0"/>
                  </a:moveTo>
                  <a:lnTo>
                    <a:pt x="10405872" y="0"/>
                  </a:lnTo>
                  <a:lnTo>
                    <a:pt x="10405872" y="6408547"/>
                  </a:lnTo>
                  <a:lnTo>
                    <a:pt x="0" y="6408547"/>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93292" y="7626096"/>
            <a:ext cx="7694676" cy="246888"/>
            <a:chOff x="0" y="0"/>
            <a:chExt cx="10259568" cy="329184"/>
          </a:xfrm>
        </p:grpSpPr>
        <p:sp>
          <p:nvSpPr>
            <p:cNvPr id="18" name="Freeform 18"/>
            <p:cNvSpPr/>
            <p:nvPr/>
          </p:nvSpPr>
          <p:spPr>
            <a:xfrm>
              <a:off x="0" y="0"/>
              <a:ext cx="10259568" cy="329184"/>
            </a:xfrm>
            <a:custGeom>
              <a:avLst/>
              <a:gdLst/>
              <a:ahLst/>
              <a:cxnLst/>
              <a:rect l="l" t="t" r="r" b="b"/>
              <a:pathLst>
                <a:path w="10259568" h="329184">
                  <a:moveTo>
                    <a:pt x="0" y="0"/>
                  </a:moveTo>
                  <a:lnTo>
                    <a:pt x="10259568" y="0"/>
                  </a:lnTo>
                  <a:lnTo>
                    <a:pt x="10259568" y="329184"/>
                  </a:lnTo>
                  <a:lnTo>
                    <a:pt x="0" y="329184"/>
                  </a:lnTo>
                  <a:close/>
                </a:path>
              </a:pathLst>
            </a:custGeom>
            <a:blipFill>
              <a:blip r:embed="rId3">
                <a:alphaModFix amt="0"/>
              </a:blip>
              <a:stretch>
                <a:fillRect t="-557283" b="-557283"/>
              </a:stretch>
            </a:blipFill>
          </p:spPr>
          <p:txBody>
            <a:bodyPr/>
            <a:lstStyle/>
            <a:p>
              <a:endParaRPr lang="es-CL"/>
            </a:p>
          </p:txBody>
        </p:sp>
        <p:sp>
          <p:nvSpPr>
            <p:cNvPr id="19" name="TextBox 19"/>
            <p:cNvSpPr txBox="1"/>
            <p:nvPr/>
          </p:nvSpPr>
          <p:spPr>
            <a:xfrm>
              <a:off x="0" y="0"/>
              <a:ext cx="102595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Servicios backend, variables de entorno y puertos</a:t>
              </a:r>
            </a:p>
          </p:txBody>
        </p:sp>
      </p:grpSp>
      <p:grpSp>
        <p:nvGrpSpPr>
          <p:cNvPr id="20" name="Group 20"/>
          <p:cNvGrpSpPr/>
          <p:nvPr/>
        </p:nvGrpSpPr>
        <p:grpSpPr>
          <a:xfrm>
            <a:off x="9429940" y="1954720"/>
            <a:ext cx="7886319" cy="6034659"/>
            <a:chOff x="0" y="0"/>
            <a:chExt cx="10515092" cy="8046212"/>
          </a:xfrm>
        </p:grpSpPr>
        <p:sp>
          <p:nvSpPr>
            <p:cNvPr id="21" name="Freeform 21"/>
            <p:cNvSpPr/>
            <p:nvPr/>
          </p:nvSpPr>
          <p:spPr>
            <a:xfrm>
              <a:off x="0" y="0"/>
              <a:ext cx="10515092" cy="8046212"/>
            </a:xfrm>
            <a:custGeom>
              <a:avLst/>
              <a:gdLst/>
              <a:ahLst/>
              <a:cxnLst/>
              <a:rect l="l" t="t" r="r" b="b"/>
              <a:pathLst>
                <a:path w="10515092" h="8046212">
                  <a:moveTo>
                    <a:pt x="0" y="146558"/>
                  </a:moveTo>
                  <a:cubicBezTo>
                    <a:pt x="0" y="65659"/>
                    <a:pt x="65659" y="0"/>
                    <a:pt x="146558" y="0"/>
                  </a:cubicBezTo>
                  <a:lnTo>
                    <a:pt x="10368534" y="0"/>
                  </a:lnTo>
                  <a:cubicBezTo>
                    <a:pt x="10449560" y="0"/>
                    <a:pt x="10515092" y="65659"/>
                    <a:pt x="10515092" y="146558"/>
                  </a:cubicBezTo>
                  <a:lnTo>
                    <a:pt x="10515092" y="7899654"/>
                  </a:lnTo>
                  <a:cubicBezTo>
                    <a:pt x="10515092" y="7980680"/>
                    <a:pt x="10449433" y="8046212"/>
                    <a:pt x="10368534" y="8046212"/>
                  </a:cubicBezTo>
                  <a:lnTo>
                    <a:pt x="146558" y="8046212"/>
                  </a:lnTo>
                  <a:cubicBezTo>
                    <a:pt x="65659" y="8046212"/>
                    <a:pt x="0" y="7980553"/>
                    <a:pt x="0" y="789965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9573768" y="2448335"/>
            <a:ext cx="7598664" cy="4745688"/>
            <a:chOff x="0" y="0"/>
            <a:chExt cx="10131552" cy="6327584"/>
          </a:xfrm>
        </p:grpSpPr>
        <p:sp>
          <p:nvSpPr>
            <p:cNvPr id="23" name="Freeform 23" descr="/mnt/data/evidencias/Evidencias_EP2_ISY1101/SS-05B_DockerCompose_FrontendVolumenesRed.png"/>
            <p:cNvSpPr/>
            <p:nvPr/>
          </p:nvSpPr>
          <p:spPr>
            <a:xfrm>
              <a:off x="0" y="0"/>
              <a:ext cx="10131552" cy="6327521"/>
            </a:xfrm>
            <a:custGeom>
              <a:avLst/>
              <a:gdLst/>
              <a:ahLst/>
              <a:cxnLst/>
              <a:rect l="l" t="t" r="r" b="b"/>
              <a:pathLst>
                <a:path w="10131552" h="6327521">
                  <a:moveTo>
                    <a:pt x="0" y="0"/>
                  </a:moveTo>
                  <a:lnTo>
                    <a:pt x="10131552" y="0"/>
                  </a:lnTo>
                  <a:lnTo>
                    <a:pt x="10131552" y="6327521"/>
                  </a:lnTo>
                  <a:lnTo>
                    <a:pt x="0" y="6327521"/>
                  </a:lnTo>
                  <a:lnTo>
                    <a:pt x="0" y="0"/>
                  </a:lnTo>
                  <a:close/>
                </a:path>
              </a:pathLst>
            </a:custGeom>
            <a:blipFill>
              <a:blip r:embed="rId5"/>
              <a:stretch>
                <a:fillRect b="-1"/>
              </a:stretch>
            </a:blipFill>
          </p:spPr>
          <p:txBody>
            <a:bodyPr/>
            <a:lstStyle/>
            <a:p>
              <a:endParaRPr lang="es-CL"/>
            </a:p>
          </p:txBody>
        </p:sp>
      </p:grpSp>
      <p:grpSp>
        <p:nvGrpSpPr>
          <p:cNvPr id="24" name="Group 24"/>
          <p:cNvGrpSpPr/>
          <p:nvPr/>
        </p:nvGrpSpPr>
        <p:grpSpPr>
          <a:xfrm>
            <a:off x="9628632" y="7626096"/>
            <a:ext cx="7488936" cy="246888"/>
            <a:chOff x="0" y="0"/>
            <a:chExt cx="9985248" cy="329184"/>
          </a:xfrm>
        </p:grpSpPr>
        <p:sp>
          <p:nvSpPr>
            <p:cNvPr id="25" name="Freeform 25"/>
            <p:cNvSpPr/>
            <p:nvPr/>
          </p:nvSpPr>
          <p:spPr>
            <a:xfrm>
              <a:off x="0" y="0"/>
              <a:ext cx="9985248" cy="329184"/>
            </a:xfrm>
            <a:custGeom>
              <a:avLst/>
              <a:gdLst/>
              <a:ahLst/>
              <a:cxnLst/>
              <a:rect l="l" t="t" r="r" b="b"/>
              <a:pathLst>
                <a:path w="9985248" h="329184">
                  <a:moveTo>
                    <a:pt x="0" y="0"/>
                  </a:moveTo>
                  <a:lnTo>
                    <a:pt x="9985248" y="0"/>
                  </a:lnTo>
                  <a:lnTo>
                    <a:pt x="9985248" y="329184"/>
                  </a:lnTo>
                  <a:lnTo>
                    <a:pt x="0" y="329184"/>
                  </a:lnTo>
                  <a:close/>
                </a:path>
              </a:pathLst>
            </a:custGeom>
            <a:blipFill>
              <a:blip r:embed="rId3">
                <a:alphaModFix amt="0"/>
              </a:blip>
              <a:stretch>
                <a:fillRect t="-541046" b="-541046"/>
              </a:stretch>
            </a:blipFill>
          </p:spPr>
          <p:txBody>
            <a:bodyPr/>
            <a:lstStyle/>
            <a:p>
              <a:endParaRPr lang="es-CL"/>
            </a:p>
          </p:txBody>
        </p:sp>
        <p:sp>
          <p:nvSpPr>
            <p:cNvPr id="26" name="TextBox 26"/>
            <p:cNvSpPr txBox="1"/>
            <p:nvPr/>
          </p:nvSpPr>
          <p:spPr>
            <a:xfrm>
              <a:off x="0" y="0"/>
              <a:ext cx="998524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Frontend, volumen dbdata y red tienda-net</a:t>
              </a:r>
            </a:p>
          </p:txBody>
        </p:sp>
      </p:grpSp>
      <p:grpSp>
        <p:nvGrpSpPr>
          <p:cNvPr id="27" name="Group 27"/>
          <p:cNvGrpSpPr/>
          <p:nvPr/>
        </p:nvGrpSpPr>
        <p:grpSpPr>
          <a:xfrm>
            <a:off x="1303020" y="8298180"/>
            <a:ext cx="5349240" cy="384048"/>
            <a:chOff x="0" y="0"/>
            <a:chExt cx="7132320" cy="512064"/>
          </a:xfrm>
        </p:grpSpPr>
        <p:sp>
          <p:nvSpPr>
            <p:cNvPr id="28" name="Freeform 28"/>
            <p:cNvSpPr/>
            <p:nvPr/>
          </p:nvSpPr>
          <p:spPr>
            <a:xfrm>
              <a:off x="0" y="0"/>
              <a:ext cx="7132320" cy="512064"/>
            </a:xfrm>
            <a:custGeom>
              <a:avLst/>
              <a:gdLst/>
              <a:ahLst/>
              <a:cxnLst/>
              <a:rect l="l" t="t" r="r" b="b"/>
              <a:pathLst>
                <a:path w="7132320" h="512064">
                  <a:moveTo>
                    <a:pt x="0" y="0"/>
                  </a:moveTo>
                  <a:lnTo>
                    <a:pt x="7132320" y="0"/>
                  </a:lnTo>
                  <a:lnTo>
                    <a:pt x="7132320" y="512064"/>
                  </a:lnTo>
                  <a:lnTo>
                    <a:pt x="0" y="512064"/>
                  </a:lnTo>
                  <a:close/>
                </a:path>
              </a:pathLst>
            </a:custGeom>
            <a:blipFill>
              <a:blip r:embed="rId3">
                <a:alphaModFix amt="0"/>
              </a:blip>
              <a:stretch>
                <a:fillRect t="-221398" b="-221398"/>
              </a:stretch>
            </a:blipFill>
          </p:spPr>
          <p:txBody>
            <a:bodyPr/>
            <a:lstStyle/>
            <a:p>
              <a:endParaRPr lang="es-CL"/>
            </a:p>
          </p:txBody>
        </p:sp>
        <p:sp>
          <p:nvSpPr>
            <p:cNvPr id="29" name="TextBox 29"/>
            <p:cNvSpPr txBox="1"/>
            <p:nvPr/>
          </p:nvSpPr>
          <p:spPr>
            <a:xfrm>
              <a:off x="0" y="0"/>
              <a:ext cx="7132320" cy="512064"/>
            </a:xfrm>
            <a:prstGeom prst="rect">
              <a:avLst/>
            </a:prstGeom>
          </p:spPr>
          <p:txBody>
            <a:bodyPr lIns="0" tIns="0" rIns="0" bIns="0" rtlCol="0" anchor="ctr"/>
            <a:lstStyle/>
            <a:p>
              <a:pPr algn="l">
                <a:lnSpc>
                  <a:spcPts val="1836"/>
                </a:lnSpc>
              </a:pPr>
              <a:r>
                <a:rPr lang="en-US" sz="1530" b="1">
                  <a:solidFill>
                    <a:srgbClr val="18212F"/>
                  </a:solidFill>
                  <a:latin typeface="Aptos Bold"/>
                  <a:ea typeface="Aptos Bold"/>
                  <a:cs typeface="Aptos Bold"/>
                  <a:sym typeface="Aptos Bold"/>
                </a:rPr>
                <a:t>Servicios: mysql · backend-ventas · backend-despachos · frontend</a:t>
              </a:r>
            </a:p>
          </p:txBody>
        </p:sp>
      </p:grpSp>
      <p:grpSp>
        <p:nvGrpSpPr>
          <p:cNvPr id="30" name="Group 30"/>
          <p:cNvGrpSpPr/>
          <p:nvPr/>
        </p:nvGrpSpPr>
        <p:grpSpPr>
          <a:xfrm>
            <a:off x="6789420" y="8298180"/>
            <a:ext cx="5074920" cy="384048"/>
            <a:chOff x="0" y="0"/>
            <a:chExt cx="6766560" cy="512064"/>
          </a:xfrm>
        </p:grpSpPr>
        <p:sp>
          <p:nvSpPr>
            <p:cNvPr id="31" name="Freeform 31"/>
            <p:cNvSpPr/>
            <p:nvPr/>
          </p:nvSpPr>
          <p:spPr>
            <a:xfrm>
              <a:off x="0" y="0"/>
              <a:ext cx="6766560" cy="512064"/>
            </a:xfrm>
            <a:custGeom>
              <a:avLst/>
              <a:gdLst/>
              <a:ahLst/>
              <a:cxnLst/>
              <a:rect l="l" t="t" r="r" b="b"/>
              <a:pathLst>
                <a:path w="6766560" h="512064">
                  <a:moveTo>
                    <a:pt x="0" y="0"/>
                  </a:moveTo>
                  <a:lnTo>
                    <a:pt x="6766560" y="0"/>
                  </a:lnTo>
                  <a:lnTo>
                    <a:pt x="6766560" y="512064"/>
                  </a:lnTo>
                  <a:lnTo>
                    <a:pt x="0" y="512064"/>
                  </a:lnTo>
                  <a:close/>
                </a:path>
              </a:pathLst>
            </a:custGeom>
            <a:blipFill>
              <a:blip r:embed="rId3">
                <a:alphaModFix amt="0"/>
              </a:blip>
              <a:stretch>
                <a:fillRect t="-207480" b="-207480"/>
              </a:stretch>
            </a:blipFill>
          </p:spPr>
          <p:txBody>
            <a:bodyPr/>
            <a:lstStyle/>
            <a:p>
              <a:endParaRPr lang="es-CL"/>
            </a:p>
          </p:txBody>
        </p:sp>
        <p:sp>
          <p:nvSpPr>
            <p:cNvPr id="32" name="TextBox 32"/>
            <p:cNvSpPr txBox="1"/>
            <p:nvPr/>
          </p:nvSpPr>
          <p:spPr>
            <a:xfrm>
              <a:off x="0" y="0"/>
              <a:ext cx="6766560" cy="512064"/>
            </a:xfrm>
            <a:prstGeom prst="rect">
              <a:avLst/>
            </a:prstGeom>
          </p:spPr>
          <p:txBody>
            <a:bodyPr lIns="0" tIns="0" rIns="0" bIns="0" rtlCol="0" anchor="ctr"/>
            <a:lstStyle/>
            <a:p>
              <a:pPr algn="l">
                <a:lnSpc>
                  <a:spcPts val="1836"/>
                </a:lnSpc>
              </a:pPr>
              <a:r>
                <a:rPr lang="en-US" sz="1530" b="1">
                  <a:solidFill>
                    <a:srgbClr val="18212F"/>
                  </a:solidFill>
                  <a:latin typeface="Aptos Bold"/>
                  <a:ea typeface="Aptos Bold"/>
                  <a:cs typeface="Aptos Bold"/>
                  <a:sym typeface="Aptos Bold"/>
                </a:rPr>
                <a:t>Red: tienda-net · Puertos: 8080 / 8081 / 8082 / 3306</a:t>
              </a:r>
            </a:p>
          </p:txBody>
        </p:sp>
      </p:grpSp>
      <p:grpSp>
        <p:nvGrpSpPr>
          <p:cNvPr id="33" name="Group 33"/>
          <p:cNvGrpSpPr/>
          <p:nvPr/>
        </p:nvGrpSpPr>
        <p:grpSpPr>
          <a:xfrm>
            <a:off x="12001500" y="8298180"/>
            <a:ext cx="4800600" cy="384048"/>
            <a:chOff x="0" y="0"/>
            <a:chExt cx="6400800" cy="512064"/>
          </a:xfrm>
        </p:grpSpPr>
        <p:sp>
          <p:nvSpPr>
            <p:cNvPr id="34" name="Freeform 34"/>
            <p:cNvSpPr/>
            <p:nvPr/>
          </p:nvSpPr>
          <p:spPr>
            <a:xfrm>
              <a:off x="0" y="0"/>
              <a:ext cx="6400800" cy="512064"/>
            </a:xfrm>
            <a:custGeom>
              <a:avLst/>
              <a:gdLst/>
              <a:ahLst/>
              <a:cxnLst/>
              <a:rect l="l" t="t" r="r" b="b"/>
              <a:pathLst>
                <a:path w="6400800" h="512064">
                  <a:moveTo>
                    <a:pt x="0" y="0"/>
                  </a:moveTo>
                  <a:lnTo>
                    <a:pt x="6400800" y="0"/>
                  </a:lnTo>
                  <a:lnTo>
                    <a:pt x="6400800" y="512064"/>
                  </a:lnTo>
                  <a:lnTo>
                    <a:pt x="0" y="512064"/>
                  </a:lnTo>
                  <a:close/>
                </a:path>
              </a:pathLst>
            </a:custGeom>
            <a:blipFill>
              <a:blip r:embed="rId3">
                <a:alphaModFix amt="0"/>
              </a:blip>
              <a:stretch>
                <a:fillRect t="-193562" b="-193562"/>
              </a:stretch>
            </a:blipFill>
          </p:spPr>
          <p:txBody>
            <a:bodyPr/>
            <a:lstStyle/>
            <a:p>
              <a:endParaRPr lang="es-CL"/>
            </a:p>
          </p:txBody>
        </p:sp>
        <p:sp>
          <p:nvSpPr>
            <p:cNvPr id="35" name="TextBox 35"/>
            <p:cNvSpPr txBox="1"/>
            <p:nvPr/>
          </p:nvSpPr>
          <p:spPr>
            <a:xfrm>
              <a:off x="0" y="0"/>
              <a:ext cx="6400800" cy="512064"/>
            </a:xfrm>
            <a:prstGeom prst="rect">
              <a:avLst/>
            </a:prstGeom>
          </p:spPr>
          <p:txBody>
            <a:bodyPr lIns="0" tIns="0" rIns="0" bIns="0" rtlCol="0" anchor="ctr"/>
            <a:lstStyle/>
            <a:p>
              <a:pPr algn="l">
                <a:lnSpc>
                  <a:spcPts val="1836"/>
                </a:lnSpc>
              </a:pPr>
              <a:r>
                <a:rPr lang="en-US" sz="1530" b="1">
                  <a:solidFill>
                    <a:srgbClr val="18212F"/>
                  </a:solidFill>
                  <a:latin typeface="Aptos Bold"/>
                  <a:ea typeface="Aptos Bold"/>
                  <a:cs typeface="Aptos Bold"/>
                  <a:sym typeface="Aptos Bold"/>
                </a:rPr>
                <a:t>Dependencias: backends esperan MySQL; frontend consume APIs</a:t>
              </a:r>
            </a:p>
          </p:txBody>
        </p:sp>
      </p:grpSp>
      <p:grpSp>
        <p:nvGrpSpPr>
          <p:cNvPr id="36" name="Group 36"/>
          <p:cNvGrpSpPr/>
          <p:nvPr/>
        </p:nvGrpSpPr>
        <p:grpSpPr>
          <a:xfrm>
            <a:off x="754380" y="9779508"/>
            <a:ext cx="7406640" cy="246888"/>
            <a:chOff x="0" y="0"/>
            <a:chExt cx="9875520" cy="329184"/>
          </a:xfrm>
        </p:grpSpPr>
        <p:sp>
          <p:nvSpPr>
            <p:cNvPr id="37" name="Freeform 37"/>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38" name="TextBox 38"/>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39" name="Group 39"/>
          <p:cNvGrpSpPr/>
          <p:nvPr/>
        </p:nvGrpSpPr>
        <p:grpSpPr>
          <a:xfrm>
            <a:off x="16952976" y="9669780"/>
            <a:ext cx="576072" cy="356616"/>
            <a:chOff x="0" y="0"/>
            <a:chExt cx="768096" cy="475488"/>
          </a:xfrm>
        </p:grpSpPr>
        <p:sp>
          <p:nvSpPr>
            <p:cNvPr id="40" name="Freeform 40"/>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41" name="TextBox 41"/>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Continuidad operativa</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Persistencia de datos con volúmenes Docker</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1042416" y="2263140"/>
            <a:ext cx="6995160" cy="4732020"/>
            <a:chOff x="0" y="0"/>
            <a:chExt cx="9326880" cy="6309360"/>
          </a:xfrm>
        </p:grpSpPr>
        <p:sp>
          <p:nvSpPr>
            <p:cNvPr id="14" name="Freeform 14"/>
            <p:cNvSpPr/>
            <p:nvPr/>
          </p:nvSpPr>
          <p:spPr>
            <a:xfrm>
              <a:off x="0" y="0"/>
              <a:ext cx="9326880" cy="6309360"/>
            </a:xfrm>
            <a:custGeom>
              <a:avLst/>
              <a:gdLst/>
              <a:ahLst/>
              <a:cxnLst/>
              <a:rect l="l" t="t" r="r" b="b"/>
              <a:pathLst>
                <a:path w="9326880" h="6309360">
                  <a:moveTo>
                    <a:pt x="0" y="0"/>
                  </a:moveTo>
                  <a:lnTo>
                    <a:pt x="9326880" y="0"/>
                  </a:lnTo>
                  <a:lnTo>
                    <a:pt x="9326880" y="6309360"/>
                  </a:lnTo>
                  <a:lnTo>
                    <a:pt x="0" y="6309360"/>
                  </a:lnTo>
                  <a:close/>
                </a:path>
              </a:pathLst>
            </a:custGeom>
            <a:blipFill>
              <a:blip r:embed="rId3">
                <a:alphaModFix amt="0"/>
              </a:blip>
              <a:stretch>
                <a:fillRect l="-36793" r="-36793"/>
              </a:stretch>
            </a:blipFill>
          </p:spPr>
          <p:txBody>
            <a:bodyPr/>
            <a:lstStyle/>
            <a:p>
              <a:endParaRPr lang="es-CL"/>
            </a:p>
          </p:txBody>
        </p:sp>
        <p:sp>
          <p:nvSpPr>
            <p:cNvPr id="15" name="TextBox 15"/>
            <p:cNvSpPr txBox="1"/>
            <p:nvPr/>
          </p:nvSpPr>
          <p:spPr>
            <a:xfrm>
              <a:off x="0" y="0"/>
              <a:ext cx="9326880" cy="6309360"/>
            </a:xfrm>
            <a:prstGeom prst="rect">
              <a:avLst/>
            </a:prstGeom>
          </p:spPr>
          <p:txBody>
            <a:bodyPr lIns="0" tIns="0" rIns="0" bIns="0" rtlCol="0" anchor="ctr"/>
            <a:lstStyle/>
            <a:p>
              <a:pPr algn="l">
                <a:lnSpc>
                  <a:spcPts val="2556"/>
                </a:lnSpc>
              </a:pPr>
              <a:r>
                <a:rPr lang="en-US" sz="2130">
                  <a:solidFill>
                    <a:srgbClr val="18212F"/>
                  </a:solidFill>
                  <a:latin typeface="Aptos"/>
                  <a:ea typeface="Aptos"/>
                  <a:cs typeface="Aptos"/>
                  <a:sym typeface="Aptos"/>
                </a:rPr>
                <a:t>MySQL guarda datos en /var/lib/mysql dentro del contenedor.</a:t>
              </a:r>
            </a:p>
            <a:p>
              <a:pPr algn="l">
                <a:lnSpc>
                  <a:spcPts val="2556"/>
                </a:lnSpc>
              </a:pPr>
              <a:r>
                <a:rPr lang="en-US" sz="2130">
                  <a:solidFill>
                    <a:srgbClr val="18212F"/>
                  </a:solidFill>
                  <a:latin typeface="Aptos"/>
                  <a:ea typeface="Aptos"/>
                  <a:cs typeface="Aptos"/>
                  <a:sym typeface="Aptos"/>
                </a:rPr>
                <a:t>Se usó un named volume para desacoplar datos del ciclo de vida del contenedor.</a:t>
              </a:r>
            </a:p>
            <a:p>
              <a:pPr algn="l">
                <a:lnSpc>
                  <a:spcPts val="2556"/>
                </a:lnSpc>
              </a:pPr>
              <a:r>
                <a:rPr lang="en-US" sz="2130">
                  <a:solidFill>
                    <a:srgbClr val="18212F"/>
                  </a:solidFill>
                  <a:latin typeface="Aptos"/>
                  <a:ea typeface="Aptos"/>
                  <a:cs typeface="Aptos"/>
                  <a:sym typeface="Aptos"/>
                </a:rPr>
                <a:t>El volumen permite reiniciar o recrear contenedores sin perder información crítica.</a:t>
              </a:r>
            </a:p>
            <a:p>
              <a:pPr algn="l">
                <a:lnSpc>
                  <a:spcPts val="2556"/>
                </a:lnSpc>
              </a:pPr>
              <a:r>
                <a:rPr lang="en-US" sz="2130">
                  <a:solidFill>
                    <a:srgbClr val="18212F"/>
                  </a:solidFill>
                  <a:latin typeface="Aptos"/>
                  <a:ea typeface="Aptos"/>
                  <a:cs typeface="Aptos"/>
                  <a:sym typeface="Aptos"/>
                </a:rPr>
                <a:t>La evidencia muestra persistencia tanto local como en EC2.</a:t>
              </a:r>
            </a:p>
          </p:txBody>
        </p:sp>
      </p:grpSp>
      <p:grpSp>
        <p:nvGrpSpPr>
          <p:cNvPr id="16" name="Group 16"/>
          <p:cNvGrpSpPr/>
          <p:nvPr/>
        </p:nvGrpSpPr>
        <p:grpSpPr>
          <a:xfrm>
            <a:off x="8744140" y="2091880"/>
            <a:ext cx="8160639" cy="2331339"/>
            <a:chOff x="0" y="0"/>
            <a:chExt cx="10880852" cy="3108452"/>
          </a:xfrm>
        </p:grpSpPr>
        <p:sp>
          <p:nvSpPr>
            <p:cNvPr id="17" name="Freeform 17"/>
            <p:cNvSpPr/>
            <p:nvPr/>
          </p:nvSpPr>
          <p:spPr>
            <a:xfrm>
              <a:off x="0" y="0"/>
              <a:ext cx="10880852" cy="3108452"/>
            </a:xfrm>
            <a:custGeom>
              <a:avLst/>
              <a:gdLst/>
              <a:ahLst/>
              <a:cxnLst/>
              <a:rect l="l" t="t" r="r" b="b"/>
              <a:pathLst>
                <a:path w="10880852" h="3108452">
                  <a:moveTo>
                    <a:pt x="0" y="147193"/>
                  </a:moveTo>
                  <a:cubicBezTo>
                    <a:pt x="0" y="65913"/>
                    <a:pt x="65913" y="0"/>
                    <a:pt x="147193" y="0"/>
                  </a:cubicBezTo>
                  <a:lnTo>
                    <a:pt x="10733659" y="0"/>
                  </a:lnTo>
                  <a:cubicBezTo>
                    <a:pt x="10814939" y="0"/>
                    <a:pt x="10880852" y="65913"/>
                    <a:pt x="10880852" y="147193"/>
                  </a:cubicBezTo>
                  <a:lnTo>
                    <a:pt x="10880852" y="2961259"/>
                  </a:lnTo>
                  <a:cubicBezTo>
                    <a:pt x="10880852" y="3042539"/>
                    <a:pt x="10814939" y="3108452"/>
                    <a:pt x="10733659" y="3108452"/>
                  </a:cubicBezTo>
                  <a:lnTo>
                    <a:pt x="147193" y="3108452"/>
                  </a:lnTo>
                  <a:cubicBezTo>
                    <a:pt x="65913" y="3108452"/>
                    <a:pt x="0" y="3042539"/>
                    <a:pt x="0" y="2961259"/>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8" name="Group 18"/>
          <p:cNvGrpSpPr/>
          <p:nvPr/>
        </p:nvGrpSpPr>
        <p:grpSpPr>
          <a:xfrm>
            <a:off x="8887968" y="2302983"/>
            <a:ext cx="7872984" cy="1607372"/>
            <a:chOff x="0" y="0"/>
            <a:chExt cx="10497312" cy="2143163"/>
          </a:xfrm>
        </p:grpSpPr>
        <p:sp>
          <p:nvSpPr>
            <p:cNvPr id="19" name="Freeform 19" descr="/mnt/data/evidencias/Evidencias_EP2_ISY1101/SS-08_VolumenesDocker.png"/>
            <p:cNvSpPr/>
            <p:nvPr/>
          </p:nvSpPr>
          <p:spPr>
            <a:xfrm>
              <a:off x="0" y="0"/>
              <a:ext cx="10497312" cy="2143125"/>
            </a:xfrm>
            <a:custGeom>
              <a:avLst/>
              <a:gdLst/>
              <a:ahLst/>
              <a:cxnLst/>
              <a:rect l="l" t="t" r="r" b="b"/>
              <a:pathLst>
                <a:path w="10497312" h="2143125">
                  <a:moveTo>
                    <a:pt x="0" y="0"/>
                  </a:moveTo>
                  <a:lnTo>
                    <a:pt x="10497312" y="0"/>
                  </a:lnTo>
                  <a:lnTo>
                    <a:pt x="10497312" y="2143125"/>
                  </a:lnTo>
                  <a:lnTo>
                    <a:pt x="0" y="2143125"/>
                  </a:lnTo>
                  <a:lnTo>
                    <a:pt x="0" y="0"/>
                  </a:lnTo>
                  <a:close/>
                </a:path>
              </a:pathLst>
            </a:custGeom>
            <a:blipFill>
              <a:blip r:embed="rId4"/>
              <a:stretch>
                <a:fillRect b="-1"/>
              </a:stretch>
            </a:blipFill>
          </p:spPr>
          <p:txBody>
            <a:bodyPr/>
            <a:lstStyle/>
            <a:p>
              <a:endParaRPr lang="es-CL"/>
            </a:p>
          </p:txBody>
        </p:sp>
      </p:grpSp>
      <p:grpSp>
        <p:nvGrpSpPr>
          <p:cNvPr id="20" name="Group 20"/>
          <p:cNvGrpSpPr/>
          <p:nvPr/>
        </p:nvGrpSpPr>
        <p:grpSpPr>
          <a:xfrm>
            <a:off x="8942832" y="4059936"/>
            <a:ext cx="7763256" cy="246888"/>
            <a:chOff x="0" y="0"/>
            <a:chExt cx="10351008" cy="329184"/>
          </a:xfrm>
        </p:grpSpPr>
        <p:sp>
          <p:nvSpPr>
            <p:cNvPr id="21" name="Freeform 21"/>
            <p:cNvSpPr/>
            <p:nvPr/>
          </p:nvSpPr>
          <p:spPr>
            <a:xfrm>
              <a:off x="0" y="0"/>
              <a:ext cx="10351008" cy="329184"/>
            </a:xfrm>
            <a:custGeom>
              <a:avLst/>
              <a:gdLst/>
              <a:ahLst/>
              <a:cxnLst/>
              <a:rect l="l" t="t" r="r" b="b"/>
              <a:pathLst>
                <a:path w="10351008" h="329184">
                  <a:moveTo>
                    <a:pt x="0" y="0"/>
                  </a:moveTo>
                  <a:lnTo>
                    <a:pt x="10351008" y="0"/>
                  </a:lnTo>
                  <a:lnTo>
                    <a:pt x="10351008" y="329184"/>
                  </a:lnTo>
                  <a:lnTo>
                    <a:pt x="0" y="329184"/>
                  </a:lnTo>
                  <a:close/>
                </a:path>
              </a:pathLst>
            </a:custGeom>
            <a:blipFill>
              <a:blip r:embed="rId3">
                <a:alphaModFix amt="0"/>
              </a:blip>
              <a:stretch>
                <a:fillRect t="-562696" b="-562696"/>
              </a:stretch>
            </a:blipFill>
          </p:spPr>
          <p:txBody>
            <a:bodyPr/>
            <a:lstStyle/>
            <a:p>
              <a:endParaRPr lang="es-CL"/>
            </a:p>
          </p:txBody>
        </p:sp>
        <p:sp>
          <p:nvSpPr>
            <p:cNvPr id="22" name="TextBox 22"/>
            <p:cNvSpPr txBox="1"/>
            <p:nvPr/>
          </p:nvSpPr>
          <p:spPr>
            <a:xfrm>
              <a:off x="0" y="0"/>
              <a:ext cx="1035100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Volumen local definido para la base de datos</a:t>
              </a:r>
            </a:p>
          </p:txBody>
        </p:sp>
      </p:grpSp>
      <p:grpSp>
        <p:nvGrpSpPr>
          <p:cNvPr id="23" name="Group 23"/>
          <p:cNvGrpSpPr/>
          <p:nvPr/>
        </p:nvGrpSpPr>
        <p:grpSpPr>
          <a:xfrm>
            <a:off x="8744140" y="4835080"/>
            <a:ext cx="8160639" cy="2194179"/>
            <a:chOff x="0" y="0"/>
            <a:chExt cx="10880852" cy="2925572"/>
          </a:xfrm>
        </p:grpSpPr>
        <p:sp>
          <p:nvSpPr>
            <p:cNvPr id="24" name="Freeform 24"/>
            <p:cNvSpPr/>
            <p:nvPr/>
          </p:nvSpPr>
          <p:spPr>
            <a:xfrm>
              <a:off x="0" y="0"/>
              <a:ext cx="10880852" cy="2925572"/>
            </a:xfrm>
            <a:custGeom>
              <a:avLst/>
              <a:gdLst/>
              <a:ahLst/>
              <a:cxnLst/>
              <a:rect l="l" t="t" r="r" b="b"/>
              <a:pathLst>
                <a:path w="10880852" h="2925572">
                  <a:moveTo>
                    <a:pt x="0" y="147193"/>
                  </a:moveTo>
                  <a:cubicBezTo>
                    <a:pt x="0" y="65913"/>
                    <a:pt x="65913" y="0"/>
                    <a:pt x="147193" y="0"/>
                  </a:cubicBezTo>
                  <a:lnTo>
                    <a:pt x="10733659" y="0"/>
                  </a:lnTo>
                  <a:cubicBezTo>
                    <a:pt x="10814939" y="0"/>
                    <a:pt x="10880852" y="65913"/>
                    <a:pt x="10880852" y="147193"/>
                  </a:cubicBezTo>
                  <a:lnTo>
                    <a:pt x="10880852" y="2778379"/>
                  </a:lnTo>
                  <a:cubicBezTo>
                    <a:pt x="10880852" y="2859659"/>
                    <a:pt x="10814939" y="2925572"/>
                    <a:pt x="10733659" y="2925572"/>
                  </a:cubicBezTo>
                  <a:lnTo>
                    <a:pt x="147193" y="2925572"/>
                  </a:lnTo>
                  <a:cubicBezTo>
                    <a:pt x="65913" y="2925572"/>
                    <a:pt x="0" y="2859659"/>
                    <a:pt x="0" y="2778379"/>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5" name="Group 25"/>
          <p:cNvGrpSpPr/>
          <p:nvPr/>
        </p:nvGrpSpPr>
        <p:grpSpPr>
          <a:xfrm>
            <a:off x="10195408" y="4965192"/>
            <a:ext cx="5258105" cy="1632204"/>
            <a:chOff x="0" y="0"/>
            <a:chExt cx="7010806" cy="2176272"/>
          </a:xfrm>
        </p:grpSpPr>
        <p:sp>
          <p:nvSpPr>
            <p:cNvPr id="26" name="Freeform 26" descr="/mnt/data/evidencias/Evidencias_EP2_ISY1101/SS-33_VolumenEC2.png"/>
            <p:cNvSpPr/>
            <p:nvPr/>
          </p:nvSpPr>
          <p:spPr>
            <a:xfrm>
              <a:off x="0" y="0"/>
              <a:ext cx="7010781" cy="2176272"/>
            </a:xfrm>
            <a:custGeom>
              <a:avLst/>
              <a:gdLst/>
              <a:ahLst/>
              <a:cxnLst/>
              <a:rect l="l" t="t" r="r" b="b"/>
              <a:pathLst>
                <a:path w="7010781" h="2176272">
                  <a:moveTo>
                    <a:pt x="0" y="0"/>
                  </a:moveTo>
                  <a:lnTo>
                    <a:pt x="7010781" y="0"/>
                  </a:lnTo>
                  <a:lnTo>
                    <a:pt x="7010781" y="2176272"/>
                  </a:lnTo>
                  <a:lnTo>
                    <a:pt x="0" y="2176272"/>
                  </a:lnTo>
                  <a:lnTo>
                    <a:pt x="0" y="0"/>
                  </a:lnTo>
                  <a:close/>
                </a:path>
              </a:pathLst>
            </a:custGeom>
            <a:blipFill>
              <a:blip r:embed="rId5"/>
              <a:stretch>
                <a:fillRect/>
              </a:stretch>
            </a:blipFill>
          </p:spPr>
          <p:txBody>
            <a:bodyPr/>
            <a:lstStyle/>
            <a:p>
              <a:endParaRPr lang="es-CL"/>
            </a:p>
          </p:txBody>
        </p:sp>
      </p:grpSp>
      <p:grpSp>
        <p:nvGrpSpPr>
          <p:cNvPr id="27" name="Group 27"/>
          <p:cNvGrpSpPr/>
          <p:nvPr/>
        </p:nvGrpSpPr>
        <p:grpSpPr>
          <a:xfrm>
            <a:off x="8942832" y="6665976"/>
            <a:ext cx="7763256" cy="246888"/>
            <a:chOff x="0" y="0"/>
            <a:chExt cx="10351008" cy="329184"/>
          </a:xfrm>
        </p:grpSpPr>
        <p:sp>
          <p:nvSpPr>
            <p:cNvPr id="28" name="Freeform 28"/>
            <p:cNvSpPr/>
            <p:nvPr/>
          </p:nvSpPr>
          <p:spPr>
            <a:xfrm>
              <a:off x="0" y="0"/>
              <a:ext cx="10351008" cy="329184"/>
            </a:xfrm>
            <a:custGeom>
              <a:avLst/>
              <a:gdLst/>
              <a:ahLst/>
              <a:cxnLst/>
              <a:rect l="l" t="t" r="r" b="b"/>
              <a:pathLst>
                <a:path w="10351008" h="329184">
                  <a:moveTo>
                    <a:pt x="0" y="0"/>
                  </a:moveTo>
                  <a:lnTo>
                    <a:pt x="10351008" y="0"/>
                  </a:lnTo>
                  <a:lnTo>
                    <a:pt x="10351008" y="329184"/>
                  </a:lnTo>
                  <a:lnTo>
                    <a:pt x="0" y="329184"/>
                  </a:lnTo>
                  <a:close/>
                </a:path>
              </a:pathLst>
            </a:custGeom>
            <a:blipFill>
              <a:blip r:embed="rId3">
                <a:alphaModFix amt="0"/>
              </a:blip>
              <a:stretch>
                <a:fillRect t="-562696" b="-562696"/>
              </a:stretch>
            </a:blipFill>
          </p:spPr>
          <p:txBody>
            <a:bodyPr/>
            <a:lstStyle/>
            <a:p>
              <a:endParaRPr lang="es-CL"/>
            </a:p>
          </p:txBody>
        </p:sp>
        <p:sp>
          <p:nvSpPr>
            <p:cNvPr id="29" name="TextBox 29"/>
            <p:cNvSpPr txBox="1"/>
            <p:nvPr/>
          </p:nvSpPr>
          <p:spPr>
            <a:xfrm>
              <a:off x="0" y="0"/>
              <a:ext cx="1035100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Volumen ubuntu_dbdata en EC2</a:t>
              </a:r>
            </a:p>
          </p:txBody>
        </p:sp>
      </p:grpSp>
      <p:grpSp>
        <p:nvGrpSpPr>
          <p:cNvPr id="30" name="Group 30"/>
          <p:cNvGrpSpPr/>
          <p:nvPr/>
        </p:nvGrpSpPr>
        <p:grpSpPr>
          <a:xfrm>
            <a:off x="9052560" y="7680960"/>
            <a:ext cx="5074920" cy="411480"/>
            <a:chOff x="0" y="0"/>
            <a:chExt cx="6766560" cy="548640"/>
          </a:xfrm>
        </p:grpSpPr>
        <p:sp>
          <p:nvSpPr>
            <p:cNvPr id="31" name="Freeform 31"/>
            <p:cNvSpPr/>
            <p:nvPr/>
          </p:nvSpPr>
          <p:spPr>
            <a:xfrm>
              <a:off x="0" y="0"/>
              <a:ext cx="6766560" cy="548640"/>
            </a:xfrm>
            <a:custGeom>
              <a:avLst/>
              <a:gdLst/>
              <a:ahLst/>
              <a:cxnLst/>
              <a:rect l="l" t="t" r="r" b="b"/>
              <a:pathLst>
                <a:path w="6766560" h="548640">
                  <a:moveTo>
                    <a:pt x="0" y="0"/>
                  </a:moveTo>
                  <a:lnTo>
                    <a:pt x="6766560" y="0"/>
                  </a:lnTo>
                  <a:lnTo>
                    <a:pt x="6766560" y="548640"/>
                  </a:lnTo>
                  <a:lnTo>
                    <a:pt x="0" y="548640"/>
                  </a:lnTo>
                  <a:close/>
                </a:path>
              </a:pathLst>
            </a:custGeom>
            <a:blipFill>
              <a:blip r:embed="rId3">
                <a:alphaModFix amt="0"/>
              </a:blip>
              <a:stretch>
                <a:fillRect t="-190315" b="-190315"/>
              </a:stretch>
            </a:blipFill>
          </p:spPr>
          <p:txBody>
            <a:bodyPr/>
            <a:lstStyle/>
            <a:p>
              <a:endParaRPr lang="es-CL"/>
            </a:p>
          </p:txBody>
        </p:sp>
        <p:sp>
          <p:nvSpPr>
            <p:cNvPr id="32" name="TextBox 32"/>
            <p:cNvSpPr txBox="1"/>
            <p:nvPr/>
          </p:nvSpPr>
          <p:spPr>
            <a:xfrm>
              <a:off x="0" y="0"/>
              <a:ext cx="6766560" cy="548640"/>
            </a:xfrm>
            <a:prstGeom prst="rect">
              <a:avLst/>
            </a:prstGeom>
          </p:spPr>
          <p:txBody>
            <a:bodyPr lIns="0" tIns="0" rIns="0" bIns="0" rtlCol="0" anchor="ctr"/>
            <a:lstStyle/>
            <a:p>
              <a:pPr algn="l">
                <a:lnSpc>
                  <a:spcPts val="2700"/>
                </a:lnSpc>
              </a:pPr>
              <a:r>
                <a:rPr lang="en-US" sz="2250" b="1">
                  <a:solidFill>
                    <a:srgbClr val="18212F"/>
                  </a:solidFill>
                  <a:latin typeface="Aptos Bold"/>
                  <a:ea typeface="Aptos Bold"/>
                  <a:cs typeface="Aptos Bold"/>
                  <a:sym typeface="Aptos Bold"/>
                </a:rPr>
                <a:t>Decisión técnica: named volume</a:t>
              </a:r>
            </a:p>
          </p:txBody>
        </p:sp>
      </p:grpSp>
      <p:grpSp>
        <p:nvGrpSpPr>
          <p:cNvPr id="33" name="Group 33"/>
          <p:cNvGrpSpPr/>
          <p:nvPr/>
        </p:nvGrpSpPr>
        <p:grpSpPr>
          <a:xfrm>
            <a:off x="9052560" y="8202168"/>
            <a:ext cx="7818120" cy="754380"/>
            <a:chOff x="0" y="0"/>
            <a:chExt cx="10424160" cy="1005840"/>
          </a:xfrm>
        </p:grpSpPr>
        <p:sp>
          <p:nvSpPr>
            <p:cNvPr id="34" name="Freeform 34"/>
            <p:cNvSpPr/>
            <p:nvPr/>
          </p:nvSpPr>
          <p:spPr>
            <a:xfrm>
              <a:off x="0" y="0"/>
              <a:ext cx="10424160" cy="1005840"/>
            </a:xfrm>
            <a:custGeom>
              <a:avLst/>
              <a:gdLst/>
              <a:ahLst/>
              <a:cxnLst/>
              <a:rect l="l" t="t" r="r" b="b"/>
              <a:pathLst>
                <a:path w="10424160" h="1005840">
                  <a:moveTo>
                    <a:pt x="0" y="0"/>
                  </a:moveTo>
                  <a:lnTo>
                    <a:pt x="10424160" y="0"/>
                  </a:lnTo>
                  <a:lnTo>
                    <a:pt x="10424160" y="1005840"/>
                  </a:lnTo>
                  <a:lnTo>
                    <a:pt x="0" y="1005840"/>
                  </a:lnTo>
                  <a:close/>
                </a:path>
              </a:pathLst>
            </a:custGeom>
            <a:blipFill>
              <a:blip r:embed="rId3">
                <a:alphaModFix amt="0"/>
              </a:blip>
              <a:stretch>
                <a:fillRect t="-151935" b="-151935"/>
              </a:stretch>
            </a:blipFill>
          </p:spPr>
          <p:txBody>
            <a:bodyPr/>
            <a:lstStyle/>
            <a:p>
              <a:endParaRPr lang="es-CL"/>
            </a:p>
          </p:txBody>
        </p:sp>
        <p:sp>
          <p:nvSpPr>
            <p:cNvPr id="35" name="TextBox 35"/>
            <p:cNvSpPr txBox="1"/>
            <p:nvPr/>
          </p:nvSpPr>
          <p:spPr>
            <a:xfrm>
              <a:off x="0" y="0"/>
              <a:ext cx="10424160" cy="1005840"/>
            </a:xfrm>
            <a:prstGeom prst="rect">
              <a:avLst/>
            </a:prstGeom>
          </p:spPr>
          <p:txBody>
            <a:bodyPr lIns="0" tIns="0" rIns="0" bIns="0" rtlCol="0" anchor="ctr"/>
            <a:lstStyle/>
            <a:p>
              <a:pPr algn="l">
                <a:lnSpc>
                  <a:spcPts val="1854"/>
                </a:lnSpc>
              </a:pPr>
              <a:r>
                <a:rPr lang="en-US" sz="1545">
                  <a:solidFill>
                    <a:srgbClr val="64748B"/>
                  </a:solidFill>
                  <a:latin typeface="Aptos"/>
                  <a:ea typeface="Aptos"/>
                  <a:cs typeface="Aptos"/>
                  <a:sym typeface="Aptos"/>
                </a:rPr>
                <a:t>Más portable que un bind mount para esta evaluación, porque Docker administra la ubicación física del volumen.</a:t>
              </a:r>
            </a:p>
          </p:txBody>
        </p:sp>
      </p:grpSp>
      <p:grpSp>
        <p:nvGrpSpPr>
          <p:cNvPr id="36" name="Group 36"/>
          <p:cNvGrpSpPr/>
          <p:nvPr/>
        </p:nvGrpSpPr>
        <p:grpSpPr>
          <a:xfrm>
            <a:off x="754380" y="9779508"/>
            <a:ext cx="7406640" cy="246888"/>
            <a:chOff x="0" y="0"/>
            <a:chExt cx="9875520" cy="329184"/>
          </a:xfrm>
        </p:grpSpPr>
        <p:sp>
          <p:nvSpPr>
            <p:cNvPr id="37" name="Freeform 37"/>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38" name="TextBox 38"/>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39" name="Group 39"/>
          <p:cNvGrpSpPr/>
          <p:nvPr/>
        </p:nvGrpSpPr>
        <p:grpSpPr>
          <a:xfrm>
            <a:off x="16952976" y="9669780"/>
            <a:ext cx="576072" cy="356616"/>
            <a:chOff x="0" y="0"/>
            <a:chExt cx="768096" cy="475488"/>
          </a:xfrm>
        </p:grpSpPr>
        <p:sp>
          <p:nvSpPr>
            <p:cNvPr id="40" name="Freeform 40"/>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41" name="TextBox 41"/>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Pruebas de funcionamiento</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Validación local antes de subir a la nube</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53452" y="1954720"/>
            <a:ext cx="5005959" cy="3085719"/>
            <a:chOff x="0" y="0"/>
            <a:chExt cx="6674612" cy="4114292"/>
          </a:xfrm>
        </p:grpSpPr>
        <p:sp>
          <p:nvSpPr>
            <p:cNvPr id="14" name="Freeform 14"/>
            <p:cNvSpPr/>
            <p:nvPr/>
          </p:nvSpPr>
          <p:spPr>
            <a:xfrm>
              <a:off x="0" y="0"/>
              <a:ext cx="6674612" cy="4114292"/>
            </a:xfrm>
            <a:custGeom>
              <a:avLst/>
              <a:gdLst/>
              <a:ahLst/>
              <a:cxnLst/>
              <a:rect l="l" t="t" r="r" b="b"/>
              <a:pathLst>
                <a:path w="6674612" h="4114292">
                  <a:moveTo>
                    <a:pt x="0" y="146939"/>
                  </a:moveTo>
                  <a:cubicBezTo>
                    <a:pt x="0" y="65786"/>
                    <a:pt x="65786" y="0"/>
                    <a:pt x="146939" y="0"/>
                  </a:cubicBezTo>
                  <a:lnTo>
                    <a:pt x="6527673" y="0"/>
                  </a:lnTo>
                  <a:cubicBezTo>
                    <a:pt x="6608826" y="0"/>
                    <a:pt x="6674612" y="65786"/>
                    <a:pt x="6674612" y="146939"/>
                  </a:cubicBezTo>
                  <a:lnTo>
                    <a:pt x="6674612" y="3967353"/>
                  </a:lnTo>
                  <a:cubicBezTo>
                    <a:pt x="6674612" y="4048506"/>
                    <a:pt x="6608826" y="4114292"/>
                    <a:pt x="6527673" y="4114292"/>
                  </a:cubicBezTo>
                  <a:lnTo>
                    <a:pt x="146939" y="4114292"/>
                  </a:lnTo>
                  <a:cubicBezTo>
                    <a:pt x="65786" y="4114292"/>
                    <a:pt x="0" y="4048506"/>
                    <a:pt x="0" y="396735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097280" y="2327319"/>
            <a:ext cx="4718304" cy="2038769"/>
            <a:chOff x="0" y="0"/>
            <a:chExt cx="6291072" cy="2718359"/>
          </a:xfrm>
        </p:grpSpPr>
        <p:sp>
          <p:nvSpPr>
            <p:cNvPr id="16" name="Freeform 16" descr="/mnt/data/evidencias/Evidencias_EP2_ISY1101/SS-06_BuildCompose..png"/>
            <p:cNvSpPr/>
            <p:nvPr/>
          </p:nvSpPr>
          <p:spPr>
            <a:xfrm>
              <a:off x="0" y="0"/>
              <a:ext cx="6291072" cy="2718308"/>
            </a:xfrm>
            <a:custGeom>
              <a:avLst/>
              <a:gdLst/>
              <a:ahLst/>
              <a:cxnLst/>
              <a:rect l="l" t="t" r="r" b="b"/>
              <a:pathLst>
                <a:path w="6291072" h="2718308">
                  <a:moveTo>
                    <a:pt x="0" y="0"/>
                  </a:moveTo>
                  <a:lnTo>
                    <a:pt x="6291072" y="0"/>
                  </a:lnTo>
                  <a:lnTo>
                    <a:pt x="6291072" y="2718308"/>
                  </a:lnTo>
                  <a:lnTo>
                    <a:pt x="0" y="2718308"/>
                  </a:lnTo>
                  <a:lnTo>
                    <a:pt x="0" y="0"/>
                  </a:lnTo>
                  <a:close/>
                </a:path>
              </a:pathLst>
            </a:custGeom>
            <a:blipFill>
              <a:blip r:embed="rId4"/>
              <a:stretch>
                <a:fillRect b="-1"/>
              </a:stretch>
            </a:blipFill>
          </p:spPr>
          <p:txBody>
            <a:bodyPr/>
            <a:lstStyle/>
            <a:p>
              <a:endParaRPr lang="es-CL"/>
            </a:p>
          </p:txBody>
        </p:sp>
      </p:grpSp>
      <p:grpSp>
        <p:nvGrpSpPr>
          <p:cNvPr id="17" name="Group 17"/>
          <p:cNvGrpSpPr/>
          <p:nvPr/>
        </p:nvGrpSpPr>
        <p:grpSpPr>
          <a:xfrm>
            <a:off x="1152144" y="4677156"/>
            <a:ext cx="4608576" cy="246888"/>
            <a:chOff x="0" y="0"/>
            <a:chExt cx="6144768" cy="329184"/>
          </a:xfrm>
        </p:grpSpPr>
        <p:sp>
          <p:nvSpPr>
            <p:cNvPr id="18" name="Freeform 18"/>
            <p:cNvSpPr/>
            <p:nvPr/>
          </p:nvSpPr>
          <p:spPr>
            <a:xfrm>
              <a:off x="0" y="0"/>
              <a:ext cx="6144768" cy="329184"/>
            </a:xfrm>
            <a:custGeom>
              <a:avLst/>
              <a:gdLst/>
              <a:ahLst/>
              <a:cxnLst/>
              <a:rect l="l" t="t" r="r" b="b"/>
              <a:pathLst>
                <a:path w="6144768" h="329184">
                  <a:moveTo>
                    <a:pt x="0" y="0"/>
                  </a:moveTo>
                  <a:lnTo>
                    <a:pt x="6144768" y="0"/>
                  </a:lnTo>
                  <a:lnTo>
                    <a:pt x="6144768" y="329184"/>
                  </a:lnTo>
                  <a:lnTo>
                    <a:pt x="0" y="329184"/>
                  </a:lnTo>
                  <a:close/>
                </a:path>
              </a:pathLst>
            </a:custGeom>
            <a:blipFill>
              <a:blip r:embed="rId3">
                <a:alphaModFix amt="0"/>
              </a:blip>
              <a:stretch>
                <a:fillRect t="-313720" b="-313720"/>
              </a:stretch>
            </a:blipFill>
          </p:spPr>
          <p:txBody>
            <a:bodyPr/>
            <a:lstStyle/>
            <a:p>
              <a:endParaRPr lang="es-CL"/>
            </a:p>
          </p:txBody>
        </p:sp>
        <p:sp>
          <p:nvSpPr>
            <p:cNvPr id="19" name="TextBox 19"/>
            <p:cNvSpPr txBox="1"/>
            <p:nvPr/>
          </p:nvSpPr>
          <p:spPr>
            <a:xfrm>
              <a:off x="0" y="0"/>
              <a:ext cx="61447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Build de imágenes con Docker Compose</a:t>
              </a:r>
            </a:p>
          </p:txBody>
        </p:sp>
      </p:grpSp>
      <p:grpSp>
        <p:nvGrpSpPr>
          <p:cNvPr id="20" name="Group 20"/>
          <p:cNvGrpSpPr/>
          <p:nvPr/>
        </p:nvGrpSpPr>
        <p:grpSpPr>
          <a:xfrm>
            <a:off x="6343840" y="1954720"/>
            <a:ext cx="5280279" cy="3085719"/>
            <a:chOff x="0" y="0"/>
            <a:chExt cx="7040372" cy="4114292"/>
          </a:xfrm>
        </p:grpSpPr>
        <p:sp>
          <p:nvSpPr>
            <p:cNvPr id="21" name="Freeform 21"/>
            <p:cNvSpPr/>
            <p:nvPr/>
          </p:nvSpPr>
          <p:spPr>
            <a:xfrm>
              <a:off x="0" y="0"/>
              <a:ext cx="7040372" cy="4114292"/>
            </a:xfrm>
            <a:custGeom>
              <a:avLst/>
              <a:gdLst/>
              <a:ahLst/>
              <a:cxnLst/>
              <a:rect l="l" t="t" r="r" b="b"/>
              <a:pathLst>
                <a:path w="7040372" h="4114292">
                  <a:moveTo>
                    <a:pt x="0" y="146939"/>
                  </a:moveTo>
                  <a:cubicBezTo>
                    <a:pt x="0" y="65786"/>
                    <a:pt x="65786" y="0"/>
                    <a:pt x="146939" y="0"/>
                  </a:cubicBezTo>
                  <a:lnTo>
                    <a:pt x="6893433" y="0"/>
                  </a:lnTo>
                  <a:cubicBezTo>
                    <a:pt x="6974586" y="0"/>
                    <a:pt x="7040372" y="65786"/>
                    <a:pt x="7040372" y="146939"/>
                  </a:cubicBezTo>
                  <a:lnTo>
                    <a:pt x="7040372" y="3967353"/>
                  </a:lnTo>
                  <a:cubicBezTo>
                    <a:pt x="7040372" y="4048506"/>
                    <a:pt x="6974586" y="4114292"/>
                    <a:pt x="6893433" y="4114292"/>
                  </a:cubicBezTo>
                  <a:lnTo>
                    <a:pt x="146939" y="4114292"/>
                  </a:lnTo>
                  <a:cubicBezTo>
                    <a:pt x="65786" y="4114292"/>
                    <a:pt x="0" y="4048506"/>
                    <a:pt x="0" y="396735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6487668" y="2380259"/>
            <a:ext cx="4992624" cy="1932889"/>
            <a:chOff x="0" y="0"/>
            <a:chExt cx="6656832" cy="2577186"/>
          </a:xfrm>
        </p:grpSpPr>
        <p:sp>
          <p:nvSpPr>
            <p:cNvPr id="23" name="Freeform 23" descr="/mnt/data/evidencias/Evidencias_EP2_ISY1101/SS-07_ContenedoresCorriendo.png"/>
            <p:cNvSpPr/>
            <p:nvPr/>
          </p:nvSpPr>
          <p:spPr>
            <a:xfrm>
              <a:off x="0" y="0"/>
              <a:ext cx="6656832" cy="2577211"/>
            </a:xfrm>
            <a:custGeom>
              <a:avLst/>
              <a:gdLst/>
              <a:ahLst/>
              <a:cxnLst/>
              <a:rect l="l" t="t" r="r" b="b"/>
              <a:pathLst>
                <a:path w="6656832" h="2577211">
                  <a:moveTo>
                    <a:pt x="0" y="0"/>
                  </a:moveTo>
                  <a:lnTo>
                    <a:pt x="6656832" y="0"/>
                  </a:lnTo>
                  <a:lnTo>
                    <a:pt x="6656832" y="2577211"/>
                  </a:lnTo>
                  <a:lnTo>
                    <a:pt x="0" y="2577211"/>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6542532" y="4677156"/>
            <a:ext cx="4882896" cy="246888"/>
            <a:chOff x="0" y="0"/>
            <a:chExt cx="6510528" cy="329184"/>
          </a:xfrm>
        </p:grpSpPr>
        <p:sp>
          <p:nvSpPr>
            <p:cNvPr id="25" name="Freeform 25"/>
            <p:cNvSpPr/>
            <p:nvPr/>
          </p:nvSpPr>
          <p:spPr>
            <a:xfrm>
              <a:off x="0" y="0"/>
              <a:ext cx="6510528" cy="329184"/>
            </a:xfrm>
            <a:custGeom>
              <a:avLst/>
              <a:gdLst/>
              <a:ahLst/>
              <a:cxnLst/>
              <a:rect l="l" t="t" r="r" b="b"/>
              <a:pathLst>
                <a:path w="6510528" h="329184">
                  <a:moveTo>
                    <a:pt x="0" y="0"/>
                  </a:moveTo>
                  <a:lnTo>
                    <a:pt x="6510528" y="0"/>
                  </a:lnTo>
                  <a:lnTo>
                    <a:pt x="6510528" y="329184"/>
                  </a:lnTo>
                  <a:lnTo>
                    <a:pt x="0" y="329184"/>
                  </a:lnTo>
                  <a:close/>
                </a:path>
              </a:pathLst>
            </a:custGeom>
            <a:blipFill>
              <a:blip r:embed="rId3">
                <a:alphaModFix amt="0"/>
              </a:blip>
              <a:stretch>
                <a:fillRect t="-335370" b="-335370"/>
              </a:stretch>
            </a:blipFill>
          </p:spPr>
          <p:txBody>
            <a:bodyPr/>
            <a:lstStyle/>
            <a:p>
              <a:endParaRPr lang="es-CL"/>
            </a:p>
          </p:txBody>
        </p:sp>
        <p:sp>
          <p:nvSpPr>
            <p:cNvPr id="26" name="TextBox 26"/>
            <p:cNvSpPr txBox="1"/>
            <p:nvPr/>
          </p:nvSpPr>
          <p:spPr>
            <a:xfrm>
              <a:off x="0" y="0"/>
              <a:ext cx="65105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Contenedores locales corriendo</a:t>
              </a:r>
            </a:p>
          </p:txBody>
        </p:sp>
      </p:grpSp>
      <p:grpSp>
        <p:nvGrpSpPr>
          <p:cNvPr id="27" name="Group 27"/>
          <p:cNvGrpSpPr/>
          <p:nvPr/>
        </p:nvGrpSpPr>
        <p:grpSpPr>
          <a:xfrm>
            <a:off x="12035980" y="1954720"/>
            <a:ext cx="4937379" cy="3085719"/>
            <a:chOff x="0" y="0"/>
            <a:chExt cx="6583172" cy="4114292"/>
          </a:xfrm>
        </p:grpSpPr>
        <p:sp>
          <p:nvSpPr>
            <p:cNvPr id="28" name="Freeform 28"/>
            <p:cNvSpPr/>
            <p:nvPr/>
          </p:nvSpPr>
          <p:spPr>
            <a:xfrm>
              <a:off x="0" y="0"/>
              <a:ext cx="6583172" cy="4114292"/>
            </a:xfrm>
            <a:custGeom>
              <a:avLst/>
              <a:gdLst/>
              <a:ahLst/>
              <a:cxnLst/>
              <a:rect l="l" t="t" r="r" b="b"/>
              <a:pathLst>
                <a:path w="6583172" h="4114292">
                  <a:moveTo>
                    <a:pt x="0" y="146939"/>
                  </a:moveTo>
                  <a:cubicBezTo>
                    <a:pt x="0" y="65786"/>
                    <a:pt x="65786" y="0"/>
                    <a:pt x="146939" y="0"/>
                  </a:cubicBezTo>
                  <a:lnTo>
                    <a:pt x="6436233" y="0"/>
                  </a:lnTo>
                  <a:cubicBezTo>
                    <a:pt x="6517386" y="0"/>
                    <a:pt x="6583172" y="65786"/>
                    <a:pt x="6583172" y="146939"/>
                  </a:cubicBezTo>
                  <a:lnTo>
                    <a:pt x="6583172" y="3967353"/>
                  </a:lnTo>
                  <a:cubicBezTo>
                    <a:pt x="6583172" y="4048506"/>
                    <a:pt x="6517386" y="4114292"/>
                    <a:pt x="6436233" y="4114292"/>
                  </a:cubicBezTo>
                  <a:lnTo>
                    <a:pt x="146939" y="4114292"/>
                  </a:lnTo>
                  <a:cubicBezTo>
                    <a:pt x="65786" y="4114292"/>
                    <a:pt x="0" y="4048506"/>
                    <a:pt x="0" y="396735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2997882" y="2084832"/>
            <a:ext cx="3013586" cy="2523744"/>
            <a:chOff x="0" y="0"/>
            <a:chExt cx="4018115" cy="3364992"/>
          </a:xfrm>
        </p:grpSpPr>
        <p:sp>
          <p:nvSpPr>
            <p:cNvPr id="30" name="Freeform 30" descr="/mnt/data/evidencias/Evidencias_EP2_ISY1101/SS-13_FrontBackNetwork.png"/>
            <p:cNvSpPr/>
            <p:nvPr/>
          </p:nvSpPr>
          <p:spPr>
            <a:xfrm>
              <a:off x="0" y="0"/>
              <a:ext cx="4018153" cy="3364992"/>
            </a:xfrm>
            <a:custGeom>
              <a:avLst/>
              <a:gdLst/>
              <a:ahLst/>
              <a:cxnLst/>
              <a:rect l="l" t="t" r="r" b="b"/>
              <a:pathLst>
                <a:path w="4018153" h="3364992">
                  <a:moveTo>
                    <a:pt x="0" y="0"/>
                  </a:moveTo>
                  <a:lnTo>
                    <a:pt x="4018153" y="0"/>
                  </a:lnTo>
                  <a:lnTo>
                    <a:pt x="4018153" y="3364992"/>
                  </a:lnTo>
                  <a:lnTo>
                    <a:pt x="0" y="3364992"/>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12234672" y="4677156"/>
            <a:ext cx="4539996" cy="246888"/>
            <a:chOff x="0" y="0"/>
            <a:chExt cx="6053328" cy="329184"/>
          </a:xfrm>
        </p:grpSpPr>
        <p:sp>
          <p:nvSpPr>
            <p:cNvPr id="32" name="Freeform 32"/>
            <p:cNvSpPr/>
            <p:nvPr/>
          </p:nvSpPr>
          <p:spPr>
            <a:xfrm>
              <a:off x="0" y="0"/>
              <a:ext cx="6053328" cy="329184"/>
            </a:xfrm>
            <a:custGeom>
              <a:avLst/>
              <a:gdLst/>
              <a:ahLst/>
              <a:cxnLst/>
              <a:rect l="l" t="t" r="r" b="b"/>
              <a:pathLst>
                <a:path w="6053328" h="329184">
                  <a:moveTo>
                    <a:pt x="0" y="0"/>
                  </a:moveTo>
                  <a:lnTo>
                    <a:pt x="6053328" y="0"/>
                  </a:lnTo>
                  <a:lnTo>
                    <a:pt x="6053328" y="329184"/>
                  </a:lnTo>
                  <a:lnTo>
                    <a:pt x="0" y="329184"/>
                  </a:lnTo>
                  <a:close/>
                </a:path>
              </a:pathLst>
            </a:custGeom>
            <a:blipFill>
              <a:blip r:embed="rId3">
                <a:alphaModFix amt="0"/>
              </a:blip>
              <a:stretch>
                <a:fillRect t="-308308" b="-308308"/>
              </a:stretch>
            </a:blipFill>
          </p:spPr>
          <p:txBody>
            <a:bodyPr/>
            <a:lstStyle/>
            <a:p>
              <a:endParaRPr lang="es-CL"/>
            </a:p>
          </p:txBody>
        </p:sp>
        <p:sp>
          <p:nvSpPr>
            <p:cNvPr id="33" name="TextBox 33"/>
            <p:cNvSpPr txBox="1"/>
            <p:nvPr/>
          </p:nvSpPr>
          <p:spPr>
            <a:xfrm>
              <a:off x="0" y="0"/>
              <a:ext cx="60533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Network local: ventas y despachos 200</a:t>
              </a:r>
            </a:p>
          </p:txBody>
        </p:sp>
      </p:grpSp>
      <p:grpSp>
        <p:nvGrpSpPr>
          <p:cNvPr id="34" name="Group 34"/>
          <p:cNvGrpSpPr/>
          <p:nvPr/>
        </p:nvGrpSpPr>
        <p:grpSpPr>
          <a:xfrm>
            <a:off x="1406080" y="5520880"/>
            <a:ext cx="7611999" cy="2879979"/>
            <a:chOff x="0" y="0"/>
            <a:chExt cx="10149332" cy="3839972"/>
          </a:xfrm>
        </p:grpSpPr>
        <p:sp>
          <p:nvSpPr>
            <p:cNvPr id="35" name="Freeform 35"/>
            <p:cNvSpPr/>
            <p:nvPr/>
          </p:nvSpPr>
          <p:spPr>
            <a:xfrm>
              <a:off x="0" y="0"/>
              <a:ext cx="10149332" cy="3839972"/>
            </a:xfrm>
            <a:custGeom>
              <a:avLst/>
              <a:gdLst/>
              <a:ahLst/>
              <a:cxnLst/>
              <a:rect l="l" t="t" r="r" b="b"/>
              <a:pathLst>
                <a:path w="10149332" h="3839972">
                  <a:moveTo>
                    <a:pt x="0" y="146939"/>
                  </a:moveTo>
                  <a:cubicBezTo>
                    <a:pt x="0" y="65786"/>
                    <a:pt x="65786" y="0"/>
                    <a:pt x="146939" y="0"/>
                  </a:cubicBezTo>
                  <a:lnTo>
                    <a:pt x="10002393" y="0"/>
                  </a:lnTo>
                  <a:cubicBezTo>
                    <a:pt x="10083547" y="0"/>
                    <a:pt x="10149332" y="65786"/>
                    <a:pt x="10149332" y="146939"/>
                  </a:cubicBezTo>
                  <a:lnTo>
                    <a:pt x="10149332" y="3693033"/>
                  </a:lnTo>
                  <a:cubicBezTo>
                    <a:pt x="10149332" y="3774186"/>
                    <a:pt x="10083547" y="3839972"/>
                    <a:pt x="10002393" y="3839972"/>
                  </a:cubicBezTo>
                  <a:lnTo>
                    <a:pt x="146939" y="3839972"/>
                  </a:lnTo>
                  <a:cubicBezTo>
                    <a:pt x="65786" y="3839972"/>
                    <a:pt x="0" y="3774186"/>
                    <a:pt x="0" y="36930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36" name="Group 36"/>
          <p:cNvGrpSpPr/>
          <p:nvPr/>
        </p:nvGrpSpPr>
        <p:grpSpPr>
          <a:xfrm>
            <a:off x="2919165" y="5650992"/>
            <a:ext cx="4585821" cy="2318004"/>
            <a:chOff x="0" y="0"/>
            <a:chExt cx="6114428" cy="3090672"/>
          </a:xfrm>
        </p:grpSpPr>
        <p:sp>
          <p:nvSpPr>
            <p:cNvPr id="37" name="Freeform 37" descr="/mnt/data/evidencias/Evidencias_EP2_ISY1101/SS-09_FrontendLocal.png"/>
            <p:cNvSpPr/>
            <p:nvPr/>
          </p:nvSpPr>
          <p:spPr>
            <a:xfrm>
              <a:off x="0" y="0"/>
              <a:ext cx="6114415" cy="3090672"/>
            </a:xfrm>
            <a:custGeom>
              <a:avLst/>
              <a:gdLst/>
              <a:ahLst/>
              <a:cxnLst/>
              <a:rect l="l" t="t" r="r" b="b"/>
              <a:pathLst>
                <a:path w="6114415" h="3090672">
                  <a:moveTo>
                    <a:pt x="0" y="0"/>
                  </a:moveTo>
                  <a:lnTo>
                    <a:pt x="6114415" y="0"/>
                  </a:lnTo>
                  <a:lnTo>
                    <a:pt x="6114415" y="3090672"/>
                  </a:lnTo>
                  <a:lnTo>
                    <a:pt x="0" y="3090672"/>
                  </a:lnTo>
                  <a:lnTo>
                    <a:pt x="0" y="0"/>
                  </a:lnTo>
                  <a:close/>
                </a:path>
              </a:pathLst>
            </a:custGeom>
            <a:blipFill>
              <a:blip r:embed="rId7"/>
              <a:stretch>
                <a:fillRect/>
              </a:stretch>
            </a:blipFill>
          </p:spPr>
          <p:txBody>
            <a:bodyPr/>
            <a:lstStyle/>
            <a:p>
              <a:endParaRPr lang="es-CL"/>
            </a:p>
          </p:txBody>
        </p:sp>
      </p:grpSp>
      <p:grpSp>
        <p:nvGrpSpPr>
          <p:cNvPr id="38" name="Group 38"/>
          <p:cNvGrpSpPr/>
          <p:nvPr/>
        </p:nvGrpSpPr>
        <p:grpSpPr>
          <a:xfrm>
            <a:off x="1604772" y="8037576"/>
            <a:ext cx="7214616" cy="246888"/>
            <a:chOff x="0" y="0"/>
            <a:chExt cx="9619488" cy="329184"/>
          </a:xfrm>
        </p:grpSpPr>
        <p:sp>
          <p:nvSpPr>
            <p:cNvPr id="39" name="Freeform 39"/>
            <p:cNvSpPr/>
            <p:nvPr/>
          </p:nvSpPr>
          <p:spPr>
            <a:xfrm>
              <a:off x="0" y="0"/>
              <a:ext cx="9619488" cy="329184"/>
            </a:xfrm>
            <a:custGeom>
              <a:avLst/>
              <a:gdLst/>
              <a:ahLst/>
              <a:cxnLst/>
              <a:rect l="l" t="t" r="r" b="b"/>
              <a:pathLst>
                <a:path w="9619488" h="329184">
                  <a:moveTo>
                    <a:pt x="0" y="0"/>
                  </a:moveTo>
                  <a:lnTo>
                    <a:pt x="9619488" y="0"/>
                  </a:lnTo>
                  <a:lnTo>
                    <a:pt x="9619488" y="329184"/>
                  </a:lnTo>
                  <a:lnTo>
                    <a:pt x="0" y="329184"/>
                  </a:lnTo>
                  <a:close/>
                </a:path>
              </a:pathLst>
            </a:custGeom>
            <a:blipFill>
              <a:blip r:embed="rId3">
                <a:alphaModFix amt="0"/>
              </a:blip>
              <a:stretch>
                <a:fillRect t="-519396" b="-519396"/>
              </a:stretch>
            </a:blipFill>
          </p:spPr>
          <p:txBody>
            <a:bodyPr/>
            <a:lstStyle/>
            <a:p>
              <a:endParaRPr lang="es-CL"/>
            </a:p>
          </p:txBody>
        </p:sp>
        <p:sp>
          <p:nvSpPr>
            <p:cNvPr id="40" name="TextBox 40"/>
            <p:cNvSpPr txBox="1"/>
            <p:nvPr/>
          </p:nvSpPr>
          <p:spPr>
            <a:xfrm>
              <a:off x="0" y="0"/>
              <a:ext cx="961948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Frontend local en localhost:8080</a:t>
              </a:r>
            </a:p>
          </p:txBody>
        </p:sp>
      </p:grpSp>
      <p:grpSp>
        <p:nvGrpSpPr>
          <p:cNvPr id="41" name="Group 41"/>
          <p:cNvGrpSpPr/>
          <p:nvPr/>
        </p:nvGrpSpPr>
        <p:grpSpPr>
          <a:xfrm>
            <a:off x="9498520" y="5520880"/>
            <a:ext cx="3702939" cy="2879979"/>
            <a:chOff x="0" y="0"/>
            <a:chExt cx="4937252" cy="3839972"/>
          </a:xfrm>
        </p:grpSpPr>
        <p:sp>
          <p:nvSpPr>
            <p:cNvPr id="42" name="Freeform 42"/>
            <p:cNvSpPr/>
            <p:nvPr/>
          </p:nvSpPr>
          <p:spPr>
            <a:xfrm>
              <a:off x="0" y="0"/>
              <a:ext cx="4937252" cy="3839972"/>
            </a:xfrm>
            <a:custGeom>
              <a:avLst/>
              <a:gdLst/>
              <a:ahLst/>
              <a:cxnLst/>
              <a:rect l="l" t="t" r="r" b="b"/>
              <a:pathLst>
                <a:path w="4937252" h="3839972">
                  <a:moveTo>
                    <a:pt x="0" y="146939"/>
                  </a:moveTo>
                  <a:cubicBezTo>
                    <a:pt x="0" y="65786"/>
                    <a:pt x="65786" y="0"/>
                    <a:pt x="146939" y="0"/>
                  </a:cubicBezTo>
                  <a:lnTo>
                    <a:pt x="4790313" y="0"/>
                  </a:lnTo>
                  <a:cubicBezTo>
                    <a:pt x="4871466" y="0"/>
                    <a:pt x="4937252" y="65786"/>
                    <a:pt x="4937252" y="146939"/>
                  </a:cubicBezTo>
                  <a:lnTo>
                    <a:pt x="4937252" y="3693033"/>
                  </a:lnTo>
                  <a:cubicBezTo>
                    <a:pt x="4937252" y="3774186"/>
                    <a:pt x="4871466" y="3839972"/>
                    <a:pt x="4790313" y="3839972"/>
                  </a:cubicBezTo>
                  <a:lnTo>
                    <a:pt x="146939" y="3839972"/>
                  </a:lnTo>
                  <a:cubicBezTo>
                    <a:pt x="65786" y="3839972"/>
                    <a:pt x="0" y="3774186"/>
                    <a:pt x="0" y="36930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43" name="Group 43"/>
          <p:cNvGrpSpPr/>
          <p:nvPr/>
        </p:nvGrpSpPr>
        <p:grpSpPr>
          <a:xfrm>
            <a:off x="9642348" y="5750681"/>
            <a:ext cx="3415284" cy="2118636"/>
            <a:chOff x="0" y="0"/>
            <a:chExt cx="4553712" cy="2824848"/>
          </a:xfrm>
        </p:grpSpPr>
        <p:sp>
          <p:nvSpPr>
            <p:cNvPr id="44" name="Freeform 44" descr="/mnt/data/evidencias/Evidencias_EP2_ISY1101/SS-10_EndpointVentas.png"/>
            <p:cNvSpPr/>
            <p:nvPr/>
          </p:nvSpPr>
          <p:spPr>
            <a:xfrm>
              <a:off x="0" y="0"/>
              <a:ext cx="4553712" cy="2824861"/>
            </a:xfrm>
            <a:custGeom>
              <a:avLst/>
              <a:gdLst/>
              <a:ahLst/>
              <a:cxnLst/>
              <a:rect l="l" t="t" r="r" b="b"/>
              <a:pathLst>
                <a:path w="4553712" h="2824861">
                  <a:moveTo>
                    <a:pt x="0" y="0"/>
                  </a:moveTo>
                  <a:lnTo>
                    <a:pt x="4553712" y="0"/>
                  </a:lnTo>
                  <a:lnTo>
                    <a:pt x="4553712" y="2824861"/>
                  </a:lnTo>
                  <a:lnTo>
                    <a:pt x="0" y="2824861"/>
                  </a:lnTo>
                  <a:lnTo>
                    <a:pt x="0" y="0"/>
                  </a:lnTo>
                  <a:close/>
                </a:path>
              </a:pathLst>
            </a:custGeom>
            <a:blipFill>
              <a:blip r:embed="rId8"/>
              <a:stretch>
                <a:fillRect/>
              </a:stretch>
            </a:blipFill>
          </p:spPr>
          <p:txBody>
            <a:bodyPr/>
            <a:lstStyle/>
            <a:p>
              <a:endParaRPr lang="es-CL"/>
            </a:p>
          </p:txBody>
        </p:sp>
      </p:grpSp>
      <p:grpSp>
        <p:nvGrpSpPr>
          <p:cNvPr id="45" name="Group 45"/>
          <p:cNvGrpSpPr/>
          <p:nvPr/>
        </p:nvGrpSpPr>
        <p:grpSpPr>
          <a:xfrm>
            <a:off x="9697212" y="8037576"/>
            <a:ext cx="3305556" cy="246888"/>
            <a:chOff x="0" y="0"/>
            <a:chExt cx="4407408" cy="329184"/>
          </a:xfrm>
        </p:grpSpPr>
        <p:sp>
          <p:nvSpPr>
            <p:cNvPr id="46" name="Freeform 46"/>
            <p:cNvSpPr/>
            <p:nvPr/>
          </p:nvSpPr>
          <p:spPr>
            <a:xfrm>
              <a:off x="0" y="0"/>
              <a:ext cx="4407408" cy="329184"/>
            </a:xfrm>
            <a:custGeom>
              <a:avLst/>
              <a:gdLst/>
              <a:ahLst/>
              <a:cxnLst/>
              <a:rect l="l" t="t" r="r" b="b"/>
              <a:pathLst>
                <a:path w="4407408" h="329184">
                  <a:moveTo>
                    <a:pt x="0" y="0"/>
                  </a:moveTo>
                  <a:lnTo>
                    <a:pt x="4407408" y="0"/>
                  </a:lnTo>
                  <a:lnTo>
                    <a:pt x="4407408" y="329184"/>
                  </a:lnTo>
                  <a:lnTo>
                    <a:pt x="0" y="329184"/>
                  </a:lnTo>
                  <a:close/>
                </a:path>
              </a:pathLst>
            </a:custGeom>
            <a:blipFill>
              <a:blip r:embed="rId3">
                <a:alphaModFix amt="0"/>
              </a:blip>
              <a:stretch>
                <a:fillRect t="-210883" b="-210883"/>
              </a:stretch>
            </a:blipFill>
          </p:spPr>
          <p:txBody>
            <a:bodyPr/>
            <a:lstStyle/>
            <a:p>
              <a:endParaRPr lang="es-CL"/>
            </a:p>
          </p:txBody>
        </p:sp>
        <p:sp>
          <p:nvSpPr>
            <p:cNvPr id="47" name="TextBox 47"/>
            <p:cNvSpPr txBox="1"/>
            <p:nvPr/>
          </p:nvSpPr>
          <p:spPr>
            <a:xfrm>
              <a:off x="0" y="0"/>
              <a:ext cx="440740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Endpoint ventas []</a:t>
              </a:r>
            </a:p>
          </p:txBody>
        </p:sp>
      </p:grpSp>
      <p:grpSp>
        <p:nvGrpSpPr>
          <p:cNvPr id="48" name="Group 48"/>
          <p:cNvGrpSpPr/>
          <p:nvPr/>
        </p:nvGrpSpPr>
        <p:grpSpPr>
          <a:xfrm>
            <a:off x="13476160" y="5520880"/>
            <a:ext cx="3565779" cy="2879979"/>
            <a:chOff x="0" y="0"/>
            <a:chExt cx="4754372" cy="3839972"/>
          </a:xfrm>
        </p:grpSpPr>
        <p:sp>
          <p:nvSpPr>
            <p:cNvPr id="49" name="Freeform 49"/>
            <p:cNvSpPr/>
            <p:nvPr/>
          </p:nvSpPr>
          <p:spPr>
            <a:xfrm>
              <a:off x="0" y="0"/>
              <a:ext cx="4754372" cy="3839972"/>
            </a:xfrm>
            <a:custGeom>
              <a:avLst/>
              <a:gdLst/>
              <a:ahLst/>
              <a:cxnLst/>
              <a:rect l="l" t="t" r="r" b="b"/>
              <a:pathLst>
                <a:path w="4754372" h="3839972">
                  <a:moveTo>
                    <a:pt x="0" y="146939"/>
                  </a:moveTo>
                  <a:cubicBezTo>
                    <a:pt x="0" y="65786"/>
                    <a:pt x="65786" y="0"/>
                    <a:pt x="146939" y="0"/>
                  </a:cubicBezTo>
                  <a:lnTo>
                    <a:pt x="4607433" y="0"/>
                  </a:lnTo>
                  <a:cubicBezTo>
                    <a:pt x="4688586" y="0"/>
                    <a:pt x="4754372" y="65786"/>
                    <a:pt x="4754372" y="146939"/>
                  </a:cubicBezTo>
                  <a:lnTo>
                    <a:pt x="4754372" y="3693033"/>
                  </a:lnTo>
                  <a:cubicBezTo>
                    <a:pt x="4754372" y="3774186"/>
                    <a:pt x="4688586" y="3839972"/>
                    <a:pt x="4607433" y="3839972"/>
                  </a:cubicBezTo>
                  <a:lnTo>
                    <a:pt x="146939" y="3839972"/>
                  </a:lnTo>
                  <a:cubicBezTo>
                    <a:pt x="65786" y="3839972"/>
                    <a:pt x="0" y="3774186"/>
                    <a:pt x="0" y="36930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50" name="Group 50"/>
          <p:cNvGrpSpPr/>
          <p:nvPr/>
        </p:nvGrpSpPr>
        <p:grpSpPr>
          <a:xfrm>
            <a:off x="13619988" y="5802087"/>
            <a:ext cx="3278124" cy="2015814"/>
            <a:chOff x="0" y="0"/>
            <a:chExt cx="4370832" cy="2687752"/>
          </a:xfrm>
        </p:grpSpPr>
        <p:sp>
          <p:nvSpPr>
            <p:cNvPr id="51" name="Freeform 51" descr="/mnt/data/evidencias/Evidencias_EP2_ISY1101/SS-11_EndpointDespachos.png"/>
            <p:cNvSpPr/>
            <p:nvPr/>
          </p:nvSpPr>
          <p:spPr>
            <a:xfrm>
              <a:off x="0" y="0"/>
              <a:ext cx="4370832" cy="2687701"/>
            </a:xfrm>
            <a:custGeom>
              <a:avLst/>
              <a:gdLst/>
              <a:ahLst/>
              <a:cxnLst/>
              <a:rect l="l" t="t" r="r" b="b"/>
              <a:pathLst>
                <a:path w="4370832" h="2687701">
                  <a:moveTo>
                    <a:pt x="0" y="0"/>
                  </a:moveTo>
                  <a:lnTo>
                    <a:pt x="4370832" y="0"/>
                  </a:lnTo>
                  <a:lnTo>
                    <a:pt x="4370832" y="2687701"/>
                  </a:lnTo>
                  <a:lnTo>
                    <a:pt x="0" y="2687701"/>
                  </a:lnTo>
                  <a:lnTo>
                    <a:pt x="0" y="0"/>
                  </a:lnTo>
                  <a:close/>
                </a:path>
              </a:pathLst>
            </a:custGeom>
            <a:blipFill>
              <a:blip r:embed="rId9"/>
              <a:stretch>
                <a:fillRect b="-1"/>
              </a:stretch>
            </a:blipFill>
          </p:spPr>
          <p:txBody>
            <a:bodyPr/>
            <a:lstStyle/>
            <a:p>
              <a:endParaRPr lang="es-CL"/>
            </a:p>
          </p:txBody>
        </p:sp>
      </p:grpSp>
      <p:grpSp>
        <p:nvGrpSpPr>
          <p:cNvPr id="52" name="Group 52"/>
          <p:cNvGrpSpPr/>
          <p:nvPr/>
        </p:nvGrpSpPr>
        <p:grpSpPr>
          <a:xfrm>
            <a:off x="13674852" y="8037576"/>
            <a:ext cx="3168396" cy="246888"/>
            <a:chOff x="0" y="0"/>
            <a:chExt cx="4224528" cy="329184"/>
          </a:xfrm>
        </p:grpSpPr>
        <p:sp>
          <p:nvSpPr>
            <p:cNvPr id="53" name="Freeform 53"/>
            <p:cNvSpPr/>
            <p:nvPr/>
          </p:nvSpPr>
          <p:spPr>
            <a:xfrm>
              <a:off x="0" y="0"/>
              <a:ext cx="4224528" cy="329184"/>
            </a:xfrm>
            <a:custGeom>
              <a:avLst/>
              <a:gdLst/>
              <a:ahLst/>
              <a:cxnLst/>
              <a:rect l="l" t="t" r="r" b="b"/>
              <a:pathLst>
                <a:path w="4224528" h="329184">
                  <a:moveTo>
                    <a:pt x="0" y="0"/>
                  </a:moveTo>
                  <a:lnTo>
                    <a:pt x="4224528" y="0"/>
                  </a:lnTo>
                  <a:lnTo>
                    <a:pt x="4224528" y="329184"/>
                  </a:lnTo>
                  <a:lnTo>
                    <a:pt x="0" y="329184"/>
                  </a:lnTo>
                  <a:close/>
                </a:path>
              </a:pathLst>
            </a:custGeom>
            <a:blipFill>
              <a:blip r:embed="rId3">
                <a:alphaModFix amt="0"/>
              </a:blip>
              <a:stretch>
                <a:fillRect t="-200057" b="-200057"/>
              </a:stretch>
            </a:blipFill>
          </p:spPr>
          <p:txBody>
            <a:bodyPr/>
            <a:lstStyle/>
            <a:p>
              <a:endParaRPr lang="es-CL"/>
            </a:p>
          </p:txBody>
        </p:sp>
        <p:sp>
          <p:nvSpPr>
            <p:cNvPr id="54" name="TextBox 54"/>
            <p:cNvSpPr txBox="1"/>
            <p:nvPr/>
          </p:nvSpPr>
          <p:spPr>
            <a:xfrm>
              <a:off x="0" y="0"/>
              <a:ext cx="42245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Endpoint despachos []</a:t>
              </a:r>
            </a:p>
          </p:txBody>
        </p:sp>
      </p:grpSp>
      <p:grpSp>
        <p:nvGrpSpPr>
          <p:cNvPr id="55" name="Group 55"/>
          <p:cNvGrpSpPr/>
          <p:nvPr/>
        </p:nvGrpSpPr>
        <p:grpSpPr>
          <a:xfrm>
            <a:off x="754380" y="9779508"/>
            <a:ext cx="7406640" cy="246888"/>
            <a:chOff x="0" y="0"/>
            <a:chExt cx="9875520" cy="329184"/>
          </a:xfrm>
        </p:grpSpPr>
        <p:sp>
          <p:nvSpPr>
            <p:cNvPr id="56" name="Freeform 56"/>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57" name="TextBox 57"/>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58" name="Group 58"/>
          <p:cNvGrpSpPr/>
          <p:nvPr/>
        </p:nvGrpSpPr>
        <p:grpSpPr>
          <a:xfrm>
            <a:off x="16952976" y="9669780"/>
            <a:ext cx="576072" cy="356616"/>
            <a:chOff x="0" y="0"/>
            <a:chExt cx="768096" cy="475488"/>
          </a:xfrm>
        </p:grpSpPr>
        <p:sp>
          <p:nvSpPr>
            <p:cNvPr id="59" name="Freeform 59"/>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60" name="TextBox 60"/>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07</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Control de versiones</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Repositorio, rama deploy y trazabilidad</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8160639" cy="6514719"/>
            <a:chOff x="0" y="0"/>
            <a:chExt cx="10880852" cy="8686292"/>
          </a:xfrm>
        </p:grpSpPr>
        <p:sp>
          <p:nvSpPr>
            <p:cNvPr id="14" name="Freeform 14"/>
            <p:cNvSpPr/>
            <p:nvPr/>
          </p:nvSpPr>
          <p:spPr>
            <a:xfrm>
              <a:off x="0" y="0"/>
              <a:ext cx="10880852" cy="8686292"/>
            </a:xfrm>
            <a:custGeom>
              <a:avLst/>
              <a:gdLst/>
              <a:ahLst/>
              <a:cxnLst/>
              <a:rect l="l" t="t" r="r" b="b"/>
              <a:pathLst>
                <a:path w="10880852" h="8686292">
                  <a:moveTo>
                    <a:pt x="0" y="146685"/>
                  </a:moveTo>
                  <a:cubicBezTo>
                    <a:pt x="0" y="65659"/>
                    <a:pt x="65659" y="0"/>
                    <a:pt x="146685" y="0"/>
                  </a:cubicBezTo>
                  <a:lnTo>
                    <a:pt x="10734167" y="0"/>
                  </a:lnTo>
                  <a:cubicBezTo>
                    <a:pt x="10815193" y="0"/>
                    <a:pt x="10880852" y="65659"/>
                    <a:pt x="10880852" y="146685"/>
                  </a:cubicBezTo>
                  <a:lnTo>
                    <a:pt x="10880852" y="8539607"/>
                  </a:lnTo>
                  <a:cubicBezTo>
                    <a:pt x="10880852" y="8620633"/>
                    <a:pt x="10815193" y="8686292"/>
                    <a:pt x="10734167" y="8686292"/>
                  </a:cubicBezTo>
                  <a:lnTo>
                    <a:pt x="146685" y="8686292"/>
                  </a:lnTo>
                  <a:cubicBezTo>
                    <a:pt x="65659" y="8686292"/>
                    <a:pt x="0" y="8620633"/>
                    <a:pt x="0" y="8539607"/>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138428" y="2426913"/>
            <a:ext cx="7872984" cy="5268592"/>
            <a:chOff x="0" y="0"/>
            <a:chExt cx="10497312" cy="7024789"/>
          </a:xfrm>
        </p:grpSpPr>
        <p:sp>
          <p:nvSpPr>
            <p:cNvPr id="16" name="Freeform 16" descr="/mnt/data/evidencias/Evidencias_EP2_ISY1101/SS-16_RepositorioGithubDeploy.png"/>
            <p:cNvSpPr/>
            <p:nvPr/>
          </p:nvSpPr>
          <p:spPr>
            <a:xfrm>
              <a:off x="0" y="0"/>
              <a:ext cx="10497312" cy="7024751"/>
            </a:xfrm>
            <a:custGeom>
              <a:avLst/>
              <a:gdLst/>
              <a:ahLst/>
              <a:cxnLst/>
              <a:rect l="l" t="t" r="r" b="b"/>
              <a:pathLst>
                <a:path w="10497312" h="7024751">
                  <a:moveTo>
                    <a:pt x="0" y="0"/>
                  </a:moveTo>
                  <a:lnTo>
                    <a:pt x="10497312" y="0"/>
                  </a:lnTo>
                  <a:lnTo>
                    <a:pt x="10497312" y="7024751"/>
                  </a:lnTo>
                  <a:lnTo>
                    <a:pt x="0" y="7024751"/>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93292" y="8106156"/>
            <a:ext cx="7763256" cy="246888"/>
            <a:chOff x="0" y="0"/>
            <a:chExt cx="10351008" cy="329184"/>
          </a:xfrm>
        </p:grpSpPr>
        <p:sp>
          <p:nvSpPr>
            <p:cNvPr id="18" name="Freeform 18"/>
            <p:cNvSpPr/>
            <p:nvPr/>
          </p:nvSpPr>
          <p:spPr>
            <a:xfrm>
              <a:off x="0" y="0"/>
              <a:ext cx="10351008" cy="329184"/>
            </a:xfrm>
            <a:custGeom>
              <a:avLst/>
              <a:gdLst/>
              <a:ahLst/>
              <a:cxnLst/>
              <a:rect l="l" t="t" r="r" b="b"/>
              <a:pathLst>
                <a:path w="10351008" h="329184">
                  <a:moveTo>
                    <a:pt x="0" y="0"/>
                  </a:moveTo>
                  <a:lnTo>
                    <a:pt x="10351008" y="0"/>
                  </a:lnTo>
                  <a:lnTo>
                    <a:pt x="10351008" y="329184"/>
                  </a:lnTo>
                  <a:lnTo>
                    <a:pt x="0" y="329184"/>
                  </a:lnTo>
                  <a:close/>
                </a:path>
              </a:pathLst>
            </a:custGeom>
            <a:blipFill>
              <a:blip r:embed="rId3">
                <a:alphaModFix amt="0"/>
              </a:blip>
              <a:stretch>
                <a:fillRect t="-562696" b="-562696"/>
              </a:stretch>
            </a:blipFill>
          </p:spPr>
          <p:txBody>
            <a:bodyPr/>
            <a:lstStyle/>
            <a:p>
              <a:endParaRPr lang="es-CL"/>
            </a:p>
          </p:txBody>
        </p:sp>
        <p:sp>
          <p:nvSpPr>
            <p:cNvPr id="19" name="TextBox 19"/>
            <p:cNvSpPr txBox="1"/>
            <p:nvPr/>
          </p:nvSpPr>
          <p:spPr>
            <a:xfrm>
              <a:off x="0" y="0"/>
              <a:ext cx="1035100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Repositorio GitHub en rama deploy con estructura completa</a:t>
              </a:r>
            </a:p>
          </p:txBody>
        </p:sp>
      </p:grpSp>
      <p:grpSp>
        <p:nvGrpSpPr>
          <p:cNvPr id="20" name="Group 20"/>
          <p:cNvGrpSpPr/>
          <p:nvPr/>
        </p:nvGrpSpPr>
        <p:grpSpPr>
          <a:xfrm>
            <a:off x="9567100" y="1954720"/>
            <a:ext cx="7680579" cy="3291459"/>
            <a:chOff x="0" y="0"/>
            <a:chExt cx="10240772" cy="4388612"/>
          </a:xfrm>
        </p:grpSpPr>
        <p:sp>
          <p:nvSpPr>
            <p:cNvPr id="21" name="Freeform 21"/>
            <p:cNvSpPr/>
            <p:nvPr/>
          </p:nvSpPr>
          <p:spPr>
            <a:xfrm>
              <a:off x="0" y="0"/>
              <a:ext cx="10240772" cy="4388612"/>
            </a:xfrm>
            <a:custGeom>
              <a:avLst/>
              <a:gdLst/>
              <a:ahLst/>
              <a:cxnLst/>
              <a:rect l="l" t="t" r="r" b="b"/>
              <a:pathLst>
                <a:path w="10240772" h="4388612">
                  <a:moveTo>
                    <a:pt x="0" y="146939"/>
                  </a:moveTo>
                  <a:cubicBezTo>
                    <a:pt x="0" y="65786"/>
                    <a:pt x="65786" y="0"/>
                    <a:pt x="146939" y="0"/>
                  </a:cubicBezTo>
                  <a:lnTo>
                    <a:pt x="10093833" y="0"/>
                  </a:lnTo>
                  <a:cubicBezTo>
                    <a:pt x="10174986" y="0"/>
                    <a:pt x="10240772" y="65786"/>
                    <a:pt x="10240772" y="146939"/>
                  </a:cubicBezTo>
                  <a:lnTo>
                    <a:pt x="10240772" y="4241673"/>
                  </a:lnTo>
                  <a:cubicBezTo>
                    <a:pt x="10240772" y="4322826"/>
                    <a:pt x="10174986" y="4388612"/>
                    <a:pt x="10093833" y="4388612"/>
                  </a:cubicBezTo>
                  <a:lnTo>
                    <a:pt x="146939" y="4388612"/>
                  </a:lnTo>
                  <a:cubicBezTo>
                    <a:pt x="65786" y="4388612"/>
                    <a:pt x="0" y="4322826"/>
                    <a:pt x="0" y="424167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11667830" y="2084832"/>
            <a:ext cx="3479130" cy="2729484"/>
            <a:chOff x="0" y="0"/>
            <a:chExt cx="4638840" cy="3639312"/>
          </a:xfrm>
        </p:grpSpPr>
        <p:sp>
          <p:nvSpPr>
            <p:cNvPr id="23" name="Freeform 23" descr="/mnt/data/evidencias/Evidencias_EP2_ISY1101/SS-15_READMECommit.png"/>
            <p:cNvSpPr/>
            <p:nvPr/>
          </p:nvSpPr>
          <p:spPr>
            <a:xfrm>
              <a:off x="0" y="0"/>
              <a:ext cx="4638802" cy="3639312"/>
            </a:xfrm>
            <a:custGeom>
              <a:avLst/>
              <a:gdLst/>
              <a:ahLst/>
              <a:cxnLst/>
              <a:rect l="l" t="t" r="r" b="b"/>
              <a:pathLst>
                <a:path w="4638802" h="3639312">
                  <a:moveTo>
                    <a:pt x="0" y="0"/>
                  </a:moveTo>
                  <a:lnTo>
                    <a:pt x="4638802" y="0"/>
                  </a:lnTo>
                  <a:lnTo>
                    <a:pt x="4638802" y="3639312"/>
                  </a:lnTo>
                  <a:lnTo>
                    <a:pt x="0" y="3639312"/>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9765792" y="4882896"/>
            <a:ext cx="7283196" cy="246888"/>
            <a:chOff x="0" y="0"/>
            <a:chExt cx="9710928" cy="329184"/>
          </a:xfrm>
        </p:grpSpPr>
        <p:sp>
          <p:nvSpPr>
            <p:cNvPr id="25" name="Freeform 25"/>
            <p:cNvSpPr/>
            <p:nvPr/>
          </p:nvSpPr>
          <p:spPr>
            <a:xfrm>
              <a:off x="0" y="0"/>
              <a:ext cx="9710928" cy="329184"/>
            </a:xfrm>
            <a:custGeom>
              <a:avLst/>
              <a:gdLst/>
              <a:ahLst/>
              <a:cxnLst/>
              <a:rect l="l" t="t" r="r" b="b"/>
              <a:pathLst>
                <a:path w="9710928" h="329184">
                  <a:moveTo>
                    <a:pt x="0" y="0"/>
                  </a:moveTo>
                  <a:lnTo>
                    <a:pt x="9710928" y="0"/>
                  </a:lnTo>
                  <a:lnTo>
                    <a:pt x="9710928" y="329184"/>
                  </a:lnTo>
                  <a:lnTo>
                    <a:pt x="0" y="329184"/>
                  </a:lnTo>
                  <a:close/>
                </a:path>
              </a:pathLst>
            </a:custGeom>
            <a:blipFill>
              <a:blip r:embed="rId3">
                <a:alphaModFix amt="0"/>
              </a:blip>
              <a:stretch>
                <a:fillRect t="-524808" b="-524808"/>
              </a:stretch>
            </a:blipFill>
          </p:spPr>
          <p:txBody>
            <a:bodyPr/>
            <a:lstStyle/>
            <a:p>
              <a:endParaRPr lang="es-CL"/>
            </a:p>
          </p:txBody>
        </p:sp>
        <p:sp>
          <p:nvSpPr>
            <p:cNvPr id="26" name="TextBox 26"/>
            <p:cNvSpPr txBox="1"/>
            <p:nvPr/>
          </p:nvSpPr>
          <p:spPr>
            <a:xfrm>
              <a:off x="0" y="0"/>
              <a:ext cx="97109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README técnico y commit documentado</a:t>
              </a:r>
            </a:p>
          </p:txBody>
        </p:sp>
      </p:grpSp>
      <p:grpSp>
        <p:nvGrpSpPr>
          <p:cNvPr id="27" name="Group 27"/>
          <p:cNvGrpSpPr/>
          <p:nvPr/>
        </p:nvGrpSpPr>
        <p:grpSpPr>
          <a:xfrm>
            <a:off x="9567100" y="5520880"/>
            <a:ext cx="7680579" cy="2948559"/>
            <a:chOff x="0" y="0"/>
            <a:chExt cx="10240772" cy="3931412"/>
          </a:xfrm>
        </p:grpSpPr>
        <p:sp>
          <p:nvSpPr>
            <p:cNvPr id="28" name="Freeform 28"/>
            <p:cNvSpPr/>
            <p:nvPr/>
          </p:nvSpPr>
          <p:spPr>
            <a:xfrm>
              <a:off x="0" y="0"/>
              <a:ext cx="10240772" cy="3931412"/>
            </a:xfrm>
            <a:custGeom>
              <a:avLst/>
              <a:gdLst/>
              <a:ahLst/>
              <a:cxnLst/>
              <a:rect l="l" t="t" r="r" b="b"/>
              <a:pathLst>
                <a:path w="10240772" h="3931412">
                  <a:moveTo>
                    <a:pt x="0" y="146939"/>
                  </a:moveTo>
                  <a:cubicBezTo>
                    <a:pt x="0" y="65786"/>
                    <a:pt x="65786" y="0"/>
                    <a:pt x="146939" y="0"/>
                  </a:cubicBezTo>
                  <a:lnTo>
                    <a:pt x="10093833" y="0"/>
                  </a:lnTo>
                  <a:cubicBezTo>
                    <a:pt x="10174986" y="0"/>
                    <a:pt x="10240772" y="65786"/>
                    <a:pt x="10240772" y="146939"/>
                  </a:cubicBezTo>
                  <a:lnTo>
                    <a:pt x="10240772" y="3784473"/>
                  </a:lnTo>
                  <a:cubicBezTo>
                    <a:pt x="10240772" y="3865626"/>
                    <a:pt x="10174986" y="3931412"/>
                    <a:pt x="10093833" y="3931412"/>
                  </a:cubicBezTo>
                  <a:lnTo>
                    <a:pt x="146939" y="3931412"/>
                  </a:lnTo>
                  <a:cubicBezTo>
                    <a:pt x="65786" y="3931412"/>
                    <a:pt x="0" y="3865626"/>
                    <a:pt x="0" y="378447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0411301" y="5650992"/>
            <a:ext cx="5992178" cy="2386584"/>
            <a:chOff x="0" y="0"/>
            <a:chExt cx="7989570" cy="3182112"/>
          </a:xfrm>
        </p:grpSpPr>
        <p:sp>
          <p:nvSpPr>
            <p:cNvPr id="30" name="Freeform 30" descr="/mnt/data/evidencias/Evidencias_EP2_ISY1101/SS-14_GitStatusCambios.png"/>
            <p:cNvSpPr/>
            <p:nvPr/>
          </p:nvSpPr>
          <p:spPr>
            <a:xfrm>
              <a:off x="0" y="0"/>
              <a:ext cx="7989570" cy="3182112"/>
            </a:xfrm>
            <a:custGeom>
              <a:avLst/>
              <a:gdLst/>
              <a:ahLst/>
              <a:cxnLst/>
              <a:rect l="l" t="t" r="r" b="b"/>
              <a:pathLst>
                <a:path w="7989570" h="3182112">
                  <a:moveTo>
                    <a:pt x="0" y="0"/>
                  </a:moveTo>
                  <a:lnTo>
                    <a:pt x="7989570" y="0"/>
                  </a:lnTo>
                  <a:lnTo>
                    <a:pt x="7989570" y="3182112"/>
                  </a:lnTo>
                  <a:lnTo>
                    <a:pt x="0" y="3182112"/>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9765792" y="8106156"/>
            <a:ext cx="7283196" cy="246888"/>
            <a:chOff x="0" y="0"/>
            <a:chExt cx="9710928" cy="329184"/>
          </a:xfrm>
        </p:grpSpPr>
        <p:sp>
          <p:nvSpPr>
            <p:cNvPr id="32" name="Freeform 32"/>
            <p:cNvSpPr/>
            <p:nvPr/>
          </p:nvSpPr>
          <p:spPr>
            <a:xfrm>
              <a:off x="0" y="0"/>
              <a:ext cx="9710928" cy="329184"/>
            </a:xfrm>
            <a:custGeom>
              <a:avLst/>
              <a:gdLst/>
              <a:ahLst/>
              <a:cxnLst/>
              <a:rect l="l" t="t" r="r" b="b"/>
              <a:pathLst>
                <a:path w="9710928" h="329184">
                  <a:moveTo>
                    <a:pt x="0" y="0"/>
                  </a:moveTo>
                  <a:lnTo>
                    <a:pt x="9710928" y="0"/>
                  </a:lnTo>
                  <a:lnTo>
                    <a:pt x="9710928" y="329184"/>
                  </a:lnTo>
                  <a:lnTo>
                    <a:pt x="0" y="329184"/>
                  </a:lnTo>
                  <a:close/>
                </a:path>
              </a:pathLst>
            </a:custGeom>
            <a:blipFill>
              <a:blip r:embed="rId3">
                <a:alphaModFix amt="0"/>
              </a:blip>
              <a:stretch>
                <a:fillRect t="-524808" b="-524808"/>
              </a:stretch>
            </a:blipFill>
          </p:spPr>
          <p:txBody>
            <a:bodyPr/>
            <a:lstStyle/>
            <a:p>
              <a:endParaRPr lang="es-CL"/>
            </a:p>
          </p:txBody>
        </p:sp>
        <p:sp>
          <p:nvSpPr>
            <p:cNvPr id="33" name="TextBox 33"/>
            <p:cNvSpPr txBox="1"/>
            <p:nvPr/>
          </p:nvSpPr>
          <p:spPr>
            <a:xfrm>
              <a:off x="0" y="0"/>
              <a:ext cx="97109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Repositorio local limpio y trazable</a:t>
              </a:r>
            </a:p>
          </p:txBody>
        </p:sp>
      </p:grpSp>
      <p:grpSp>
        <p:nvGrpSpPr>
          <p:cNvPr id="34" name="Group 34"/>
          <p:cNvGrpSpPr/>
          <p:nvPr/>
        </p:nvGrpSpPr>
        <p:grpSpPr>
          <a:xfrm>
            <a:off x="754380" y="9779508"/>
            <a:ext cx="7406640" cy="246888"/>
            <a:chOff x="0" y="0"/>
            <a:chExt cx="9875520" cy="329184"/>
          </a:xfrm>
        </p:grpSpPr>
        <p:sp>
          <p:nvSpPr>
            <p:cNvPr id="35" name="Freeform 35"/>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36" name="TextBox 36"/>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37" name="Group 37"/>
          <p:cNvGrpSpPr/>
          <p:nvPr/>
        </p:nvGrpSpPr>
        <p:grpSpPr>
          <a:xfrm>
            <a:off x="16952976" y="9669780"/>
            <a:ext cx="576072" cy="356616"/>
            <a:chOff x="0" y="0"/>
            <a:chExt cx="768096" cy="475488"/>
          </a:xfrm>
        </p:grpSpPr>
        <p:sp>
          <p:nvSpPr>
            <p:cNvPr id="38" name="Freeform 38"/>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39" name="TextBox 39"/>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08</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Registry y versionado</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Docker Hub como registro de imágenes</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8503539" cy="6171819"/>
            <a:chOff x="0" y="0"/>
            <a:chExt cx="11338052" cy="8229092"/>
          </a:xfrm>
        </p:grpSpPr>
        <p:sp>
          <p:nvSpPr>
            <p:cNvPr id="14" name="Freeform 14"/>
            <p:cNvSpPr/>
            <p:nvPr/>
          </p:nvSpPr>
          <p:spPr>
            <a:xfrm>
              <a:off x="0" y="0"/>
              <a:ext cx="11338052" cy="8229092"/>
            </a:xfrm>
            <a:custGeom>
              <a:avLst/>
              <a:gdLst/>
              <a:ahLst/>
              <a:cxnLst/>
              <a:rect l="l" t="t" r="r" b="b"/>
              <a:pathLst>
                <a:path w="11338052" h="8229092">
                  <a:moveTo>
                    <a:pt x="0" y="146685"/>
                  </a:moveTo>
                  <a:cubicBezTo>
                    <a:pt x="0" y="65659"/>
                    <a:pt x="65659" y="0"/>
                    <a:pt x="146685" y="0"/>
                  </a:cubicBezTo>
                  <a:lnTo>
                    <a:pt x="11191367" y="0"/>
                  </a:lnTo>
                  <a:cubicBezTo>
                    <a:pt x="11272393" y="0"/>
                    <a:pt x="11338052" y="65659"/>
                    <a:pt x="11338052" y="146685"/>
                  </a:cubicBezTo>
                  <a:lnTo>
                    <a:pt x="11338052" y="8082407"/>
                  </a:lnTo>
                  <a:cubicBezTo>
                    <a:pt x="11338052" y="8163433"/>
                    <a:pt x="11272393" y="8229092"/>
                    <a:pt x="11191367" y="8229092"/>
                  </a:cubicBezTo>
                  <a:lnTo>
                    <a:pt x="146685" y="8229092"/>
                  </a:lnTo>
                  <a:cubicBezTo>
                    <a:pt x="65659" y="8229092"/>
                    <a:pt x="0" y="8163433"/>
                    <a:pt x="0" y="8082407"/>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138428" y="2974286"/>
            <a:ext cx="8215884" cy="3830926"/>
            <a:chOff x="0" y="0"/>
            <a:chExt cx="10954512" cy="5107902"/>
          </a:xfrm>
        </p:grpSpPr>
        <p:sp>
          <p:nvSpPr>
            <p:cNvPr id="16" name="Freeform 16" descr="/mnt/data/evidencias/Evidencias_EP2_ISY1101/SS-21_DockerHubRepositorios.png"/>
            <p:cNvSpPr/>
            <p:nvPr/>
          </p:nvSpPr>
          <p:spPr>
            <a:xfrm>
              <a:off x="0" y="0"/>
              <a:ext cx="10954512" cy="5107940"/>
            </a:xfrm>
            <a:custGeom>
              <a:avLst/>
              <a:gdLst/>
              <a:ahLst/>
              <a:cxnLst/>
              <a:rect l="l" t="t" r="r" b="b"/>
              <a:pathLst>
                <a:path w="10954512" h="5107940">
                  <a:moveTo>
                    <a:pt x="0" y="0"/>
                  </a:moveTo>
                  <a:lnTo>
                    <a:pt x="10954512" y="0"/>
                  </a:lnTo>
                  <a:lnTo>
                    <a:pt x="10954512" y="5107940"/>
                  </a:lnTo>
                  <a:lnTo>
                    <a:pt x="0" y="5107940"/>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93292" y="7763256"/>
            <a:ext cx="8106156" cy="246888"/>
            <a:chOff x="0" y="0"/>
            <a:chExt cx="10808208" cy="329184"/>
          </a:xfrm>
        </p:grpSpPr>
        <p:sp>
          <p:nvSpPr>
            <p:cNvPr id="18" name="Freeform 18"/>
            <p:cNvSpPr/>
            <p:nvPr/>
          </p:nvSpPr>
          <p:spPr>
            <a:xfrm>
              <a:off x="0" y="0"/>
              <a:ext cx="10808208" cy="329184"/>
            </a:xfrm>
            <a:custGeom>
              <a:avLst/>
              <a:gdLst/>
              <a:ahLst/>
              <a:cxnLst/>
              <a:rect l="l" t="t" r="r" b="b"/>
              <a:pathLst>
                <a:path w="10808208" h="329184">
                  <a:moveTo>
                    <a:pt x="0" y="0"/>
                  </a:moveTo>
                  <a:lnTo>
                    <a:pt x="10808208" y="0"/>
                  </a:lnTo>
                  <a:lnTo>
                    <a:pt x="10808208" y="329184"/>
                  </a:lnTo>
                  <a:lnTo>
                    <a:pt x="0" y="329184"/>
                  </a:lnTo>
                  <a:close/>
                </a:path>
              </a:pathLst>
            </a:custGeom>
            <a:blipFill>
              <a:blip r:embed="rId3">
                <a:alphaModFix amt="0"/>
              </a:blip>
              <a:stretch>
                <a:fillRect t="-589758" b="-589758"/>
              </a:stretch>
            </a:blipFill>
          </p:spPr>
          <p:txBody>
            <a:bodyPr/>
            <a:lstStyle/>
            <a:p>
              <a:endParaRPr lang="es-CL"/>
            </a:p>
          </p:txBody>
        </p:sp>
        <p:sp>
          <p:nvSpPr>
            <p:cNvPr id="19" name="TextBox 19"/>
            <p:cNvSpPr txBox="1"/>
            <p:nvPr/>
          </p:nvSpPr>
          <p:spPr>
            <a:xfrm>
              <a:off x="0" y="0"/>
              <a:ext cx="1080820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Repositorios publicados en Docker Hub</a:t>
              </a:r>
            </a:p>
          </p:txBody>
        </p:sp>
      </p:grpSp>
      <p:grpSp>
        <p:nvGrpSpPr>
          <p:cNvPr id="20" name="Group 20"/>
          <p:cNvGrpSpPr/>
          <p:nvPr/>
        </p:nvGrpSpPr>
        <p:grpSpPr>
          <a:xfrm>
            <a:off x="9910000" y="1954720"/>
            <a:ext cx="7406259" cy="2879979"/>
            <a:chOff x="0" y="0"/>
            <a:chExt cx="9875012" cy="3839972"/>
          </a:xfrm>
        </p:grpSpPr>
        <p:sp>
          <p:nvSpPr>
            <p:cNvPr id="21" name="Freeform 21"/>
            <p:cNvSpPr/>
            <p:nvPr/>
          </p:nvSpPr>
          <p:spPr>
            <a:xfrm>
              <a:off x="0" y="0"/>
              <a:ext cx="9875012" cy="3839972"/>
            </a:xfrm>
            <a:custGeom>
              <a:avLst/>
              <a:gdLst/>
              <a:ahLst/>
              <a:cxnLst/>
              <a:rect l="l" t="t" r="r" b="b"/>
              <a:pathLst>
                <a:path w="9875012" h="3839972">
                  <a:moveTo>
                    <a:pt x="0" y="146939"/>
                  </a:moveTo>
                  <a:cubicBezTo>
                    <a:pt x="0" y="65786"/>
                    <a:pt x="65786" y="0"/>
                    <a:pt x="146939" y="0"/>
                  </a:cubicBezTo>
                  <a:lnTo>
                    <a:pt x="9728073" y="0"/>
                  </a:lnTo>
                  <a:cubicBezTo>
                    <a:pt x="9809226" y="0"/>
                    <a:pt x="9875012" y="65786"/>
                    <a:pt x="9875012" y="146939"/>
                  </a:cubicBezTo>
                  <a:lnTo>
                    <a:pt x="9875012" y="3693033"/>
                  </a:lnTo>
                  <a:cubicBezTo>
                    <a:pt x="9875012" y="3774186"/>
                    <a:pt x="9809226" y="3839972"/>
                    <a:pt x="9728073" y="3839972"/>
                  </a:cubicBezTo>
                  <a:lnTo>
                    <a:pt x="146939" y="3839972"/>
                  </a:lnTo>
                  <a:cubicBezTo>
                    <a:pt x="65786" y="3839972"/>
                    <a:pt x="0" y="3774186"/>
                    <a:pt x="0" y="36930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10053828" y="2134333"/>
            <a:ext cx="7118604" cy="2219001"/>
            <a:chOff x="0" y="0"/>
            <a:chExt cx="9491472" cy="2958668"/>
          </a:xfrm>
        </p:grpSpPr>
        <p:sp>
          <p:nvSpPr>
            <p:cNvPr id="23" name="Freeform 23" descr="/mnt/data/evidencias/Evidencias_EP2_ISY1101/SS-19_ImagenesTagDockerHub..png"/>
            <p:cNvSpPr/>
            <p:nvPr/>
          </p:nvSpPr>
          <p:spPr>
            <a:xfrm>
              <a:off x="0" y="0"/>
              <a:ext cx="9491472" cy="2958719"/>
            </a:xfrm>
            <a:custGeom>
              <a:avLst/>
              <a:gdLst/>
              <a:ahLst/>
              <a:cxnLst/>
              <a:rect l="l" t="t" r="r" b="b"/>
              <a:pathLst>
                <a:path w="9491472" h="2958719">
                  <a:moveTo>
                    <a:pt x="0" y="0"/>
                  </a:moveTo>
                  <a:lnTo>
                    <a:pt x="9491472" y="0"/>
                  </a:lnTo>
                  <a:lnTo>
                    <a:pt x="9491472" y="2958719"/>
                  </a:lnTo>
                  <a:lnTo>
                    <a:pt x="0" y="2958719"/>
                  </a:lnTo>
                  <a:lnTo>
                    <a:pt x="0" y="0"/>
                  </a:lnTo>
                  <a:close/>
                </a:path>
              </a:pathLst>
            </a:custGeom>
            <a:blipFill>
              <a:blip r:embed="rId5"/>
              <a:stretch>
                <a:fillRect b="1"/>
              </a:stretch>
            </a:blipFill>
          </p:spPr>
          <p:txBody>
            <a:bodyPr/>
            <a:lstStyle/>
            <a:p>
              <a:endParaRPr lang="es-CL"/>
            </a:p>
          </p:txBody>
        </p:sp>
      </p:grpSp>
      <p:grpSp>
        <p:nvGrpSpPr>
          <p:cNvPr id="24" name="Group 24"/>
          <p:cNvGrpSpPr/>
          <p:nvPr/>
        </p:nvGrpSpPr>
        <p:grpSpPr>
          <a:xfrm>
            <a:off x="10108692" y="4471416"/>
            <a:ext cx="7008876" cy="246888"/>
            <a:chOff x="0" y="0"/>
            <a:chExt cx="9345168" cy="329184"/>
          </a:xfrm>
        </p:grpSpPr>
        <p:sp>
          <p:nvSpPr>
            <p:cNvPr id="25" name="Freeform 25"/>
            <p:cNvSpPr/>
            <p:nvPr/>
          </p:nvSpPr>
          <p:spPr>
            <a:xfrm>
              <a:off x="0" y="0"/>
              <a:ext cx="9345168" cy="329184"/>
            </a:xfrm>
            <a:custGeom>
              <a:avLst/>
              <a:gdLst/>
              <a:ahLst/>
              <a:cxnLst/>
              <a:rect l="l" t="t" r="r" b="b"/>
              <a:pathLst>
                <a:path w="9345168" h="329184">
                  <a:moveTo>
                    <a:pt x="0" y="0"/>
                  </a:moveTo>
                  <a:lnTo>
                    <a:pt x="9345168" y="0"/>
                  </a:lnTo>
                  <a:lnTo>
                    <a:pt x="9345168" y="329184"/>
                  </a:lnTo>
                  <a:lnTo>
                    <a:pt x="0" y="329184"/>
                  </a:lnTo>
                  <a:close/>
                </a:path>
              </a:pathLst>
            </a:custGeom>
            <a:blipFill>
              <a:blip r:embed="rId3">
                <a:alphaModFix amt="0"/>
              </a:blip>
              <a:stretch>
                <a:fillRect t="-503158" b="-503158"/>
              </a:stretch>
            </a:blipFill>
          </p:spPr>
          <p:txBody>
            <a:bodyPr/>
            <a:lstStyle/>
            <a:p>
              <a:endParaRPr lang="es-CL"/>
            </a:p>
          </p:txBody>
        </p:sp>
        <p:sp>
          <p:nvSpPr>
            <p:cNvPr id="26" name="TextBox 26"/>
            <p:cNvSpPr txBox="1"/>
            <p:nvPr/>
          </p:nvSpPr>
          <p:spPr>
            <a:xfrm>
              <a:off x="0" y="0"/>
              <a:ext cx="93451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Imágenes etiquetadas con v1</a:t>
              </a:r>
            </a:p>
          </p:txBody>
        </p:sp>
      </p:grpSp>
      <p:grpSp>
        <p:nvGrpSpPr>
          <p:cNvPr id="27" name="Group 27"/>
          <p:cNvGrpSpPr/>
          <p:nvPr/>
        </p:nvGrpSpPr>
        <p:grpSpPr>
          <a:xfrm>
            <a:off x="9910000" y="5246560"/>
            <a:ext cx="7406259" cy="2879979"/>
            <a:chOff x="0" y="0"/>
            <a:chExt cx="9875012" cy="3839972"/>
          </a:xfrm>
        </p:grpSpPr>
        <p:sp>
          <p:nvSpPr>
            <p:cNvPr id="28" name="Freeform 28"/>
            <p:cNvSpPr/>
            <p:nvPr/>
          </p:nvSpPr>
          <p:spPr>
            <a:xfrm>
              <a:off x="0" y="0"/>
              <a:ext cx="9875012" cy="3839972"/>
            </a:xfrm>
            <a:custGeom>
              <a:avLst/>
              <a:gdLst/>
              <a:ahLst/>
              <a:cxnLst/>
              <a:rect l="l" t="t" r="r" b="b"/>
              <a:pathLst>
                <a:path w="9875012" h="3839972">
                  <a:moveTo>
                    <a:pt x="0" y="146939"/>
                  </a:moveTo>
                  <a:cubicBezTo>
                    <a:pt x="0" y="65786"/>
                    <a:pt x="65786" y="0"/>
                    <a:pt x="146939" y="0"/>
                  </a:cubicBezTo>
                  <a:lnTo>
                    <a:pt x="9728073" y="0"/>
                  </a:lnTo>
                  <a:cubicBezTo>
                    <a:pt x="9809226" y="0"/>
                    <a:pt x="9875012" y="65786"/>
                    <a:pt x="9875012" y="146939"/>
                  </a:cubicBezTo>
                  <a:lnTo>
                    <a:pt x="9875012" y="3693033"/>
                  </a:lnTo>
                  <a:cubicBezTo>
                    <a:pt x="9875012" y="3774186"/>
                    <a:pt x="9809226" y="3839972"/>
                    <a:pt x="9728073" y="3839972"/>
                  </a:cubicBezTo>
                  <a:lnTo>
                    <a:pt x="146939" y="3839972"/>
                  </a:lnTo>
                  <a:cubicBezTo>
                    <a:pt x="65786" y="3839972"/>
                    <a:pt x="0" y="3774186"/>
                    <a:pt x="0" y="36930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1415379" y="5376672"/>
            <a:ext cx="4395502" cy="2318004"/>
            <a:chOff x="0" y="0"/>
            <a:chExt cx="5860669" cy="3090672"/>
          </a:xfrm>
        </p:grpSpPr>
        <p:sp>
          <p:nvSpPr>
            <p:cNvPr id="30" name="Freeform 30" descr="/mnt/data/evidencias/Evidencias_EP2_ISY1101/SS-20_DockerHubRepositorios.png"/>
            <p:cNvSpPr/>
            <p:nvPr/>
          </p:nvSpPr>
          <p:spPr>
            <a:xfrm>
              <a:off x="0" y="0"/>
              <a:ext cx="5860669" cy="3090672"/>
            </a:xfrm>
            <a:custGeom>
              <a:avLst/>
              <a:gdLst/>
              <a:ahLst/>
              <a:cxnLst/>
              <a:rect l="l" t="t" r="r" b="b"/>
              <a:pathLst>
                <a:path w="5860669" h="3090672">
                  <a:moveTo>
                    <a:pt x="0" y="0"/>
                  </a:moveTo>
                  <a:lnTo>
                    <a:pt x="5860669" y="0"/>
                  </a:lnTo>
                  <a:lnTo>
                    <a:pt x="5860669" y="3090672"/>
                  </a:lnTo>
                  <a:lnTo>
                    <a:pt x="0" y="3090672"/>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10108692" y="7763256"/>
            <a:ext cx="7008876" cy="246888"/>
            <a:chOff x="0" y="0"/>
            <a:chExt cx="9345168" cy="329184"/>
          </a:xfrm>
        </p:grpSpPr>
        <p:sp>
          <p:nvSpPr>
            <p:cNvPr id="32" name="Freeform 32"/>
            <p:cNvSpPr/>
            <p:nvPr/>
          </p:nvSpPr>
          <p:spPr>
            <a:xfrm>
              <a:off x="0" y="0"/>
              <a:ext cx="9345168" cy="329184"/>
            </a:xfrm>
            <a:custGeom>
              <a:avLst/>
              <a:gdLst/>
              <a:ahLst/>
              <a:cxnLst/>
              <a:rect l="l" t="t" r="r" b="b"/>
              <a:pathLst>
                <a:path w="9345168" h="329184">
                  <a:moveTo>
                    <a:pt x="0" y="0"/>
                  </a:moveTo>
                  <a:lnTo>
                    <a:pt x="9345168" y="0"/>
                  </a:lnTo>
                  <a:lnTo>
                    <a:pt x="9345168" y="329184"/>
                  </a:lnTo>
                  <a:lnTo>
                    <a:pt x="0" y="329184"/>
                  </a:lnTo>
                  <a:close/>
                </a:path>
              </a:pathLst>
            </a:custGeom>
            <a:blipFill>
              <a:blip r:embed="rId3">
                <a:alphaModFix amt="0"/>
              </a:blip>
              <a:stretch>
                <a:fillRect t="-503158" b="-503158"/>
              </a:stretch>
            </a:blipFill>
          </p:spPr>
          <p:txBody>
            <a:bodyPr/>
            <a:lstStyle/>
            <a:p>
              <a:endParaRPr lang="es-CL"/>
            </a:p>
          </p:txBody>
        </p:sp>
        <p:sp>
          <p:nvSpPr>
            <p:cNvPr id="33" name="TextBox 33"/>
            <p:cNvSpPr txBox="1"/>
            <p:nvPr/>
          </p:nvSpPr>
          <p:spPr>
            <a:xfrm>
              <a:off x="0" y="0"/>
              <a:ext cx="93451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Publicación y repositorios disponibles</a:t>
              </a:r>
            </a:p>
          </p:txBody>
        </p:sp>
      </p:grpSp>
      <p:grpSp>
        <p:nvGrpSpPr>
          <p:cNvPr id="34" name="Group 34"/>
          <p:cNvGrpSpPr/>
          <p:nvPr/>
        </p:nvGrpSpPr>
        <p:grpSpPr>
          <a:xfrm>
            <a:off x="10081260" y="8531352"/>
            <a:ext cx="6995160" cy="384048"/>
            <a:chOff x="0" y="0"/>
            <a:chExt cx="9326880" cy="512064"/>
          </a:xfrm>
        </p:grpSpPr>
        <p:sp>
          <p:nvSpPr>
            <p:cNvPr id="35" name="Freeform 35"/>
            <p:cNvSpPr/>
            <p:nvPr/>
          </p:nvSpPr>
          <p:spPr>
            <a:xfrm>
              <a:off x="0" y="0"/>
              <a:ext cx="9326880" cy="512064"/>
            </a:xfrm>
            <a:custGeom>
              <a:avLst/>
              <a:gdLst/>
              <a:ahLst/>
              <a:cxnLst/>
              <a:rect l="l" t="t" r="r" b="b"/>
              <a:pathLst>
                <a:path w="9326880" h="512064">
                  <a:moveTo>
                    <a:pt x="0" y="0"/>
                  </a:moveTo>
                  <a:lnTo>
                    <a:pt x="9326880" y="0"/>
                  </a:lnTo>
                  <a:lnTo>
                    <a:pt x="9326880" y="512064"/>
                  </a:lnTo>
                  <a:lnTo>
                    <a:pt x="0" y="512064"/>
                  </a:lnTo>
                  <a:close/>
                </a:path>
              </a:pathLst>
            </a:custGeom>
            <a:blipFill>
              <a:blip r:embed="rId3">
                <a:alphaModFix amt="0"/>
              </a:blip>
              <a:stretch>
                <a:fillRect t="-304906" b="-304906"/>
              </a:stretch>
            </a:blipFill>
          </p:spPr>
          <p:txBody>
            <a:bodyPr/>
            <a:lstStyle/>
            <a:p>
              <a:endParaRPr lang="es-CL"/>
            </a:p>
          </p:txBody>
        </p:sp>
        <p:sp>
          <p:nvSpPr>
            <p:cNvPr id="36" name="TextBox 36"/>
            <p:cNvSpPr txBox="1"/>
            <p:nvPr/>
          </p:nvSpPr>
          <p:spPr>
            <a:xfrm>
              <a:off x="0" y="0"/>
              <a:ext cx="9326880" cy="512064"/>
            </a:xfrm>
            <a:prstGeom prst="rect">
              <a:avLst/>
            </a:prstGeom>
          </p:spPr>
          <p:txBody>
            <a:bodyPr lIns="0" tIns="0" rIns="0" bIns="0" rtlCol="0" anchor="ctr"/>
            <a:lstStyle/>
            <a:p>
              <a:pPr algn="ctr">
                <a:lnSpc>
                  <a:spcPts val="1692"/>
                </a:lnSpc>
              </a:pPr>
              <a:r>
                <a:rPr lang="en-US" sz="1410" b="1">
                  <a:solidFill>
                    <a:srgbClr val="18212F"/>
                  </a:solidFill>
                  <a:latin typeface="Aptos Bold"/>
                  <a:ea typeface="Aptos Bold"/>
                  <a:cs typeface="Aptos Bold"/>
                  <a:sym typeface="Aptos Bold"/>
                </a:rPr>
                <a:t>Tags publicados: frontend:v1 · backend-ventas:v1 · backend-despachos:v1</a:t>
              </a:r>
            </a:p>
          </p:txBody>
        </p:sp>
      </p:grpSp>
      <p:grpSp>
        <p:nvGrpSpPr>
          <p:cNvPr id="37" name="Group 37"/>
          <p:cNvGrpSpPr/>
          <p:nvPr/>
        </p:nvGrpSpPr>
        <p:grpSpPr>
          <a:xfrm>
            <a:off x="754380" y="9779508"/>
            <a:ext cx="7406640" cy="246888"/>
            <a:chOff x="0" y="0"/>
            <a:chExt cx="9875520" cy="329184"/>
          </a:xfrm>
        </p:grpSpPr>
        <p:sp>
          <p:nvSpPr>
            <p:cNvPr id="38" name="Freeform 38"/>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39" name="TextBox 39"/>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40" name="Group 40"/>
          <p:cNvGrpSpPr/>
          <p:nvPr/>
        </p:nvGrpSpPr>
        <p:grpSpPr>
          <a:xfrm>
            <a:off x="16952976" y="9669780"/>
            <a:ext cx="576072" cy="356616"/>
            <a:chOff x="0" y="0"/>
            <a:chExt cx="768096" cy="475488"/>
          </a:xfrm>
        </p:grpSpPr>
        <p:sp>
          <p:nvSpPr>
            <p:cNvPr id="41" name="Freeform 41"/>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42" name="TextBox 42"/>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09</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Automatización</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Pipeline CI/CD con GitHub Actions</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6240399" cy="6583299"/>
            <a:chOff x="0" y="0"/>
            <a:chExt cx="8320532" cy="8777732"/>
          </a:xfrm>
        </p:grpSpPr>
        <p:sp>
          <p:nvSpPr>
            <p:cNvPr id="14" name="Freeform 14"/>
            <p:cNvSpPr/>
            <p:nvPr/>
          </p:nvSpPr>
          <p:spPr>
            <a:xfrm>
              <a:off x="0" y="0"/>
              <a:ext cx="8320532" cy="8777732"/>
            </a:xfrm>
            <a:custGeom>
              <a:avLst/>
              <a:gdLst/>
              <a:ahLst/>
              <a:cxnLst/>
              <a:rect l="l" t="t" r="r" b="b"/>
              <a:pathLst>
                <a:path w="8320532" h="8777732">
                  <a:moveTo>
                    <a:pt x="0" y="146558"/>
                  </a:moveTo>
                  <a:cubicBezTo>
                    <a:pt x="0" y="65659"/>
                    <a:pt x="65659" y="0"/>
                    <a:pt x="146558" y="0"/>
                  </a:cubicBezTo>
                  <a:lnTo>
                    <a:pt x="8173974" y="0"/>
                  </a:lnTo>
                  <a:cubicBezTo>
                    <a:pt x="8255000" y="0"/>
                    <a:pt x="8320532" y="65659"/>
                    <a:pt x="8320532" y="146558"/>
                  </a:cubicBezTo>
                  <a:lnTo>
                    <a:pt x="8320532" y="8631174"/>
                  </a:lnTo>
                  <a:cubicBezTo>
                    <a:pt x="8320532" y="8712200"/>
                    <a:pt x="8254873" y="8777732"/>
                    <a:pt x="8173974" y="8777732"/>
                  </a:cubicBezTo>
                  <a:lnTo>
                    <a:pt x="146558" y="8777732"/>
                  </a:lnTo>
                  <a:cubicBezTo>
                    <a:pt x="65659" y="8777732"/>
                    <a:pt x="0" y="8712073"/>
                    <a:pt x="0" y="863117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138428" y="2861386"/>
            <a:ext cx="5952744" cy="4468225"/>
            <a:chOff x="0" y="0"/>
            <a:chExt cx="7936992" cy="5957634"/>
          </a:xfrm>
        </p:grpSpPr>
        <p:sp>
          <p:nvSpPr>
            <p:cNvPr id="16" name="Freeform 16" descr="/mnt/data/evidencias/Evidencias_EP2_ISY1101/SS-22_WorkflowDeployYML.png"/>
            <p:cNvSpPr/>
            <p:nvPr/>
          </p:nvSpPr>
          <p:spPr>
            <a:xfrm>
              <a:off x="0" y="0"/>
              <a:ext cx="7936992" cy="5957570"/>
            </a:xfrm>
            <a:custGeom>
              <a:avLst/>
              <a:gdLst/>
              <a:ahLst/>
              <a:cxnLst/>
              <a:rect l="l" t="t" r="r" b="b"/>
              <a:pathLst>
                <a:path w="7936992" h="5957570">
                  <a:moveTo>
                    <a:pt x="0" y="0"/>
                  </a:moveTo>
                  <a:lnTo>
                    <a:pt x="7936992" y="0"/>
                  </a:lnTo>
                  <a:lnTo>
                    <a:pt x="7936992" y="5957570"/>
                  </a:lnTo>
                  <a:lnTo>
                    <a:pt x="0" y="5957570"/>
                  </a:lnTo>
                  <a:lnTo>
                    <a:pt x="0" y="0"/>
                  </a:lnTo>
                  <a:close/>
                </a:path>
              </a:pathLst>
            </a:custGeom>
            <a:blipFill>
              <a:blip r:embed="rId4"/>
              <a:stretch>
                <a:fillRect b="-1"/>
              </a:stretch>
            </a:blipFill>
          </p:spPr>
          <p:txBody>
            <a:bodyPr/>
            <a:lstStyle/>
            <a:p>
              <a:endParaRPr lang="es-CL"/>
            </a:p>
          </p:txBody>
        </p:sp>
      </p:grpSp>
      <p:grpSp>
        <p:nvGrpSpPr>
          <p:cNvPr id="17" name="Group 17"/>
          <p:cNvGrpSpPr/>
          <p:nvPr/>
        </p:nvGrpSpPr>
        <p:grpSpPr>
          <a:xfrm>
            <a:off x="1218296" y="7946026"/>
            <a:ext cx="5793008" cy="420845"/>
            <a:chOff x="0" y="0"/>
            <a:chExt cx="6821951" cy="495594"/>
          </a:xfrm>
        </p:grpSpPr>
        <p:sp>
          <p:nvSpPr>
            <p:cNvPr id="18" name="Freeform 18"/>
            <p:cNvSpPr/>
            <p:nvPr/>
          </p:nvSpPr>
          <p:spPr>
            <a:xfrm>
              <a:off x="0" y="0"/>
              <a:ext cx="6821951" cy="495594"/>
            </a:xfrm>
            <a:custGeom>
              <a:avLst/>
              <a:gdLst/>
              <a:ahLst/>
              <a:cxnLst/>
              <a:rect l="l" t="t" r="r" b="b"/>
              <a:pathLst>
                <a:path w="6821951" h="495594">
                  <a:moveTo>
                    <a:pt x="0" y="0"/>
                  </a:moveTo>
                  <a:lnTo>
                    <a:pt x="6821951" y="0"/>
                  </a:lnTo>
                  <a:lnTo>
                    <a:pt x="6821951" y="495594"/>
                  </a:lnTo>
                  <a:lnTo>
                    <a:pt x="0" y="495594"/>
                  </a:lnTo>
                  <a:close/>
                </a:path>
              </a:pathLst>
            </a:custGeom>
            <a:blipFill>
              <a:blip r:embed="rId3">
                <a:alphaModFix amt="0"/>
              </a:blip>
              <a:stretch>
                <a:fillRect t="-273091" r="-14200" b="-239513"/>
              </a:stretch>
            </a:blipFill>
          </p:spPr>
          <p:txBody>
            <a:bodyPr/>
            <a:lstStyle/>
            <a:p>
              <a:endParaRPr lang="es-CL"/>
            </a:p>
          </p:txBody>
        </p:sp>
        <p:sp>
          <p:nvSpPr>
            <p:cNvPr id="19" name="TextBox 19"/>
            <p:cNvSpPr txBox="1"/>
            <p:nvPr/>
          </p:nvSpPr>
          <p:spPr>
            <a:xfrm>
              <a:off x="0" y="0"/>
              <a:ext cx="6821951" cy="495594"/>
            </a:xfrm>
            <a:prstGeom prst="rect">
              <a:avLst/>
            </a:prstGeom>
          </p:spPr>
          <p:txBody>
            <a:bodyPr lIns="0" tIns="0" rIns="0" bIns="0" rtlCol="0" anchor="ctr"/>
            <a:lstStyle/>
            <a:p>
              <a:pPr algn="l">
                <a:lnSpc>
                  <a:spcPts val="2640"/>
                </a:lnSpc>
              </a:pPr>
              <a:r>
                <a:rPr lang="en-US" sz="2200">
                  <a:solidFill>
                    <a:srgbClr val="000000"/>
                  </a:solidFill>
                  <a:latin typeface="Aptos"/>
                  <a:ea typeface="Aptos"/>
                  <a:cs typeface="Aptos"/>
                  <a:sym typeface="Aptos"/>
                </a:rPr>
                <a:t>Workflow deploy.yml: build + push de imágenes</a:t>
              </a:r>
            </a:p>
          </p:txBody>
        </p:sp>
      </p:grpSp>
      <p:grpSp>
        <p:nvGrpSpPr>
          <p:cNvPr id="20" name="Group 20"/>
          <p:cNvGrpSpPr/>
          <p:nvPr/>
        </p:nvGrpSpPr>
        <p:grpSpPr>
          <a:xfrm>
            <a:off x="7578280" y="1954720"/>
            <a:ext cx="4800219" cy="2537079"/>
            <a:chOff x="0" y="0"/>
            <a:chExt cx="6400292" cy="3382772"/>
          </a:xfrm>
        </p:grpSpPr>
        <p:sp>
          <p:nvSpPr>
            <p:cNvPr id="21" name="Freeform 21"/>
            <p:cNvSpPr/>
            <p:nvPr/>
          </p:nvSpPr>
          <p:spPr>
            <a:xfrm>
              <a:off x="0" y="0"/>
              <a:ext cx="6400292" cy="3382772"/>
            </a:xfrm>
            <a:custGeom>
              <a:avLst/>
              <a:gdLst/>
              <a:ahLst/>
              <a:cxnLst/>
              <a:rect l="l" t="t" r="r" b="b"/>
              <a:pathLst>
                <a:path w="6400292" h="3382772">
                  <a:moveTo>
                    <a:pt x="0" y="147066"/>
                  </a:moveTo>
                  <a:cubicBezTo>
                    <a:pt x="0" y="65913"/>
                    <a:pt x="65913" y="0"/>
                    <a:pt x="147066" y="0"/>
                  </a:cubicBezTo>
                  <a:lnTo>
                    <a:pt x="6253226" y="0"/>
                  </a:lnTo>
                  <a:cubicBezTo>
                    <a:pt x="6334506" y="0"/>
                    <a:pt x="6400292" y="65913"/>
                    <a:pt x="6400292" y="147066"/>
                  </a:cubicBezTo>
                  <a:lnTo>
                    <a:pt x="6400292" y="3235706"/>
                  </a:lnTo>
                  <a:cubicBezTo>
                    <a:pt x="6400292" y="3316986"/>
                    <a:pt x="6334379" y="3382772"/>
                    <a:pt x="6253226" y="3382772"/>
                  </a:cubicBezTo>
                  <a:lnTo>
                    <a:pt x="147066" y="3382772"/>
                  </a:lnTo>
                  <a:cubicBezTo>
                    <a:pt x="65913" y="3382772"/>
                    <a:pt x="0" y="3316859"/>
                    <a:pt x="0" y="3235706"/>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7722108" y="2325300"/>
            <a:ext cx="4512564" cy="1494168"/>
            <a:chOff x="0" y="0"/>
            <a:chExt cx="6016752" cy="1992224"/>
          </a:xfrm>
        </p:grpSpPr>
        <p:sp>
          <p:nvSpPr>
            <p:cNvPr id="23" name="Freeform 23" descr="/mnt/data/evidencias/Evidencias_EP2_ISY1101/SS-24_GitHubActionsOK.png"/>
            <p:cNvSpPr/>
            <p:nvPr/>
          </p:nvSpPr>
          <p:spPr>
            <a:xfrm>
              <a:off x="0" y="0"/>
              <a:ext cx="6016752" cy="1992249"/>
            </a:xfrm>
            <a:custGeom>
              <a:avLst/>
              <a:gdLst/>
              <a:ahLst/>
              <a:cxnLst/>
              <a:rect l="l" t="t" r="r" b="b"/>
              <a:pathLst>
                <a:path w="6016752" h="1992249">
                  <a:moveTo>
                    <a:pt x="0" y="0"/>
                  </a:moveTo>
                  <a:lnTo>
                    <a:pt x="6016752" y="0"/>
                  </a:lnTo>
                  <a:lnTo>
                    <a:pt x="6016752" y="1992249"/>
                  </a:lnTo>
                  <a:lnTo>
                    <a:pt x="0" y="1992249"/>
                  </a:lnTo>
                  <a:lnTo>
                    <a:pt x="0" y="0"/>
                  </a:lnTo>
                  <a:close/>
                </a:path>
              </a:pathLst>
            </a:custGeom>
            <a:blipFill>
              <a:blip r:embed="rId5"/>
              <a:stretch>
                <a:fillRect b="1"/>
              </a:stretch>
            </a:blipFill>
          </p:spPr>
          <p:txBody>
            <a:bodyPr/>
            <a:lstStyle/>
            <a:p>
              <a:endParaRPr lang="es-CL"/>
            </a:p>
          </p:txBody>
        </p:sp>
      </p:grpSp>
      <p:grpSp>
        <p:nvGrpSpPr>
          <p:cNvPr id="24" name="Group 24"/>
          <p:cNvGrpSpPr/>
          <p:nvPr/>
        </p:nvGrpSpPr>
        <p:grpSpPr>
          <a:xfrm>
            <a:off x="7776972" y="4128516"/>
            <a:ext cx="4402836" cy="246888"/>
            <a:chOff x="0" y="0"/>
            <a:chExt cx="5870448" cy="329184"/>
          </a:xfrm>
        </p:grpSpPr>
        <p:sp>
          <p:nvSpPr>
            <p:cNvPr id="25" name="Freeform 25"/>
            <p:cNvSpPr/>
            <p:nvPr/>
          </p:nvSpPr>
          <p:spPr>
            <a:xfrm>
              <a:off x="0" y="0"/>
              <a:ext cx="5870448" cy="329184"/>
            </a:xfrm>
            <a:custGeom>
              <a:avLst/>
              <a:gdLst/>
              <a:ahLst/>
              <a:cxnLst/>
              <a:rect l="l" t="t" r="r" b="b"/>
              <a:pathLst>
                <a:path w="5870448" h="329184">
                  <a:moveTo>
                    <a:pt x="0" y="0"/>
                  </a:moveTo>
                  <a:lnTo>
                    <a:pt x="5870448" y="0"/>
                  </a:lnTo>
                  <a:lnTo>
                    <a:pt x="5870448" y="329184"/>
                  </a:lnTo>
                  <a:lnTo>
                    <a:pt x="0" y="329184"/>
                  </a:lnTo>
                  <a:close/>
                </a:path>
              </a:pathLst>
            </a:custGeom>
            <a:blipFill>
              <a:blip r:embed="rId3">
                <a:alphaModFix amt="0"/>
              </a:blip>
              <a:stretch>
                <a:fillRect t="-297483" b="-297483"/>
              </a:stretch>
            </a:blipFill>
          </p:spPr>
          <p:txBody>
            <a:bodyPr/>
            <a:lstStyle/>
            <a:p>
              <a:endParaRPr lang="es-CL"/>
            </a:p>
          </p:txBody>
        </p:sp>
        <p:sp>
          <p:nvSpPr>
            <p:cNvPr id="26" name="TextBox 26"/>
            <p:cNvSpPr txBox="1"/>
            <p:nvPr/>
          </p:nvSpPr>
          <p:spPr>
            <a:xfrm>
              <a:off x="0" y="0"/>
              <a:ext cx="587044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Run exitoso en rama deploy</a:t>
              </a:r>
            </a:p>
          </p:txBody>
        </p:sp>
      </p:grpSp>
      <p:grpSp>
        <p:nvGrpSpPr>
          <p:cNvPr id="27" name="Group 27"/>
          <p:cNvGrpSpPr/>
          <p:nvPr/>
        </p:nvGrpSpPr>
        <p:grpSpPr>
          <a:xfrm>
            <a:off x="12721780" y="1954720"/>
            <a:ext cx="4182999" cy="6583299"/>
            <a:chOff x="0" y="0"/>
            <a:chExt cx="5577332" cy="8777732"/>
          </a:xfrm>
        </p:grpSpPr>
        <p:sp>
          <p:nvSpPr>
            <p:cNvPr id="28" name="Freeform 28"/>
            <p:cNvSpPr/>
            <p:nvPr/>
          </p:nvSpPr>
          <p:spPr>
            <a:xfrm>
              <a:off x="0" y="0"/>
              <a:ext cx="5577332" cy="8777732"/>
            </a:xfrm>
            <a:custGeom>
              <a:avLst/>
              <a:gdLst/>
              <a:ahLst/>
              <a:cxnLst/>
              <a:rect l="l" t="t" r="r" b="b"/>
              <a:pathLst>
                <a:path w="5577332" h="8777732">
                  <a:moveTo>
                    <a:pt x="0" y="146812"/>
                  </a:moveTo>
                  <a:cubicBezTo>
                    <a:pt x="0" y="65786"/>
                    <a:pt x="65786" y="0"/>
                    <a:pt x="146812" y="0"/>
                  </a:cubicBezTo>
                  <a:lnTo>
                    <a:pt x="5430520" y="0"/>
                  </a:lnTo>
                  <a:cubicBezTo>
                    <a:pt x="5511546" y="0"/>
                    <a:pt x="5577332" y="65786"/>
                    <a:pt x="5577332" y="146812"/>
                  </a:cubicBezTo>
                  <a:lnTo>
                    <a:pt x="5577332" y="8630920"/>
                  </a:lnTo>
                  <a:cubicBezTo>
                    <a:pt x="5577332" y="8711946"/>
                    <a:pt x="5511546" y="8777732"/>
                    <a:pt x="5430520" y="8777732"/>
                  </a:cubicBezTo>
                  <a:lnTo>
                    <a:pt x="146812" y="8777732"/>
                  </a:lnTo>
                  <a:cubicBezTo>
                    <a:pt x="65786" y="8777732"/>
                    <a:pt x="0" y="8711946"/>
                    <a:pt x="0" y="8630920"/>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2865608" y="2724417"/>
            <a:ext cx="3895344" cy="4742155"/>
            <a:chOff x="0" y="0"/>
            <a:chExt cx="5193792" cy="6322873"/>
          </a:xfrm>
        </p:grpSpPr>
        <p:sp>
          <p:nvSpPr>
            <p:cNvPr id="30" name="Freeform 30" descr="/mnt/data/evidencias/Evidencias_EP2_ISY1101/SS-24B_GitHubActionsDetalleOK.png"/>
            <p:cNvSpPr/>
            <p:nvPr/>
          </p:nvSpPr>
          <p:spPr>
            <a:xfrm>
              <a:off x="0" y="0"/>
              <a:ext cx="5193792" cy="6322822"/>
            </a:xfrm>
            <a:custGeom>
              <a:avLst/>
              <a:gdLst/>
              <a:ahLst/>
              <a:cxnLst/>
              <a:rect l="l" t="t" r="r" b="b"/>
              <a:pathLst>
                <a:path w="5193792" h="6322822">
                  <a:moveTo>
                    <a:pt x="0" y="0"/>
                  </a:moveTo>
                  <a:lnTo>
                    <a:pt x="5193792" y="0"/>
                  </a:lnTo>
                  <a:lnTo>
                    <a:pt x="5193792" y="6322822"/>
                  </a:lnTo>
                  <a:lnTo>
                    <a:pt x="0" y="6322822"/>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12920472" y="8174736"/>
            <a:ext cx="3785616" cy="246888"/>
            <a:chOff x="0" y="0"/>
            <a:chExt cx="5047488" cy="329184"/>
          </a:xfrm>
        </p:grpSpPr>
        <p:sp>
          <p:nvSpPr>
            <p:cNvPr id="32" name="Freeform 32"/>
            <p:cNvSpPr/>
            <p:nvPr/>
          </p:nvSpPr>
          <p:spPr>
            <a:xfrm>
              <a:off x="0" y="0"/>
              <a:ext cx="5047488" cy="329184"/>
            </a:xfrm>
            <a:custGeom>
              <a:avLst/>
              <a:gdLst/>
              <a:ahLst/>
              <a:cxnLst/>
              <a:rect l="l" t="t" r="r" b="b"/>
              <a:pathLst>
                <a:path w="5047488" h="329184">
                  <a:moveTo>
                    <a:pt x="0" y="0"/>
                  </a:moveTo>
                  <a:lnTo>
                    <a:pt x="5047488" y="0"/>
                  </a:lnTo>
                  <a:lnTo>
                    <a:pt x="5047488" y="329184"/>
                  </a:lnTo>
                  <a:lnTo>
                    <a:pt x="0" y="329184"/>
                  </a:lnTo>
                  <a:close/>
                </a:path>
              </a:pathLst>
            </a:custGeom>
            <a:blipFill>
              <a:blip r:embed="rId3">
                <a:alphaModFix amt="0"/>
              </a:blip>
              <a:stretch>
                <a:fillRect t="-248770" b="-248770"/>
              </a:stretch>
            </a:blipFill>
          </p:spPr>
          <p:txBody>
            <a:bodyPr/>
            <a:lstStyle/>
            <a:p>
              <a:endParaRPr lang="es-CL"/>
            </a:p>
          </p:txBody>
        </p:sp>
        <p:sp>
          <p:nvSpPr>
            <p:cNvPr id="33" name="TextBox 33"/>
            <p:cNvSpPr txBox="1"/>
            <p:nvPr/>
          </p:nvSpPr>
          <p:spPr>
            <a:xfrm>
              <a:off x="0" y="0"/>
              <a:ext cx="504748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Detalle: imágenes construidas correctamente</a:t>
              </a:r>
            </a:p>
          </p:txBody>
        </p:sp>
      </p:grpSp>
      <p:grpSp>
        <p:nvGrpSpPr>
          <p:cNvPr id="34" name="Group 34"/>
          <p:cNvGrpSpPr/>
          <p:nvPr/>
        </p:nvGrpSpPr>
        <p:grpSpPr>
          <a:xfrm>
            <a:off x="7836027" y="5024247"/>
            <a:ext cx="595122" cy="595122"/>
            <a:chOff x="0" y="0"/>
            <a:chExt cx="793496" cy="793496"/>
          </a:xfrm>
        </p:grpSpPr>
        <p:sp>
          <p:nvSpPr>
            <p:cNvPr id="35" name="Freeform 35"/>
            <p:cNvSpPr/>
            <p:nvPr/>
          </p:nvSpPr>
          <p:spPr>
            <a:xfrm>
              <a:off x="0" y="0"/>
              <a:ext cx="793496" cy="793496"/>
            </a:xfrm>
            <a:custGeom>
              <a:avLst/>
              <a:gdLst/>
              <a:ahLst/>
              <a:cxnLst/>
              <a:rect l="l" t="t" r="r" b="b"/>
              <a:pathLst>
                <a:path w="793496" h="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D9488"/>
            </a:solidFill>
            <a:ln w="19050" cap="sq">
              <a:solidFill>
                <a:srgbClr val="0D9488"/>
              </a:solidFill>
              <a:prstDash val="solid"/>
              <a:miter/>
            </a:ln>
          </p:spPr>
          <p:txBody>
            <a:bodyPr/>
            <a:lstStyle/>
            <a:p>
              <a:endParaRPr lang="es-CL"/>
            </a:p>
          </p:txBody>
        </p:sp>
      </p:grpSp>
      <p:grpSp>
        <p:nvGrpSpPr>
          <p:cNvPr id="36" name="Group 36"/>
          <p:cNvGrpSpPr/>
          <p:nvPr/>
        </p:nvGrpSpPr>
        <p:grpSpPr>
          <a:xfrm>
            <a:off x="7845552" y="5157216"/>
            <a:ext cx="576072" cy="192024"/>
            <a:chOff x="0" y="0"/>
            <a:chExt cx="768096" cy="256032"/>
          </a:xfrm>
        </p:grpSpPr>
        <p:sp>
          <p:nvSpPr>
            <p:cNvPr id="37" name="Freeform 37"/>
            <p:cNvSpPr/>
            <p:nvPr/>
          </p:nvSpPr>
          <p:spPr>
            <a:xfrm>
              <a:off x="0" y="0"/>
              <a:ext cx="768096" cy="256032"/>
            </a:xfrm>
            <a:custGeom>
              <a:avLst/>
              <a:gdLst/>
              <a:ahLst/>
              <a:cxnLst/>
              <a:rect l="l" t="t" r="r" b="b"/>
              <a:pathLst>
                <a:path w="768096" h="256032">
                  <a:moveTo>
                    <a:pt x="0" y="0"/>
                  </a:moveTo>
                  <a:lnTo>
                    <a:pt x="768096" y="0"/>
                  </a:lnTo>
                  <a:lnTo>
                    <a:pt x="768096" y="256032"/>
                  </a:lnTo>
                  <a:lnTo>
                    <a:pt x="0" y="256032"/>
                  </a:lnTo>
                  <a:close/>
                </a:path>
              </a:pathLst>
            </a:custGeom>
            <a:blipFill>
              <a:blip r:embed="rId3">
                <a:alphaModFix amt="0"/>
              </a:blip>
              <a:stretch>
                <a:fillRect t="-8455" b="-8455"/>
              </a:stretch>
            </a:blipFill>
          </p:spPr>
          <p:txBody>
            <a:bodyPr/>
            <a:lstStyle/>
            <a:p>
              <a:endParaRPr lang="es-CL"/>
            </a:p>
          </p:txBody>
        </p:sp>
        <p:sp>
          <p:nvSpPr>
            <p:cNvPr id="38" name="TextBox 38"/>
            <p:cNvSpPr txBox="1"/>
            <p:nvPr/>
          </p:nvSpPr>
          <p:spPr>
            <a:xfrm>
              <a:off x="0" y="0"/>
              <a:ext cx="768096" cy="256032"/>
            </a:xfrm>
            <a:prstGeom prst="rect">
              <a:avLst/>
            </a:prstGeom>
          </p:spPr>
          <p:txBody>
            <a:bodyPr lIns="0" tIns="0" rIns="0" bIns="0" rtlCol="0" anchor="ctr"/>
            <a:lstStyle/>
            <a:p>
              <a:pPr algn="ctr">
                <a:lnSpc>
                  <a:spcPts val="1709"/>
                </a:lnSpc>
              </a:pPr>
              <a:r>
                <a:rPr lang="en-US" sz="1425" b="1">
                  <a:solidFill>
                    <a:srgbClr val="FFFFFF"/>
                  </a:solidFill>
                  <a:latin typeface="Aptos Bold"/>
                  <a:ea typeface="Aptos Bold"/>
                  <a:cs typeface="Aptos Bold"/>
                  <a:sym typeface="Aptos Bold"/>
                </a:rPr>
                <a:t>1</a:t>
              </a:r>
            </a:p>
          </p:txBody>
        </p:sp>
      </p:grpSp>
      <p:grpSp>
        <p:nvGrpSpPr>
          <p:cNvPr id="39" name="Group 39"/>
          <p:cNvGrpSpPr/>
          <p:nvPr/>
        </p:nvGrpSpPr>
        <p:grpSpPr>
          <a:xfrm>
            <a:off x="8641080" y="4992624"/>
            <a:ext cx="3593592" cy="301752"/>
            <a:chOff x="0" y="0"/>
            <a:chExt cx="4791456" cy="402336"/>
          </a:xfrm>
        </p:grpSpPr>
        <p:sp>
          <p:nvSpPr>
            <p:cNvPr id="40" name="Freeform 40"/>
            <p:cNvSpPr/>
            <p:nvPr/>
          </p:nvSpPr>
          <p:spPr>
            <a:xfrm>
              <a:off x="0" y="0"/>
              <a:ext cx="4791456" cy="402336"/>
            </a:xfrm>
            <a:custGeom>
              <a:avLst/>
              <a:gdLst/>
              <a:ahLst/>
              <a:cxnLst/>
              <a:rect l="l" t="t" r="r" b="b"/>
              <a:pathLst>
                <a:path w="4791456" h="402336">
                  <a:moveTo>
                    <a:pt x="0" y="0"/>
                  </a:moveTo>
                  <a:lnTo>
                    <a:pt x="4791456" y="0"/>
                  </a:lnTo>
                  <a:lnTo>
                    <a:pt x="4791456" y="402336"/>
                  </a:lnTo>
                  <a:lnTo>
                    <a:pt x="0" y="402336"/>
                  </a:lnTo>
                  <a:close/>
                </a:path>
              </a:pathLst>
            </a:custGeom>
            <a:blipFill>
              <a:blip r:embed="rId3">
                <a:alphaModFix amt="0"/>
              </a:blip>
              <a:stretch>
                <a:fillRect t="-182049" b="-182049"/>
              </a:stretch>
            </a:blipFill>
          </p:spPr>
          <p:txBody>
            <a:bodyPr/>
            <a:lstStyle/>
            <a:p>
              <a:endParaRPr lang="es-CL"/>
            </a:p>
          </p:txBody>
        </p:sp>
        <p:sp>
          <p:nvSpPr>
            <p:cNvPr id="41" name="TextBox 41"/>
            <p:cNvSpPr txBox="1"/>
            <p:nvPr/>
          </p:nvSpPr>
          <p:spPr>
            <a:xfrm>
              <a:off x="0" y="0"/>
              <a:ext cx="4791456" cy="402336"/>
            </a:xfrm>
            <a:prstGeom prst="rect">
              <a:avLst/>
            </a:prstGeom>
          </p:spPr>
          <p:txBody>
            <a:bodyPr lIns="0" tIns="0" rIns="0" bIns="0" rtlCol="0" anchor="ctr"/>
            <a:lstStyle/>
            <a:p>
              <a:pPr algn="l">
                <a:lnSpc>
                  <a:spcPts val="2070"/>
                </a:lnSpc>
              </a:pPr>
              <a:r>
                <a:rPr lang="en-US" sz="1725" b="1">
                  <a:solidFill>
                    <a:srgbClr val="18212F"/>
                  </a:solidFill>
                  <a:latin typeface="Aptos Bold"/>
                  <a:ea typeface="Aptos Bold"/>
                  <a:cs typeface="Aptos Bold"/>
                  <a:sym typeface="Aptos Bold"/>
                </a:rPr>
                <a:t>Trigger</a:t>
              </a:r>
            </a:p>
          </p:txBody>
        </p:sp>
      </p:grpSp>
      <p:grpSp>
        <p:nvGrpSpPr>
          <p:cNvPr id="42" name="Group 42"/>
          <p:cNvGrpSpPr/>
          <p:nvPr/>
        </p:nvGrpSpPr>
        <p:grpSpPr>
          <a:xfrm>
            <a:off x="8641080" y="5376672"/>
            <a:ext cx="3593592" cy="493776"/>
            <a:chOff x="0" y="0"/>
            <a:chExt cx="4791456" cy="658368"/>
          </a:xfrm>
        </p:grpSpPr>
        <p:sp>
          <p:nvSpPr>
            <p:cNvPr id="43" name="Freeform 43"/>
            <p:cNvSpPr/>
            <p:nvPr/>
          </p:nvSpPr>
          <p:spPr>
            <a:xfrm>
              <a:off x="0" y="0"/>
              <a:ext cx="4791456" cy="658368"/>
            </a:xfrm>
            <a:custGeom>
              <a:avLst/>
              <a:gdLst/>
              <a:ahLst/>
              <a:cxnLst/>
              <a:rect l="l" t="t" r="r" b="b"/>
              <a:pathLst>
                <a:path w="4791456" h="658368">
                  <a:moveTo>
                    <a:pt x="0" y="0"/>
                  </a:moveTo>
                  <a:lnTo>
                    <a:pt x="4791456" y="0"/>
                  </a:lnTo>
                  <a:lnTo>
                    <a:pt x="4791456" y="658368"/>
                  </a:lnTo>
                  <a:lnTo>
                    <a:pt x="0" y="658368"/>
                  </a:lnTo>
                  <a:close/>
                </a:path>
              </a:pathLst>
            </a:custGeom>
            <a:blipFill>
              <a:blip r:embed="rId3">
                <a:alphaModFix amt="0"/>
              </a:blip>
              <a:stretch>
                <a:fillRect t="-91807" b="-91807"/>
              </a:stretch>
            </a:blipFill>
          </p:spPr>
          <p:txBody>
            <a:bodyPr/>
            <a:lstStyle/>
            <a:p>
              <a:endParaRPr lang="es-CL"/>
            </a:p>
          </p:txBody>
        </p:sp>
        <p:sp>
          <p:nvSpPr>
            <p:cNvPr id="44" name="TextBox 44"/>
            <p:cNvSpPr txBox="1"/>
            <p:nvPr/>
          </p:nvSpPr>
          <p:spPr>
            <a:xfrm>
              <a:off x="0" y="-9525"/>
              <a:ext cx="4791456" cy="667893"/>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push sobre rama deploy</a:t>
              </a:r>
            </a:p>
          </p:txBody>
        </p:sp>
      </p:grpSp>
      <p:grpSp>
        <p:nvGrpSpPr>
          <p:cNvPr id="45" name="Group 45"/>
          <p:cNvGrpSpPr/>
          <p:nvPr/>
        </p:nvGrpSpPr>
        <p:grpSpPr>
          <a:xfrm>
            <a:off x="7836027" y="6167247"/>
            <a:ext cx="595122" cy="595122"/>
            <a:chOff x="0" y="0"/>
            <a:chExt cx="793496" cy="793496"/>
          </a:xfrm>
        </p:grpSpPr>
        <p:sp>
          <p:nvSpPr>
            <p:cNvPr id="46" name="Freeform 46"/>
            <p:cNvSpPr/>
            <p:nvPr/>
          </p:nvSpPr>
          <p:spPr>
            <a:xfrm>
              <a:off x="0" y="0"/>
              <a:ext cx="793496" cy="793496"/>
            </a:xfrm>
            <a:custGeom>
              <a:avLst/>
              <a:gdLst/>
              <a:ahLst/>
              <a:cxnLst/>
              <a:rect l="l" t="t" r="r" b="b"/>
              <a:pathLst>
                <a:path w="793496" h="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D9488"/>
            </a:solidFill>
            <a:ln w="19050" cap="sq">
              <a:solidFill>
                <a:srgbClr val="0D9488"/>
              </a:solidFill>
              <a:prstDash val="solid"/>
              <a:miter/>
            </a:ln>
          </p:spPr>
          <p:txBody>
            <a:bodyPr/>
            <a:lstStyle/>
            <a:p>
              <a:endParaRPr lang="es-CL"/>
            </a:p>
          </p:txBody>
        </p:sp>
      </p:grpSp>
      <p:grpSp>
        <p:nvGrpSpPr>
          <p:cNvPr id="47" name="Group 47"/>
          <p:cNvGrpSpPr/>
          <p:nvPr/>
        </p:nvGrpSpPr>
        <p:grpSpPr>
          <a:xfrm>
            <a:off x="7845552" y="6300216"/>
            <a:ext cx="576072" cy="192024"/>
            <a:chOff x="0" y="0"/>
            <a:chExt cx="768096" cy="256032"/>
          </a:xfrm>
        </p:grpSpPr>
        <p:sp>
          <p:nvSpPr>
            <p:cNvPr id="48" name="Freeform 48"/>
            <p:cNvSpPr/>
            <p:nvPr/>
          </p:nvSpPr>
          <p:spPr>
            <a:xfrm>
              <a:off x="0" y="0"/>
              <a:ext cx="768096" cy="256032"/>
            </a:xfrm>
            <a:custGeom>
              <a:avLst/>
              <a:gdLst/>
              <a:ahLst/>
              <a:cxnLst/>
              <a:rect l="l" t="t" r="r" b="b"/>
              <a:pathLst>
                <a:path w="768096" h="256032">
                  <a:moveTo>
                    <a:pt x="0" y="0"/>
                  </a:moveTo>
                  <a:lnTo>
                    <a:pt x="768096" y="0"/>
                  </a:lnTo>
                  <a:lnTo>
                    <a:pt x="768096" y="256032"/>
                  </a:lnTo>
                  <a:lnTo>
                    <a:pt x="0" y="256032"/>
                  </a:lnTo>
                  <a:close/>
                </a:path>
              </a:pathLst>
            </a:custGeom>
            <a:blipFill>
              <a:blip r:embed="rId3">
                <a:alphaModFix amt="0"/>
              </a:blip>
              <a:stretch>
                <a:fillRect t="-8455" b="-8455"/>
              </a:stretch>
            </a:blipFill>
          </p:spPr>
          <p:txBody>
            <a:bodyPr/>
            <a:lstStyle/>
            <a:p>
              <a:endParaRPr lang="es-CL"/>
            </a:p>
          </p:txBody>
        </p:sp>
        <p:sp>
          <p:nvSpPr>
            <p:cNvPr id="49" name="TextBox 49"/>
            <p:cNvSpPr txBox="1"/>
            <p:nvPr/>
          </p:nvSpPr>
          <p:spPr>
            <a:xfrm>
              <a:off x="0" y="0"/>
              <a:ext cx="768096" cy="256032"/>
            </a:xfrm>
            <a:prstGeom prst="rect">
              <a:avLst/>
            </a:prstGeom>
          </p:spPr>
          <p:txBody>
            <a:bodyPr lIns="0" tIns="0" rIns="0" bIns="0" rtlCol="0" anchor="ctr"/>
            <a:lstStyle/>
            <a:p>
              <a:pPr algn="ctr">
                <a:lnSpc>
                  <a:spcPts val="1709"/>
                </a:lnSpc>
              </a:pPr>
              <a:r>
                <a:rPr lang="en-US" sz="1425" b="1">
                  <a:solidFill>
                    <a:srgbClr val="FFFFFF"/>
                  </a:solidFill>
                  <a:latin typeface="Aptos Bold"/>
                  <a:ea typeface="Aptos Bold"/>
                  <a:cs typeface="Aptos Bold"/>
                  <a:sym typeface="Aptos Bold"/>
                </a:rPr>
                <a:t>2</a:t>
              </a:r>
            </a:p>
          </p:txBody>
        </p:sp>
      </p:grpSp>
      <p:grpSp>
        <p:nvGrpSpPr>
          <p:cNvPr id="50" name="Group 50"/>
          <p:cNvGrpSpPr/>
          <p:nvPr/>
        </p:nvGrpSpPr>
        <p:grpSpPr>
          <a:xfrm>
            <a:off x="8641080" y="6135624"/>
            <a:ext cx="3593592" cy="301752"/>
            <a:chOff x="0" y="0"/>
            <a:chExt cx="4791456" cy="402336"/>
          </a:xfrm>
        </p:grpSpPr>
        <p:sp>
          <p:nvSpPr>
            <p:cNvPr id="51" name="Freeform 51"/>
            <p:cNvSpPr/>
            <p:nvPr/>
          </p:nvSpPr>
          <p:spPr>
            <a:xfrm>
              <a:off x="0" y="0"/>
              <a:ext cx="4791456" cy="402336"/>
            </a:xfrm>
            <a:custGeom>
              <a:avLst/>
              <a:gdLst/>
              <a:ahLst/>
              <a:cxnLst/>
              <a:rect l="l" t="t" r="r" b="b"/>
              <a:pathLst>
                <a:path w="4791456" h="402336">
                  <a:moveTo>
                    <a:pt x="0" y="0"/>
                  </a:moveTo>
                  <a:lnTo>
                    <a:pt x="4791456" y="0"/>
                  </a:lnTo>
                  <a:lnTo>
                    <a:pt x="4791456" y="402336"/>
                  </a:lnTo>
                  <a:lnTo>
                    <a:pt x="0" y="402336"/>
                  </a:lnTo>
                  <a:close/>
                </a:path>
              </a:pathLst>
            </a:custGeom>
            <a:blipFill>
              <a:blip r:embed="rId3">
                <a:alphaModFix amt="0"/>
              </a:blip>
              <a:stretch>
                <a:fillRect t="-182049" b="-182049"/>
              </a:stretch>
            </a:blipFill>
          </p:spPr>
          <p:txBody>
            <a:bodyPr/>
            <a:lstStyle/>
            <a:p>
              <a:endParaRPr lang="es-CL"/>
            </a:p>
          </p:txBody>
        </p:sp>
        <p:sp>
          <p:nvSpPr>
            <p:cNvPr id="52" name="TextBox 52"/>
            <p:cNvSpPr txBox="1"/>
            <p:nvPr/>
          </p:nvSpPr>
          <p:spPr>
            <a:xfrm>
              <a:off x="0" y="0"/>
              <a:ext cx="4791456" cy="402336"/>
            </a:xfrm>
            <a:prstGeom prst="rect">
              <a:avLst/>
            </a:prstGeom>
          </p:spPr>
          <p:txBody>
            <a:bodyPr lIns="0" tIns="0" rIns="0" bIns="0" rtlCol="0" anchor="ctr"/>
            <a:lstStyle/>
            <a:p>
              <a:pPr algn="l">
                <a:lnSpc>
                  <a:spcPts val="2070"/>
                </a:lnSpc>
              </a:pPr>
              <a:r>
                <a:rPr lang="en-US" sz="1725" b="1">
                  <a:solidFill>
                    <a:srgbClr val="18212F"/>
                  </a:solidFill>
                  <a:latin typeface="Aptos Bold"/>
                  <a:ea typeface="Aptos Bold"/>
                  <a:cs typeface="Aptos Bold"/>
                  <a:sym typeface="Aptos Bold"/>
                </a:rPr>
                <a:t>Secrets</a:t>
              </a:r>
            </a:p>
          </p:txBody>
        </p:sp>
      </p:grpSp>
      <p:grpSp>
        <p:nvGrpSpPr>
          <p:cNvPr id="53" name="Group 53"/>
          <p:cNvGrpSpPr/>
          <p:nvPr/>
        </p:nvGrpSpPr>
        <p:grpSpPr>
          <a:xfrm>
            <a:off x="8641080" y="6519672"/>
            <a:ext cx="3593592" cy="493776"/>
            <a:chOff x="0" y="0"/>
            <a:chExt cx="4791456" cy="658368"/>
          </a:xfrm>
        </p:grpSpPr>
        <p:sp>
          <p:nvSpPr>
            <p:cNvPr id="54" name="Freeform 54"/>
            <p:cNvSpPr/>
            <p:nvPr/>
          </p:nvSpPr>
          <p:spPr>
            <a:xfrm>
              <a:off x="0" y="0"/>
              <a:ext cx="4791456" cy="658368"/>
            </a:xfrm>
            <a:custGeom>
              <a:avLst/>
              <a:gdLst/>
              <a:ahLst/>
              <a:cxnLst/>
              <a:rect l="l" t="t" r="r" b="b"/>
              <a:pathLst>
                <a:path w="4791456" h="658368">
                  <a:moveTo>
                    <a:pt x="0" y="0"/>
                  </a:moveTo>
                  <a:lnTo>
                    <a:pt x="4791456" y="0"/>
                  </a:lnTo>
                  <a:lnTo>
                    <a:pt x="4791456" y="658368"/>
                  </a:lnTo>
                  <a:lnTo>
                    <a:pt x="0" y="658368"/>
                  </a:lnTo>
                  <a:close/>
                </a:path>
              </a:pathLst>
            </a:custGeom>
            <a:blipFill>
              <a:blip r:embed="rId3">
                <a:alphaModFix amt="0"/>
              </a:blip>
              <a:stretch>
                <a:fillRect t="-91807" b="-91807"/>
              </a:stretch>
            </a:blipFill>
          </p:spPr>
          <p:txBody>
            <a:bodyPr/>
            <a:lstStyle/>
            <a:p>
              <a:endParaRPr lang="es-CL"/>
            </a:p>
          </p:txBody>
        </p:sp>
        <p:sp>
          <p:nvSpPr>
            <p:cNvPr id="55" name="TextBox 55"/>
            <p:cNvSpPr txBox="1"/>
            <p:nvPr/>
          </p:nvSpPr>
          <p:spPr>
            <a:xfrm>
              <a:off x="0" y="-9525"/>
              <a:ext cx="4791456" cy="667893"/>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DOCKERHUB_USERNAME y DOCKERHUB_TOKEN</a:t>
              </a:r>
            </a:p>
          </p:txBody>
        </p:sp>
      </p:grpSp>
      <p:grpSp>
        <p:nvGrpSpPr>
          <p:cNvPr id="56" name="Group 56"/>
          <p:cNvGrpSpPr/>
          <p:nvPr/>
        </p:nvGrpSpPr>
        <p:grpSpPr>
          <a:xfrm>
            <a:off x="7836027" y="7310247"/>
            <a:ext cx="595122" cy="595122"/>
            <a:chOff x="0" y="0"/>
            <a:chExt cx="793496" cy="793496"/>
          </a:xfrm>
        </p:grpSpPr>
        <p:sp>
          <p:nvSpPr>
            <p:cNvPr id="57" name="Freeform 57"/>
            <p:cNvSpPr/>
            <p:nvPr/>
          </p:nvSpPr>
          <p:spPr>
            <a:xfrm>
              <a:off x="0" y="0"/>
              <a:ext cx="793496" cy="793496"/>
            </a:xfrm>
            <a:custGeom>
              <a:avLst/>
              <a:gdLst/>
              <a:ahLst/>
              <a:cxnLst/>
              <a:rect l="l" t="t" r="r" b="b"/>
              <a:pathLst>
                <a:path w="793496" h="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D9488"/>
            </a:solidFill>
            <a:ln w="19050" cap="sq">
              <a:solidFill>
                <a:srgbClr val="0D9488"/>
              </a:solidFill>
              <a:prstDash val="solid"/>
              <a:miter/>
            </a:ln>
          </p:spPr>
          <p:txBody>
            <a:bodyPr/>
            <a:lstStyle/>
            <a:p>
              <a:endParaRPr lang="es-CL"/>
            </a:p>
          </p:txBody>
        </p:sp>
      </p:grpSp>
      <p:grpSp>
        <p:nvGrpSpPr>
          <p:cNvPr id="58" name="Group 58"/>
          <p:cNvGrpSpPr/>
          <p:nvPr/>
        </p:nvGrpSpPr>
        <p:grpSpPr>
          <a:xfrm>
            <a:off x="7845552" y="7443216"/>
            <a:ext cx="576072" cy="192024"/>
            <a:chOff x="0" y="0"/>
            <a:chExt cx="768096" cy="256032"/>
          </a:xfrm>
        </p:grpSpPr>
        <p:sp>
          <p:nvSpPr>
            <p:cNvPr id="59" name="Freeform 59"/>
            <p:cNvSpPr/>
            <p:nvPr/>
          </p:nvSpPr>
          <p:spPr>
            <a:xfrm>
              <a:off x="0" y="0"/>
              <a:ext cx="768096" cy="256032"/>
            </a:xfrm>
            <a:custGeom>
              <a:avLst/>
              <a:gdLst/>
              <a:ahLst/>
              <a:cxnLst/>
              <a:rect l="l" t="t" r="r" b="b"/>
              <a:pathLst>
                <a:path w="768096" h="256032">
                  <a:moveTo>
                    <a:pt x="0" y="0"/>
                  </a:moveTo>
                  <a:lnTo>
                    <a:pt x="768096" y="0"/>
                  </a:lnTo>
                  <a:lnTo>
                    <a:pt x="768096" y="256032"/>
                  </a:lnTo>
                  <a:lnTo>
                    <a:pt x="0" y="256032"/>
                  </a:lnTo>
                  <a:close/>
                </a:path>
              </a:pathLst>
            </a:custGeom>
            <a:blipFill>
              <a:blip r:embed="rId3">
                <a:alphaModFix amt="0"/>
              </a:blip>
              <a:stretch>
                <a:fillRect t="-8455" b="-8455"/>
              </a:stretch>
            </a:blipFill>
          </p:spPr>
          <p:txBody>
            <a:bodyPr/>
            <a:lstStyle/>
            <a:p>
              <a:endParaRPr lang="es-CL"/>
            </a:p>
          </p:txBody>
        </p:sp>
        <p:sp>
          <p:nvSpPr>
            <p:cNvPr id="60" name="TextBox 60"/>
            <p:cNvSpPr txBox="1"/>
            <p:nvPr/>
          </p:nvSpPr>
          <p:spPr>
            <a:xfrm>
              <a:off x="0" y="0"/>
              <a:ext cx="768096" cy="256032"/>
            </a:xfrm>
            <a:prstGeom prst="rect">
              <a:avLst/>
            </a:prstGeom>
          </p:spPr>
          <p:txBody>
            <a:bodyPr lIns="0" tIns="0" rIns="0" bIns="0" rtlCol="0" anchor="ctr"/>
            <a:lstStyle/>
            <a:p>
              <a:pPr algn="ctr">
                <a:lnSpc>
                  <a:spcPts val="1709"/>
                </a:lnSpc>
              </a:pPr>
              <a:r>
                <a:rPr lang="en-US" sz="1425" b="1">
                  <a:solidFill>
                    <a:srgbClr val="FFFFFF"/>
                  </a:solidFill>
                  <a:latin typeface="Aptos Bold"/>
                  <a:ea typeface="Aptos Bold"/>
                  <a:cs typeface="Aptos Bold"/>
                  <a:sym typeface="Aptos Bold"/>
                </a:rPr>
                <a:t>3</a:t>
              </a:r>
            </a:p>
          </p:txBody>
        </p:sp>
      </p:grpSp>
      <p:grpSp>
        <p:nvGrpSpPr>
          <p:cNvPr id="61" name="Group 61"/>
          <p:cNvGrpSpPr/>
          <p:nvPr/>
        </p:nvGrpSpPr>
        <p:grpSpPr>
          <a:xfrm>
            <a:off x="8641080" y="7278624"/>
            <a:ext cx="3593592" cy="301752"/>
            <a:chOff x="0" y="0"/>
            <a:chExt cx="4791456" cy="402336"/>
          </a:xfrm>
        </p:grpSpPr>
        <p:sp>
          <p:nvSpPr>
            <p:cNvPr id="62" name="Freeform 62"/>
            <p:cNvSpPr/>
            <p:nvPr/>
          </p:nvSpPr>
          <p:spPr>
            <a:xfrm>
              <a:off x="0" y="0"/>
              <a:ext cx="4791456" cy="402336"/>
            </a:xfrm>
            <a:custGeom>
              <a:avLst/>
              <a:gdLst/>
              <a:ahLst/>
              <a:cxnLst/>
              <a:rect l="l" t="t" r="r" b="b"/>
              <a:pathLst>
                <a:path w="4791456" h="402336">
                  <a:moveTo>
                    <a:pt x="0" y="0"/>
                  </a:moveTo>
                  <a:lnTo>
                    <a:pt x="4791456" y="0"/>
                  </a:lnTo>
                  <a:lnTo>
                    <a:pt x="4791456" y="402336"/>
                  </a:lnTo>
                  <a:lnTo>
                    <a:pt x="0" y="402336"/>
                  </a:lnTo>
                  <a:close/>
                </a:path>
              </a:pathLst>
            </a:custGeom>
            <a:blipFill>
              <a:blip r:embed="rId3">
                <a:alphaModFix amt="0"/>
              </a:blip>
              <a:stretch>
                <a:fillRect t="-182049" b="-182049"/>
              </a:stretch>
            </a:blipFill>
          </p:spPr>
          <p:txBody>
            <a:bodyPr/>
            <a:lstStyle/>
            <a:p>
              <a:endParaRPr lang="es-CL"/>
            </a:p>
          </p:txBody>
        </p:sp>
        <p:sp>
          <p:nvSpPr>
            <p:cNvPr id="63" name="TextBox 63"/>
            <p:cNvSpPr txBox="1"/>
            <p:nvPr/>
          </p:nvSpPr>
          <p:spPr>
            <a:xfrm>
              <a:off x="0" y="0"/>
              <a:ext cx="4791456" cy="402336"/>
            </a:xfrm>
            <a:prstGeom prst="rect">
              <a:avLst/>
            </a:prstGeom>
          </p:spPr>
          <p:txBody>
            <a:bodyPr lIns="0" tIns="0" rIns="0" bIns="0" rtlCol="0" anchor="ctr"/>
            <a:lstStyle/>
            <a:p>
              <a:pPr algn="l">
                <a:lnSpc>
                  <a:spcPts val="2070"/>
                </a:lnSpc>
              </a:pPr>
              <a:r>
                <a:rPr lang="en-US" sz="1725" b="1">
                  <a:solidFill>
                    <a:srgbClr val="18212F"/>
                  </a:solidFill>
                  <a:latin typeface="Aptos Bold"/>
                  <a:ea typeface="Aptos Bold"/>
                  <a:cs typeface="Aptos Bold"/>
                  <a:sym typeface="Aptos Bold"/>
                </a:rPr>
                <a:t>Resultado</a:t>
              </a:r>
            </a:p>
          </p:txBody>
        </p:sp>
      </p:grpSp>
      <p:grpSp>
        <p:nvGrpSpPr>
          <p:cNvPr id="64" name="Group 64"/>
          <p:cNvGrpSpPr/>
          <p:nvPr/>
        </p:nvGrpSpPr>
        <p:grpSpPr>
          <a:xfrm>
            <a:off x="8641080" y="7662672"/>
            <a:ext cx="3593592" cy="493776"/>
            <a:chOff x="0" y="0"/>
            <a:chExt cx="4791456" cy="658368"/>
          </a:xfrm>
        </p:grpSpPr>
        <p:sp>
          <p:nvSpPr>
            <p:cNvPr id="65" name="Freeform 65"/>
            <p:cNvSpPr/>
            <p:nvPr/>
          </p:nvSpPr>
          <p:spPr>
            <a:xfrm>
              <a:off x="0" y="0"/>
              <a:ext cx="4791456" cy="658368"/>
            </a:xfrm>
            <a:custGeom>
              <a:avLst/>
              <a:gdLst/>
              <a:ahLst/>
              <a:cxnLst/>
              <a:rect l="l" t="t" r="r" b="b"/>
              <a:pathLst>
                <a:path w="4791456" h="658368">
                  <a:moveTo>
                    <a:pt x="0" y="0"/>
                  </a:moveTo>
                  <a:lnTo>
                    <a:pt x="4791456" y="0"/>
                  </a:lnTo>
                  <a:lnTo>
                    <a:pt x="4791456" y="658368"/>
                  </a:lnTo>
                  <a:lnTo>
                    <a:pt x="0" y="658368"/>
                  </a:lnTo>
                  <a:close/>
                </a:path>
              </a:pathLst>
            </a:custGeom>
            <a:blipFill>
              <a:blip r:embed="rId3">
                <a:alphaModFix amt="0"/>
              </a:blip>
              <a:stretch>
                <a:fillRect t="-91807" b="-91807"/>
              </a:stretch>
            </a:blipFill>
          </p:spPr>
          <p:txBody>
            <a:bodyPr/>
            <a:lstStyle/>
            <a:p>
              <a:endParaRPr lang="es-CL"/>
            </a:p>
          </p:txBody>
        </p:sp>
        <p:sp>
          <p:nvSpPr>
            <p:cNvPr id="66" name="TextBox 66"/>
            <p:cNvSpPr txBox="1"/>
            <p:nvPr/>
          </p:nvSpPr>
          <p:spPr>
            <a:xfrm>
              <a:off x="0" y="0"/>
              <a:ext cx="4791456" cy="658368"/>
            </a:xfrm>
            <a:prstGeom prst="rect">
              <a:avLst/>
            </a:prstGeom>
          </p:spPr>
          <p:txBody>
            <a:bodyPr lIns="0" tIns="0" rIns="0" bIns="0" rtlCol="0" anchor="ctr"/>
            <a:lstStyle/>
            <a:p>
              <a:pPr algn="l">
                <a:lnSpc>
                  <a:spcPts val="3240"/>
                </a:lnSpc>
              </a:pPr>
              <a:r>
                <a:rPr lang="en-US" sz="2700">
                  <a:solidFill>
                    <a:srgbClr val="000000"/>
                  </a:solidFill>
                  <a:latin typeface="Aptos"/>
                  <a:ea typeface="Aptos"/>
                  <a:cs typeface="Aptos"/>
                  <a:sym typeface="Aptos"/>
                </a:rPr>
                <a:t>build + push automático; actualización EC2 con docker compose pull/up</a:t>
              </a:r>
            </a:p>
          </p:txBody>
        </p:sp>
      </p:grpSp>
      <p:grpSp>
        <p:nvGrpSpPr>
          <p:cNvPr id="67" name="Group 67"/>
          <p:cNvGrpSpPr/>
          <p:nvPr/>
        </p:nvGrpSpPr>
        <p:grpSpPr>
          <a:xfrm>
            <a:off x="754380" y="9779508"/>
            <a:ext cx="7406640" cy="246888"/>
            <a:chOff x="0" y="0"/>
            <a:chExt cx="9875520" cy="329184"/>
          </a:xfrm>
        </p:grpSpPr>
        <p:sp>
          <p:nvSpPr>
            <p:cNvPr id="68" name="Freeform 68"/>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69" name="TextBox 69"/>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70" name="Group 70"/>
          <p:cNvGrpSpPr/>
          <p:nvPr/>
        </p:nvGrpSpPr>
        <p:grpSpPr>
          <a:xfrm>
            <a:off x="16952976" y="9669780"/>
            <a:ext cx="576072" cy="356616"/>
            <a:chOff x="0" y="0"/>
            <a:chExt cx="768096" cy="475488"/>
          </a:xfrm>
        </p:grpSpPr>
        <p:sp>
          <p:nvSpPr>
            <p:cNvPr id="71" name="Freeform 71"/>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72" name="TextBox 72"/>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10</a:t>
              </a:r>
            </a:p>
          </p:txBody>
        </p:sp>
      </p:grpSp>
      <p:grpSp>
        <p:nvGrpSpPr>
          <p:cNvPr id="73" name="Group 73"/>
          <p:cNvGrpSpPr/>
          <p:nvPr/>
        </p:nvGrpSpPr>
        <p:grpSpPr>
          <a:xfrm>
            <a:off x="7722108" y="8738044"/>
            <a:ext cx="8101965" cy="763905"/>
            <a:chOff x="0" y="0"/>
            <a:chExt cx="10802620" cy="1018540"/>
          </a:xfrm>
        </p:grpSpPr>
        <p:sp>
          <p:nvSpPr>
            <p:cNvPr id="74" name="Freeform 74"/>
            <p:cNvSpPr/>
            <p:nvPr/>
          </p:nvSpPr>
          <p:spPr>
            <a:xfrm>
              <a:off x="0" y="0"/>
              <a:ext cx="10802620" cy="1018540"/>
            </a:xfrm>
            <a:custGeom>
              <a:avLst/>
              <a:gdLst/>
              <a:ahLst/>
              <a:cxnLst/>
              <a:rect l="l" t="t" r="r" b="b"/>
              <a:pathLst>
                <a:path w="10802620" h="1018540">
                  <a:moveTo>
                    <a:pt x="0" y="169799"/>
                  </a:moveTo>
                  <a:cubicBezTo>
                    <a:pt x="0" y="75946"/>
                    <a:pt x="75946" y="0"/>
                    <a:pt x="169799" y="0"/>
                  </a:cubicBezTo>
                  <a:lnTo>
                    <a:pt x="10632821" y="0"/>
                  </a:lnTo>
                  <a:cubicBezTo>
                    <a:pt x="10726547" y="0"/>
                    <a:pt x="10802620" y="75946"/>
                    <a:pt x="10802620" y="169799"/>
                  </a:cubicBezTo>
                  <a:lnTo>
                    <a:pt x="10802620" y="848741"/>
                  </a:lnTo>
                  <a:cubicBezTo>
                    <a:pt x="10802620" y="942467"/>
                    <a:pt x="10726674" y="1018540"/>
                    <a:pt x="10632821" y="1018540"/>
                  </a:cubicBezTo>
                  <a:lnTo>
                    <a:pt x="169799" y="1018540"/>
                  </a:lnTo>
                  <a:cubicBezTo>
                    <a:pt x="75946" y="1018540"/>
                    <a:pt x="0" y="942594"/>
                    <a:pt x="0" y="848741"/>
                  </a:cubicBezTo>
                  <a:close/>
                </a:path>
              </a:pathLst>
            </a:custGeom>
            <a:solidFill>
              <a:srgbClr val="FFF5D6"/>
            </a:solidFill>
            <a:ln w="9525" cap="sq">
              <a:solidFill>
                <a:srgbClr val="EDAC19"/>
              </a:solidFill>
              <a:prstDash val="solid"/>
              <a:miter/>
            </a:ln>
          </p:spPr>
          <p:txBody>
            <a:bodyPr/>
            <a:lstStyle/>
            <a:p>
              <a:endParaRPr lang="es-CL"/>
            </a:p>
          </p:txBody>
        </p:sp>
        <p:sp>
          <p:nvSpPr>
            <p:cNvPr id="75" name="TextBox 75"/>
            <p:cNvSpPr txBox="1"/>
            <p:nvPr/>
          </p:nvSpPr>
          <p:spPr>
            <a:xfrm>
              <a:off x="0" y="-9525"/>
              <a:ext cx="10802620" cy="1028065"/>
            </a:xfrm>
            <a:prstGeom prst="rect">
              <a:avLst/>
            </a:prstGeom>
          </p:spPr>
          <p:txBody>
            <a:bodyPr lIns="50800" tIns="50800" rIns="50800" bIns="50800" rtlCol="0" anchor="ctr"/>
            <a:lstStyle/>
            <a:p>
              <a:pPr algn="ctr">
                <a:lnSpc>
                  <a:spcPts val="1620"/>
                </a:lnSpc>
              </a:pPr>
              <a:r>
                <a:rPr lang="en-US" sz="1350" b="1">
                  <a:solidFill>
                    <a:srgbClr val="464646"/>
                  </a:solidFill>
                  <a:latin typeface="Aptos Bold"/>
                  <a:ea typeface="Aptos Bold"/>
                  <a:cs typeface="Aptos Bold"/>
                  <a:sym typeface="Aptos Bold"/>
                </a:rPr>
                <a:t>Aclaración: build/push automatizado; EC2 actualizada con pull/up desde imágenes publicadas.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Infraestructura en nube</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AWS EC2 y reglas de acceso</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53452" y="1954720"/>
            <a:ext cx="8366379" cy="6308979"/>
            <a:chOff x="0" y="0"/>
            <a:chExt cx="11155172" cy="8411972"/>
          </a:xfrm>
        </p:grpSpPr>
        <p:sp>
          <p:nvSpPr>
            <p:cNvPr id="14" name="Freeform 14"/>
            <p:cNvSpPr/>
            <p:nvPr/>
          </p:nvSpPr>
          <p:spPr>
            <a:xfrm>
              <a:off x="0" y="0"/>
              <a:ext cx="11155172" cy="8411972"/>
            </a:xfrm>
            <a:custGeom>
              <a:avLst/>
              <a:gdLst/>
              <a:ahLst/>
              <a:cxnLst/>
              <a:rect l="l" t="t" r="r" b="b"/>
              <a:pathLst>
                <a:path w="11155172" h="8411972">
                  <a:moveTo>
                    <a:pt x="0" y="146558"/>
                  </a:moveTo>
                  <a:cubicBezTo>
                    <a:pt x="0" y="65659"/>
                    <a:pt x="65659" y="0"/>
                    <a:pt x="146558" y="0"/>
                  </a:cubicBezTo>
                  <a:lnTo>
                    <a:pt x="11008614" y="0"/>
                  </a:lnTo>
                  <a:cubicBezTo>
                    <a:pt x="11089640" y="0"/>
                    <a:pt x="11155172" y="65659"/>
                    <a:pt x="11155172" y="146558"/>
                  </a:cubicBezTo>
                  <a:lnTo>
                    <a:pt x="11155172" y="8265414"/>
                  </a:lnTo>
                  <a:cubicBezTo>
                    <a:pt x="11155172" y="8346440"/>
                    <a:pt x="11089513" y="8411972"/>
                    <a:pt x="11008614" y="8411972"/>
                  </a:cubicBezTo>
                  <a:lnTo>
                    <a:pt x="146558" y="8411972"/>
                  </a:lnTo>
                  <a:cubicBezTo>
                    <a:pt x="65659" y="8411972"/>
                    <a:pt x="0" y="8346313"/>
                    <a:pt x="0" y="826541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097280" y="2875350"/>
            <a:ext cx="8078724" cy="4165968"/>
            <a:chOff x="0" y="0"/>
            <a:chExt cx="10771632" cy="5554624"/>
          </a:xfrm>
        </p:grpSpPr>
        <p:sp>
          <p:nvSpPr>
            <p:cNvPr id="16" name="Freeform 16" descr="/mnt/data/evidencias/Evidencias_EP2_ISY1101/SS-25_EC2Instancias..png"/>
            <p:cNvSpPr/>
            <p:nvPr/>
          </p:nvSpPr>
          <p:spPr>
            <a:xfrm>
              <a:off x="0" y="0"/>
              <a:ext cx="10771632" cy="5554599"/>
            </a:xfrm>
            <a:custGeom>
              <a:avLst/>
              <a:gdLst/>
              <a:ahLst/>
              <a:cxnLst/>
              <a:rect l="l" t="t" r="r" b="b"/>
              <a:pathLst>
                <a:path w="10771632" h="5554599">
                  <a:moveTo>
                    <a:pt x="0" y="0"/>
                  </a:moveTo>
                  <a:lnTo>
                    <a:pt x="10771632" y="0"/>
                  </a:lnTo>
                  <a:lnTo>
                    <a:pt x="10771632" y="5554599"/>
                  </a:lnTo>
                  <a:lnTo>
                    <a:pt x="0" y="5554599"/>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52144" y="7900416"/>
            <a:ext cx="7968996" cy="246888"/>
            <a:chOff x="0" y="0"/>
            <a:chExt cx="10625328" cy="329184"/>
          </a:xfrm>
        </p:grpSpPr>
        <p:sp>
          <p:nvSpPr>
            <p:cNvPr id="18" name="Freeform 18"/>
            <p:cNvSpPr/>
            <p:nvPr/>
          </p:nvSpPr>
          <p:spPr>
            <a:xfrm>
              <a:off x="0" y="0"/>
              <a:ext cx="10625328" cy="329184"/>
            </a:xfrm>
            <a:custGeom>
              <a:avLst/>
              <a:gdLst/>
              <a:ahLst/>
              <a:cxnLst/>
              <a:rect l="l" t="t" r="r" b="b"/>
              <a:pathLst>
                <a:path w="10625328" h="329184">
                  <a:moveTo>
                    <a:pt x="0" y="0"/>
                  </a:moveTo>
                  <a:lnTo>
                    <a:pt x="10625328" y="0"/>
                  </a:lnTo>
                  <a:lnTo>
                    <a:pt x="10625328" y="329184"/>
                  </a:lnTo>
                  <a:lnTo>
                    <a:pt x="0" y="329184"/>
                  </a:lnTo>
                  <a:close/>
                </a:path>
              </a:pathLst>
            </a:custGeom>
            <a:blipFill>
              <a:blip r:embed="rId3">
                <a:alphaModFix amt="0"/>
              </a:blip>
              <a:stretch>
                <a:fillRect t="-578933" b="-578933"/>
              </a:stretch>
            </a:blipFill>
          </p:spPr>
          <p:txBody>
            <a:bodyPr/>
            <a:lstStyle/>
            <a:p>
              <a:endParaRPr lang="es-CL"/>
            </a:p>
          </p:txBody>
        </p:sp>
        <p:sp>
          <p:nvSpPr>
            <p:cNvPr id="19" name="TextBox 19"/>
            <p:cNvSpPr txBox="1"/>
            <p:nvPr/>
          </p:nvSpPr>
          <p:spPr>
            <a:xfrm>
              <a:off x="0" y="0"/>
              <a:ext cx="106253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Instancia EC2: proyecto-semestral-isy1101-ep2</a:t>
              </a:r>
            </a:p>
          </p:txBody>
        </p:sp>
      </p:grpSp>
      <p:grpSp>
        <p:nvGrpSpPr>
          <p:cNvPr id="20" name="Group 20"/>
          <p:cNvGrpSpPr/>
          <p:nvPr/>
        </p:nvGrpSpPr>
        <p:grpSpPr>
          <a:xfrm>
            <a:off x="9635680" y="1954720"/>
            <a:ext cx="7680579" cy="6308979"/>
            <a:chOff x="0" y="0"/>
            <a:chExt cx="10240772" cy="8411972"/>
          </a:xfrm>
        </p:grpSpPr>
        <p:sp>
          <p:nvSpPr>
            <p:cNvPr id="21" name="Freeform 21"/>
            <p:cNvSpPr/>
            <p:nvPr/>
          </p:nvSpPr>
          <p:spPr>
            <a:xfrm>
              <a:off x="0" y="0"/>
              <a:ext cx="10240772" cy="8411972"/>
            </a:xfrm>
            <a:custGeom>
              <a:avLst/>
              <a:gdLst/>
              <a:ahLst/>
              <a:cxnLst/>
              <a:rect l="l" t="t" r="r" b="b"/>
              <a:pathLst>
                <a:path w="10240772" h="8411972">
                  <a:moveTo>
                    <a:pt x="0" y="146558"/>
                  </a:moveTo>
                  <a:cubicBezTo>
                    <a:pt x="0" y="65659"/>
                    <a:pt x="65659" y="0"/>
                    <a:pt x="146558" y="0"/>
                  </a:cubicBezTo>
                  <a:lnTo>
                    <a:pt x="10094214" y="0"/>
                  </a:lnTo>
                  <a:cubicBezTo>
                    <a:pt x="10175240" y="0"/>
                    <a:pt x="10240772" y="65659"/>
                    <a:pt x="10240772" y="146558"/>
                  </a:cubicBezTo>
                  <a:lnTo>
                    <a:pt x="10240772" y="8265414"/>
                  </a:lnTo>
                  <a:cubicBezTo>
                    <a:pt x="10240772" y="8346440"/>
                    <a:pt x="10175113" y="8411972"/>
                    <a:pt x="10094214" y="8411972"/>
                  </a:cubicBezTo>
                  <a:lnTo>
                    <a:pt x="146558" y="8411972"/>
                  </a:lnTo>
                  <a:cubicBezTo>
                    <a:pt x="65659" y="8411972"/>
                    <a:pt x="0" y="8346313"/>
                    <a:pt x="0" y="826541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9779508" y="2980792"/>
            <a:ext cx="7392924" cy="3955075"/>
            <a:chOff x="0" y="0"/>
            <a:chExt cx="9857232" cy="5273434"/>
          </a:xfrm>
        </p:grpSpPr>
        <p:sp>
          <p:nvSpPr>
            <p:cNvPr id="23" name="Freeform 23" descr="/mnt/data/evidencias/Evidencias_EP2_ISY1101/SS-26_SecurityGroups.png"/>
            <p:cNvSpPr/>
            <p:nvPr/>
          </p:nvSpPr>
          <p:spPr>
            <a:xfrm>
              <a:off x="0" y="0"/>
              <a:ext cx="9857232" cy="5273421"/>
            </a:xfrm>
            <a:custGeom>
              <a:avLst/>
              <a:gdLst/>
              <a:ahLst/>
              <a:cxnLst/>
              <a:rect l="l" t="t" r="r" b="b"/>
              <a:pathLst>
                <a:path w="9857232" h="5273421">
                  <a:moveTo>
                    <a:pt x="0" y="0"/>
                  </a:moveTo>
                  <a:lnTo>
                    <a:pt x="9857232" y="0"/>
                  </a:lnTo>
                  <a:lnTo>
                    <a:pt x="9857232" y="5273421"/>
                  </a:lnTo>
                  <a:lnTo>
                    <a:pt x="0" y="5273421"/>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9834372" y="7900416"/>
            <a:ext cx="7283196" cy="246888"/>
            <a:chOff x="0" y="0"/>
            <a:chExt cx="9710928" cy="329184"/>
          </a:xfrm>
        </p:grpSpPr>
        <p:sp>
          <p:nvSpPr>
            <p:cNvPr id="25" name="Freeform 25"/>
            <p:cNvSpPr/>
            <p:nvPr/>
          </p:nvSpPr>
          <p:spPr>
            <a:xfrm>
              <a:off x="0" y="0"/>
              <a:ext cx="9710928" cy="329184"/>
            </a:xfrm>
            <a:custGeom>
              <a:avLst/>
              <a:gdLst/>
              <a:ahLst/>
              <a:cxnLst/>
              <a:rect l="l" t="t" r="r" b="b"/>
              <a:pathLst>
                <a:path w="9710928" h="329184">
                  <a:moveTo>
                    <a:pt x="0" y="0"/>
                  </a:moveTo>
                  <a:lnTo>
                    <a:pt x="9710928" y="0"/>
                  </a:lnTo>
                  <a:lnTo>
                    <a:pt x="9710928" y="329184"/>
                  </a:lnTo>
                  <a:lnTo>
                    <a:pt x="0" y="329184"/>
                  </a:lnTo>
                  <a:close/>
                </a:path>
              </a:pathLst>
            </a:custGeom>
            <a:blipFill>
              <a:blip r:embed="rId3">
                <a:alphaModFix amt="0"/>
              </a:blip>
              <a:stretch>
                <a:fillRect t="-524808" b="-524808"/>
              </a:stretch>
            </a:blipFill>
          </p:spPr>
          <p:txBody>
            <a:bodyPr/>
            <a:lstStyle/>
            <a:p>
              <a:endParaRPr lang="es-CL"/>
            </a:p>
          </p:txBody>
        </p:sp>
        <p:sp>
          <p:nvSpPr>
            <p:cNvPr id="26" name="TextBox 26"/>
            <p:cNvSpPr txBox="1"/>
            <p:nvPr/>
          </p:nvSpPr>
          <p:spPr>
            <a:xfrm>
              <a:off x="0" y="0"/>
              <a:ext cx="97109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Security Group: SSH, 8080, 8081 y 8082</a:t>
              </a:r>
            </a:p>
          </p:txBody>
        </p:sp>
      </p:grpSp>
      <p:grpSp>
        <p:nvGrpSpPr>
          <p:cNvPr id="27" name="Group 27"/>
          <p:cNvGrpSpPr/>
          <p:nvPr/>
        </p:nvGrpSpPr>
        <p:grpSpPr>
          <a:xfrm>
            <a:off x="1097280" y="8572500"/>
            <a:ext cx="3291840" cy="342900"/>
            <a:chOff x="0" y="0"/>
            <a:chExt cx="4389120" cy="457200"/>
          </a:xfrm>
        </p:grpSpPr>
        <p:sp>
          <p:nvSpPr>
            <p:cNvPr id="28" name="Freeform 28"/>
            <p:cNvSpPr/>
            <p:nvPr/>
          </p:nvSpPr>
          <p:spPr>
            <a:xfrm>
              <a:off x="0" y="0"/>
              <a:ext cx="4389120" cy="457200"/>
            </a:xfrm>
            <a:custGeom>
              <a:avLst/>
              <a:gdLst/>
              <a:ahLst/>
              <a:cxnLst/>
              <a:rect l="l" t="t" r="r" b="b"/>
              <a:pathLst>
                <a:path w="4389120" h="457200">
                  <a:moveTo>
                    <a:pt x="0" y="0"/>
                  </a:moveTo>
                  <a:lnTo>
                    <a:pt x="4389120" y="0"/>
                  </a:lnTo>
                  <a:lnTo>
                    <a:pt x="4389120" y="457200"/>
                  </a:lnTo>
                  <a:lnTo>
                    <a:pt x="0" y="457200"/>
                  </a:lnTo>
                  <a:close/>
                </a:path>
              </a:pathLst>
            </a:custGeom>
            <a:blipFill>
              <a:blip r:embed="rId3">
                <a:alphaModFix amt="0"/>
              </a:blip>
              <a:stretch>
                <a:fillRect t="-137056" b="-137056"/>
              </a:stretch>
            </a:blipFill>
          </p:spPr>
          <p:txBody>
            <a:bodyPr/>
            <a:lstStyle/>
            <a:p>
              <a:endParaRPr lang="es-CL"/>
            </a:p>
          </p:txBody>
        </p:sp>
        <p:sp>
          <p:nvSpPr>
            <p:cNvPr id="29" name="TextBox 29"/>
            <p:cNvSpPr txBox="1"/>
            <p:nvPr/>
          </p:nvSpPr>
          <p:spPr>
            <a:xfrm>
              <a:off x="0" y="0"/>
              <a:ext cx="4389120" cy="457200"/>
            </a:xfrm>
            <a:prstGeom prst="rect">
              <a:avLst/>
            </a:prstGeom>
          </p:spPr>
          <p:txBody>
            <a:bodyPr lIns="0" tIns="0" rIns="0" bIns="0" rtlCol="0" anchor="ctr"/>
            <a:lstStyle/>
            <a:p>
              <a:pPr algn="l">
                <a:lnSpc>
                  <a:spcPts val="2232"/>
                </a:lnSpc>
              </a:pPr>
              <a:r>
                <a:rPr lang="en-US" sz="1860" b="1">
                  <a:solidFill>
                    <a:srgbClr val="18212F"/>
                  </a:solidFill>
                  <a:latin typeface="Aptos Bold"/>
                  <a:ea typeface="Aptos Bold"/>
                  <a:cs typeface="Aptos Bold"/>
                  <a:sym typeface="Aptos Bold"/>
                </a:rPr>
                <a:t>Criterio de seguridad:</a:t>
              </a:r>
            </a:p>
          </p:txBody>
        </p:sp>
      </p:grpSp>
      <p:grpSp>
        <p:nvGrpSpPr>
          <p:cNvPr id="30" name="Group 30"/>
          <p:cNvGrpSpPr/>
          <p:nvPr/>
        </p:nvGrpSpPr>
        <p:grpSpPr>
          <a:xfrm>
            <a:off x="4594860" y="8545068"/>
            <a:ext cx="11864340" cy="466344"/>
            <a:chOff x="0" y="0"/>
            <a:chExt cx="15819120" cy="621792"/>
          </a:xfrm>
        </p:grpSpPr>
        <p:sp>
          <p:nvSpPr>
            <p:cNvPr id="31" name="Freeform 31"/>
            <p:cNvSpPr/>
            <p:nvPr/>
          </p:nvSpPr>
          <p:spPr>
            <a:xfrm>
              <a:off x="0" y="0"/>
              <a:ext cx="15819120" cy="621792"/>
            </a:xfrm>
            <a:custGeom>
              <a:avLst/>
              <a:gdLst/>
              <a:ahLst/>
              <a:cxnLst/>
              <a:rect l="l" t="t" r="r" b="b"/>
              <a:pathLst>
                <a:path w="15819120" h="621792">
                  <a:moveTo>
                    <a:pt x="0" y="0"/>
                  </a:moveTo>
                  <a:lnTo>
                    <a:pt x="15819120" y="0"/>
                  </a:lnTo>
                  <a:lnTo>
                    <a:pt x="15819120" y="621792"/>
                  </a:lnTo>
                  <a:lnTo>
                    <a:pt x="0" y="621792"/>
                  </a:lnTo>
                  <a:close/>
                </a:path>
              </a:pathLst>
            </a:custGeom>
            <a:blipFill>
              <a:blip r:embed="rId3">
                <a:alphaModFix amt="0"/>
              </a:blip>
              <a:stretch>
                <a:fillRect t="-445722" b="-445722"/>
              </a:stretch>
            </a:blipFill>
          </p:spPr>
          <p:txBody>
            <a:bodyPr/>
            <a:lstStyle/>
            <a:p>
              <a:endParaRPr lang="es-CL"/>
            </a:p>
          </p:txBody>
        </p:sp>
        <p:sp>
          <p:nvSpPr>
            <p:cNvPr id="32" name="TextBox 32"/>
            <p:cNvSpPr txBox="1"/>
            <p:nvPr/>
          </p:nvSpPr>
          <p:spPr>
            <a:xfrm>
              <a:off x="0" y="0"/>
              <a:ext cx="15819120" cy="621792"/>
            </a:xfrm>
            <a:prstGeom prst="rect">
              <a:avLst/>
            </a:prstGeom>
          </p:spPr>
          <p:txBody>
            <a:bodyPr lIns="0" tIns="0" rIns="0" bIns="0" rtlCol="0" anchor="ctr"/>
            <a:lstStyle/>
            <a:p>
              <a:pPr algn="l">
                <a:lnSpc>
                  <a:spcPts val="1709"/>
                </a:lnSpc>
              </a:pPr>
              <a:r>
                <a:rPr lang="en-US" sz="1425">
                  <a:solidFill>
                    <a:srgbClr val="64748B"/>
                  </a:solidFill>
                  <a:latin typeface="Aptos"/>
                  <a:ea typeface="Aptos"/>
                  <a:cs typeface="Aptos"/>
                  <a:sym typeface="Aptos"/>
                </a:rPr>
                <a:t>8081 y 8082 se abrieron para validación académica; en producción se restringen a red privada o al SG del frontend.</a:t>
              </a:r>
            </a:p>
          </p:txBody>
        </p:sp>
      </p:grpSp>
      <p:grpSp>
        <p:nvGrpSpPr>
          <p:cNvPr id="33" name="Group 33"/>
          <p:cNvGrpSpPr/>
          <p:nvPr/>
        </p:nvGrpSpPr>
        <p:grpSpPr>
          <a:xfrm>
            <a:off x="754380" y="9779508"/>
            <a:ext cx="7406640" cy="246888"/>
            <a:chOff x="0" y="0"/>
            <a:chExt cx="9875520" cy="329184"/>
          </a:xfrm>
        </p:grpSpPr>
        <p:sp>
          <p:nvSpPr>
            <p:cNvPr id="34" name="Freeform 34"/>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35" name="TextBox 35"/>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36" name="Group 36"/>
          <p:cNvGrpSpPr/>
          <p:nvPr/>
        </p:nvGrpSpPr>
        <p:grpSpPr>
          <a:xfrm>
            <a:off x="16952976" y="9669780"/>
            <a:ext cx="576072" cy="356616"/>
            <a:chOff x="0" y="0"/>
            <a:chExt cx="768096" cy="475488"/>
          </a:xfrm>
        </p:grpSpPr>
        <p:sp>
          <p:nvSpPr>
            <p:cNvPr id="37" name="Freeform 37"/>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38" name="TextBox 38"/>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11</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Docker en nube</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Operación del stack dentro de EC2</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53452" y="1954720"/>
            <a:ext cx="4594479" cy="3222879"/>
            <a:chOff x="0" y="0"/>
            <a:chExt cx="6125972" cy="4297172"/>
          </a:xfrm>
        </p:grpSpPr>
        <p:sp>
          <p:nvSpPr>
            <p:cNvPr id="14" name="Freeform 14"/>
            <p:cNvSpPr/>
            <p:nvPr/>
          </p:nvSpPr>
          <p:spPr>
            <a:xfrm>
              <a:off x="0" y="0"/>
              <a:ext cx="6125972" cy="4297172"/>
            </a:xfrm>
            <a:custGeom>
              <a:avLst/>
              <a:gdLst/>
              <a:ahLst/>
              <a:cxnLst/>
              <a:rect l="l" t="t" r="r" b="b"/>
              <a:pathLst>
                <a:path w="6125972" h="4297172">
                  <a:moveTo>
                    <a:pt x="0" y="146939"/>
                  </a:moveTo>
                  <a:cubicBezTo>
                    <a:pt x="0" y="65786"/>
                    <a:pt x="65786" y="0"/>
                    <a:pt x="146939" y="0"/>
                  </a:cubicBezTo>
                  <a:lnTo>
                    <a:pt x="5979033" y="0"/>
                  </a:lnTo>
                  <a:cubicBezTo>
                    <a:pt x="6060186" y="0"/>
                    <a:pt x="6125972" y="65786"/>
                    <a:pt x="6125972" y="146939"/>
                  </a:cubicBezTo>
                  <a:lnTo>
                    <a:pt x="6125972" y="4150233"/>
                  </a:lnTo>
                  <a:cubicBezTo>
                    <a:pt x="6125972" y="4231386"/>
                    <a:pt x="6060186" y="4297172"/>
                    <a:pt x="5979033" y="4297172"/>
                  </a:cubicBezTo>
                  <a:lnTo>
                    <a:pt x="146939" y="4297172"/>
                  </a:lnTo>
                  <a:cubicBezTo>
                    <a:pt x="65786" y="4297172"/>
                    <a:pt x="0" y="4231386"/>
                    <a:pt x="0" y="41502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525953" y="2084832"/>
            <a:ext cx="3449479" cy="2660904"/>
            <a:chOff x="0" y="0"/>
            <a:chExt cx="4599305" cy="3547872"/>
          </a:xfrm>
        </p:grpSpPr>
        <p:sp>
          <p:nvSpPr>
            <p:cNvPr id="16" name="Freeform 16" descr="/mnt/data/evidencias/Evidencias_EP2_ISY1101/SS-27_ConexionEC2Ubuntu..png"/>
            <p:cNvSpPr/>
            <p:nvPr/>
          </p:nvSpPr>
          <p:spPr>
            <a:xfrm>
              <a:off x="0" y="0"/>
              <a:ext cx="4599305" cy="3547872"/>
            </a:xfrm>
            <a:custGeom>
              <a:avLst/>
              <a:gdLst/>
              <a:ahLst/>
              <a:cxnLst/>
              <a:rect l="l" t="t" r="r" b="b"/>
              <a:pathLst>
                <a:path w="4599305" h="3547872">
                  <a:moveTo>
                    <a:pt x="0" y="0"/>
                  </a:moveTo>
                  <a:lnTo>
                    <a:pt x="4599305" y="0"/>
                  </a:lnTo>
                  <a:lnTo>
                    <a:pt x="4599305" y="3547872"/>
                  </a:lnTo>
                  <a:lnTo>
                    <a:pt x="0" y="3547872"/>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52144" y="4814316"/>
            <a:ext cx="4197096" cy="246888"/>
            <a:chOff x="0" y="0"/>
            <a:chExt cx="5596128" cy="329184"/>
          </a:xfrm>
        </p:grpSpPr>
        <p:sp>
          <p:nvSpPr>
            <p:cNvPr id="18" name="Freeform 18"/>
            <p:cNvSpPr/>
            <p:nvPr/>
          </p:nvSpPr>
          <p:spPr>
            <a:xfrm>
              <a:off x="0" y="0"/>
              <a:ext cx="5596128" cy="329184"/>
            </a:xfrm>
            <a:custGeom>
              <a:avLst/>
              <a:gdLst/>
              <a:ahLst/>
              <a:cxnLst/>
              <a:rect l="l" t="t" r="r" b="b"/>
              <a:pathLst>
                <a:path w="5596128" h="329184">
                  <a:moveTo>
                    <a:pt x="0" y="0"/>
                  </a:moveTo>
                  <a:lnTo>
                    <a:pt x="5596128" y="0"/>
                  </a:lnTo>
                  <a:lnTo>
                    <a:pt x="5596128" y="329184"/>
                  </a:lnTo>
                  <a:lnTo>
                    <a:pt x="0" y="329184"/>
                  </a:lnTo>
                  <a:close/>
                </a:path>
              </a:pathLst>
            </a:custGeom>
            <a:blipFill>
              <a:blip r:embed="rId3">
                <a:alphaModFix amt="0"/>
              </a:blip>
              <a:stretch>
                <a:fillRect t="-281245" b="-281245"/>
              </a:stretch>
            </a:blipFill>
          </p:spPr>
          <p:txBody>
            <a:bodyPr/>
            <a:lstStyle/>
            <a:p>
              <a:endParaRPr lang="es-CL"/>
            </a:p>
          </p:txBody>
        </p:sp>
        <p:sp>
          <p:nvSpPr>
            <p:cNvPr id="19" name="TextBox 19"/>
            <p:cNvSpPr txBox="1"/>
            <p:nvPr/>
          </p:nvSpPr>
          <p:spPr>
            <a:xfrm>
              <a:off x="0" y="0"/>
              <a:ext cx="55961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Conexión SSH a Ubuntu</a:t>
              </a:r>
            </a:p>
          </p:txBody>
        </p:sp>
      </p:grpSp>
      <p:grpSp>
        <p:nvGrpSpPr>
          <p:cNvPr id="20" name="Group 20"/>
          <p:cNvGrpSpPr/>
          <p:nvPr/>
        </p:nvGrpSpPr>
        <p:grpSpPr>
          <a:xfrm>
            <a:off x="5932360" y="1954720"/>
            <a:ext cx="4937379" cy="3222879"/>
            <a:chOff x="0" y="0"/>
            <a:chExt cx="6583172" cy="4297172"/>
          </a:xfrm>
        </p:grpSpPr>
        <p:sp>
          <p:nvSpPr>
            <p:cNvPr id="21" name="Freeform 21"/>
            <p:cNvSpPr/>
            <p:nvPr/>
          </p:nvSpPr>
          <p:spPr>
            <a:xfrm>
              <a:off x="0" y="0"/>
              <a:ext cx="6583172" cy="4297172"/>
            </a:xfrm>
            <a:custGeom>
              <a:avLst/>
              <a:gdLst/>
              <a:ahLst/>
              <a:cxnLst/>
              <a:rect l="l" t="t" r="r" b="b"/>
              <a:pathLst>
                <a:path w="6583172" h="4297172">
                  <a:moveTo>
                    <a:pt x="0" y="146939"/>
                  </a:moveTo>
                  <a:cubicBezTo>
                    <a:pt x="0" y="65786"/>
                    <a:pt x="65786" y="0"/>
                    <a:pt x="146939" y="0"/>
                  </a:cubicBezTo>
                  <a:lnTo>
                    <a:pt x="6436233" y="0"/>
                  </a:lnTo>
                  <a:cubicBezTo>
                    <a:pt x="6517386" y="0"/>
                    <a:pt x="6583172" y="65786"/>
                    <a:pt x="6583172" y="146939"/>
                  </a:cubicBezTo>
                  <a:lnTo>
                    <a:pt x="6583172" y="4150233"/>
                  </a:lnTo>
                  <a:cubicBezTo>
                    <a:pt x="6583172" y="4231386"/>
                    <a:pt x="6517386" y="4297172"/>
                    <a:pt x="6436233" y="4297172"/>
                  </a:cubicBezTo>
                  <a:lnTo>
                    <a:pt x="146939" y="4297172"/>
                  </a:lnTo>
                  <a:cubicBezTo>
                    <a:pt x="65786" y="4297172"/>
                    <a:pt x="0" y="4231386"/>
                    <a:pt x="0" y="41502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6076188" y="2290620"/>
            <a:ext cx="4649724" cy="2249329"/>
            <a:chOff x="0" y="0"/>
            <a:chExt cx="6199632" cy="2999105"/>
          </a:xfrm>
        </p:grpSpPr>
        <p:sp>
          <p:nvSpPr>
            <p:cNvPr id="23" name="Freeform 23" descr="/mnt/data/evidencias/Evidencias_EP2_ISY1101/SS-28_DockerInstaladoEC2.png"/>
            <p:cNvSpPr/>
            <p:nvPr/>
          </p:nvSpPr>
          <p:spPr>
            <a:xfrm>
              <a:off x="0" y="0"/>
              <a:ext cx="6199632" cy="2999105"/>
            </a:xfrm>
            <a:custGeom>
              <a:avLst/>
              <a:gdLst/>
              <a:ahLst/>
              <a:cxnLst/>
              <a:rect l="l" t="t" r="r" b="b"/>
              <a:pathLst>
                <a:path w="6199632" h="2999105">
                  <a:moveTo>
                    <a:pt x="0" y="0"/>
                  </a:moveTo>
                  <a:lnTo>
                    <a:pt x="6199632" y="0"/>
                  </a:lnTo>
                  <a:lnTo>
                    <a:pt x="6199632" y="2999105"/>
                  </a:lnTo>
                  <a:lnTo>
                    <a:pt x="0" y="2999105"/>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6131052" y="4814316"/>
            <a:ext cx="4539996" cy="246888"/>
            <a:chOff x="0" y="0"/>
            <a:chExt cx="6053328" cy="329184"/>
          </a:xfrm>
        </p:grpSpPr>
        <p:sp>
          <p:nvSpPr>
            <p:cNvPr id="25" name="Freeform 25"/>
            <p:cNvSpPr/>
            <p:nvPr/>
          </p:nvSpPr>
          <p:spPr>
            <a:xfrm>
              <a:off x="0" y="0"/>
              <a:ext cx="6053328" cy="329184"/>
            </a:xfrm>
            <a:custGeom>
              <a:avLst/>
              <a:gdLst/>
              <a:ahLst/>
              <a:cxnLst/>
              <a:rect l="l" t="t" r="r" b="b"/>
              <a:pathLst>
                <a:path w="6053328" h="329184">
                  <a:moveTo>
                    <a:pt x="0" y="0"/>
                  </a:moveTo>
                  <a:lnTo>
                    <a:pt x="6053328" y="0"/>
                  </a:lnTo>
                  <a:lnTo>
                    <a:pt x="6053328" y="329184"/>
                  </a:lnTo>
                  <a:lnTo>
                    <a:pt x="0" y="329184"/>
                  </a:lnTo>
                  <a:close/>
                </a:path>
              </a:pathLst>
            </a:custGeom>
            <a:blipFill>
              <a:blip r:embed="rId3">
                <a:alphaModFix amt="0"/>
              </a:blip>
              <a:stretch>
                <a:fillRect t="-308308" b="-308308"/>
              </a:stretch>
            </a:blipFill>
          </p:spPr>
          <p:txBody>
            <a:bodyPr/>
            <a:lstStyle/>
            <a:p>
              <a:endParaRPr lang="es-CL"/>
            </a:p>
          </p:txBody>
        </p:sp>
        <p:sp>
          <p:nvSpPr>
            <p:cNvPr id="26" name="TextBox 26"/>
            <p:cNvSpPr txBox="1"/>
            <p:nvPr/>
          </p:nvSpPr>
          <p:spPr>
            <a:xfrm>
              <a:off x="0" y="0"/>
              <a:ext cx="60533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Docker y Docker Compose instalados</a:t>
              </a:r>
            </a:p>
          </p:txBody>
        </p:sp>
      </p:grpSp>
      <p:grpSp>
        <p:nvGrpSpPr>
          <p:cNvPr id="27" name="Group 27"/>
          <p:cNvGrpSpPr/>
          <p:nvPr/>
        </p:nvGrpSpPr>
        <p:grpSpPr>
          <a:xfrm>
            <a:off x="11213020" y="1954720"/>
            <a:ext cx="5691759" cy="3222879"/>
            <a:chOff x="0" y="0"/>
            <a:chExt cx="7589012" cy="4297172"/>
          </a:xfrm>
        </p:grpSpPr>
        <p:sp>
          <p:nvSpPr>
            <p:cNvPr id="28" name="Freeform 28"/>
            <p:cNvSpPr/>
            <p:nvPr/>
          </p:nvSpPr>
          <p:spPr>
            <a:xfrm>
              <a:off x="0" y="0"/>
              <a:ext cx="7589012" cy="4297172"/>
            </a:xfrm>
            <a:custGeom>
              <a:avLst/>
              <a:gdLst/>
              <a:ahLst/>
              <a:cxnLst/>
              <a:rect l="l" t="t" r="r" b="b"/>
              <a:pathLst>
                <a:path w="7589012" h="4297172">
                  <a:moveTo>
                    <a:pt x="0" y="146939"/>
                  </a:moveTo>
                  <a:cubicBezTo>
                    <a:pt x="0" y="65786"/>
                    <a:pt x="65786" y="0"/>
                    <a:pt x="146939" y="0"/>
                  </a:cubicBezTo>
                  <a:lnTo>
                    <a:pt x="7442073" y="0"/>
                  </a:lnTo>
                  <a:cubicBezTo>
                    <a:pt x="7523226" y="0"/>
                    <a:pt x="7589012" y="65786"/>
                    <a:pt x="7589012" y="146939"/>
                  </a:cubicBezTo>
                  <a:lnTo>
                    <a:pt x="7589012" y="4150233"/>
                  </a:lnTo>
                  <a:cubicBezTo>
                    <a:pt x="7589012" y="4231386"/>
                    <a:pt x="7523226" y="4297172"/>
                    <a:pt x="7442073" y="4297172"/>
                  </a:cubicBezTo>
                  <a:lnTo>
                    <a:pt x="146939" y="4297172"/>
                  </a:lnTo>
                  <a:cubicBezTo>
                    <a:pt x="65786" y="4297172"/>
                    <a:pt x="0" y="4231386"/>
                    <a:pt x="0" y="4150233"/>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1356848" y="3091605"/>
            <a:ext cx="5404104" cy="647348"/>
            <a:chOff x="0" y="0"/>
            <a:chExt cx="7205472" cy="863130"/>
          </a:xfrm>
        </p:grpSpPr>
        <p:sp>
          <p:nvSpPr>
            <p:cNvPr id="30" name="Freeform 30" descr="/mnt/data/evidencias/Evidencias_EP2_ISY1101/SS-29_ContenedoresEC2_y_CurlBackends.png"/>
            <p:cNvSpPr/>
            <p:nvPr/>
          </p:nvSpPr>
          <p:spPr>
            <a:xfrm>
              <a:off x="0" y="0"/>
              <a:ext cx="7205472" cy="863092"/>
            </a:xfrm>
            <a:custGeom>
              <a:avLst/>
              <a:gdLst/>
              <a:ahLst/>
              <a:cxnLst/>
              <a:rect l="l" t="t" r="r" b="b"/>
              <a:pathLst>
                <a:path w="7205472" h="863092">
                  <a:moveTo>
                    <a:pt x="0" y="0"/>
                  </a:moveTo>
                  <a:lnTo>
                    <a:pt x="7205472" y="0"/>
                  </a:lnTo>
                  <a:lnTo>
                    <a:pt x="7205472" y="863092"/>
                  </a:lnTo>
                  <a:lnTo>
                    <a:pt x="0" y="863092"/>
                  </a:lnTo>
                  <a:lnTo>
                    <a:pt x="0" y="0"/>
                  </a:lnTo>
                  <a:close/>
                </a:path>
              </a:pathLst>
            </a:custGeom>
            <a:blipFill>
              <a:blip r:embed="rId6"/>
              <a:stretch>
                <a:fillRect b="-4"/>
              </a:stretch>
            </a:blipFill>
          </p:spPr>
          <p:txBody>
            <a:bodyPr/>
            <a:lstStyle/>
            <a:p>
              <a:endParaRPr lang="es-CL"/>
            </a:p>
          </p:txBody>
        </p:sp>
      </p:grpSp>
      <p:grpSp>
        <p:nvGrpSpPr>
          <p:cNvPr id="31" name="Group 31"/>
          <p:cNvGrpSpPr/>
          <p:nvPr/>
        </p:nvGrpSpPr>
        <p:grpSpPr>
          <a:xfrm>
            <a:off x="11411712" y="4814316"/>
            <a:ext cx="5294376" cy="246888"/>
            <a:chOff x="0" y="0"/>
            <a:chExt cx="7059168" cy="329184"/>
          </a:xfrm>
        </p:grpSpPr>
        <p:sp>
          <p:nvSpPr>
            <p:cNvPr id="32" name="Freeform 32"/>
            <p:cNvSpPr/>
            <p:nvPr/>
          </p:nvSpPr>
          <p:spPr>
            <a:xfrm>
              <a:off x="0" y="0"/>
              <a:ext cx="7059168" cy="329184"/>
            </a:xfrm>
            <a:custGeom>
              <a:avLst/>
              <a:gdLst/>
              <a:ahLst/>
              <a:cxnLst/>
              <a:rect l="l" t="t" r="r" b="b"/>
              <a:pathLst>
                <a:path w="7059168" h="329184">
                  <a:moveTo>
                    <a:pt x="0" y="0"/>
                  </a:moveTo>
                  <a:lnTo>
                    <a:pt x="7059168" y="0"/>
                  </a:lnTo>
                  <a:lnTo>
                    <a:pt x="7059168" y="329184"/>
                  </a:lnTo>
                  <a:lnTo>
                    <a:pt x="0" y="329184"/>
                  </a:lnTo>
                  <a:close/>
                </a:path>
              </a:pathLst>
            </a:custGeom>
            <a:blipFill>
              <a:blip r:embed="rId3">
                <a:alphaModFix amt="0"/>
              </a:blip>
              <a:stretch>
                <a:fillRect t="-367845" b="-367845"/>
              </a:stretch>
            </a:blipFill>
          </p:spPr>
          <p:txBody>
            <a:bodyPr/>
            <a:lstStyle/>
            <a:p>
              <a:endParaRPr lang="es-CL"/>
            </a:p>
          </p:txBody>
        </p:sp>
        <p:sp>
          <p:nvSpPr>
            <p:cNvPr id="33" name="TextBox 33"/>
            <p:cNvSpPr txBox="1"/>
            <p:nvPr/>
          </p:nvSpPr>
          <p:spPr>
            <a:xfrm>
              <a:off x="0" y="0"/>
              <a:ext cx="70591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Contenedores y curl a backends</a:t>
              </a:r>
            </a:p>
          </p:txBody>
        </p:sp>
      </p:grpSp>
      <p:grpSp>
        <p:nvGrpSpPr>
          <p:cNvPr id="34" name="Group 34"/>
          <p:cNvGrpSpPr/>
          <p:nvPr/>
        </p:nvGrpSpPr>
        <p:grpSpPr>
          <a:xfrm>
            <a:off x="953452" y="5589460"/>
            <a:ext cx="7749159" cy="2742819"/>
            <a:chOff x="0" y="0"/>
            <a:chExt cx="10332212" cy="3657092"/>
          </a:xfrm>
        </p:grpSpPr>
        <p:sp>
          <p:nvSpPr>
            <p:cNvPr id="35" name="Freeform 35"/>
            <p:cNvSpPr/>
            <p:nvPr/>
          </p:nvSpPr>
          <p:spPr>
            <a:xfrm>
              <a:off x="0" y="0"/>
              <a:ext cx="10332212" cy="3657092"/>
            </a:xfrm>
            <a:custGeom>
              <a:avLst/>
              <a:gdLst/>
              <a:ahLst/>
              <a:cxnLst/>
              <a:rect l="l" t="t" r="r" b="b"/>
              <a:pathLst>
                <a:path w="10332212" h="3657092">
                  <a:moveTo>
                    <a:pt x="0" y="147066"/>
                  </a:moveTo>
                  <a:cubicBezTo>
                    <a:pt x="0" y="65786"/>
                    <a:pt x="65786" y="0"/>
                    <a:pt x="147066" y="0"/>
                  </a:cubicBezTo>
                  <a:lnTo>
                    <a:pt x="10185146" y="0"/>
                  </a:lnTo>
                  <a:cubicBezTo>
                    <a:pt x="10266299" y="0"/>
                    <a:pt x="10332212" y="65786"/>
                    <a:pt x="10332212" y="147066"/>
                  </a:cubicBezTo>
                  <a:lnTo>
                    <a:pt x="10332212" y="3510026"/>
                  </a:lnTo>
                  <a:cubicBezTo>
                    <a:pt x="10332212" y="3591179"/>
                    <a:pt x="10266426" y="3657092"/>
                    <a:pt x="10185146" y="3657092"/>
                  </a:cubicBezTo>
                  <a:lnTo>
                    <a:pt x="147066" y="3657092"/>
                  </a:lnTo>
                  <a:cubicBezTo>
                    <a:pt x="65786" y="3657092"/>
                    <a:pt x="0" y="3591306"/>
                    <a:pt x="0" y="3510026"/>
                  </a:cubicBezTo>
                  <a:close/>
                </a:path>
              </a:pathLst>
            </a:custGeom>
            <a:solidFill>
              <a:srgbClr val="FFFFFF"/>
            </a:solidFill>
            <a:ln w="13335" cap="sq">
              <a:solidFill>
                <a:srgbClr val="CBD5E1"/>
              </a:solidFill>
              <a:prstDash val="solid"/>
              <a:miter/>
            </a:ln>
          </p:spPr>
          <p:txBody>
            <a:bodyPr/>
            <a:lstStyle/>
            <a:p>
              <a:endParaRPr lang="es-CL"/>
            </a:p>
          </p:txBody>
        </p:sp>
      </p:grpSp>
      <p:grpSp>
        <p:nvGrpSpPr>
          <p:cNvPr id="36" name="Group 36"/>
          <p:cNvGrpSpPr/>
          <p:nvPr/>
        </p:nvGrpSpPr>
        <p:grpSpPr>
          <a:xfrm>
            <a:off x="1097280" y="6444186"/>
            <a:ext cx="7461504" cy="731606"/>
            <a:chOff x="0" y="0"/>
            <a:chExt cx="9948672" cy="975474"/>
          </a:xfrm>
        </p:grpSpPr>
        <p:sp>
          <p:nvSpPr>
            <p:cNvPr id="37" name="Freeform 37" descr="/mnt/data/evidencias/Evidencias_EP2_ISY1101/SS-29_ContenedoresEC2 (2).png"/>
            <p:cNvSpPr/>
            <p:nvPr/>
          </p:nvSpPr>
          <p:spPr>
            <a:xfrm>
              <a:off x="0" y="0"/>
              <a:ext cx="9948672" cy="975487"/>
            </a:xfrm>
            <a:custGeom>
              <a:avLst/>
              <a:gdLst/>
              <a:ahLst/>
              <a:cxnLst/>
              <a:rect l="l" t="t" r="r" b="b"/>
              <a:pathLst>
                <a:path w="9948672" h="975487">
                  <a:moveTo>
                    <a:pt x="0" y="0"/>
                  </a:moveTo>
                  <a:lnTo>
                    <a:pt x="9948672" y="0"/>
                  </a:lnTo>
                  <a:lnTo>
                    <a:pt x="9948672" y="975487"/>
                  </a:lnTo>
                  <a:lnTo>
                    <a:pt x="0" y="975487"/>
                  </a:lnTo>
                  <a:lnTo>
                    <a:pt x="0" y="0"/>
                  </a:lnTo>
                  <a:close/>
                </a:path>
              </a:pathLst>
            </a:custGeom>
            <a:blipFill>
              <a:blip r:embed="rId7"/>
              <a:stretch>
                <a:fillRect b="1"/>
              </a:stretch>
            </a:blipFill>
          </p:spPr>
          <p:txBody>
            <a:bodyPr/>
            <a:lstStyle/>
            <a:p>
              <a:endParaRPr lang="es-CL"/>
            </a:p>
          </p:txBody>
        </p:sp>
      </p:grpSp>
      <p:grpSp>
        <p:nvGrpSpPr>
          <p:cNvPr id="38" name="Group 38"/>
          <p:cNvGrpSpPr/>
          <p:nvPr/>
        </p:nvGrpSpPr>
        <p:grpSpPr>
          <a:xfrm>
            <a:off x="1152144" y="7968996"/>
            <a:ext cx="7351776" cy="246888"/>
            <a:chOff x="0" y="0"/>
            <a:chExt cx="9802368" cy="329184"/>
          </a:xfrm>
        </p:grpSpPr>
        <p:sp>
          <p:nvSpPr>
            <p:cNvPr id="39" name="Freeform 39"/>
            <p:cNvSpPr/>
            <p:nvPr/>
          </p:nvSpPr>
          <p:spPr>
            <a:xfrm>
              <a:off x="0" y="0"/>
              <a:ext cx="9802368" cy="329184"/>
            </a:xfrm>
            <a:custGeom>
              <a:avLst/>
              <a:gdLst/>
              <a:ahLst/>
              <a:cxnLst/>
              <a:rect l="l" t="t" r="r" b="b"/>
              <a:pathLst>
                <a:path w="9802368" h="329184">
                  <a:moveTo>
                    <a:pt x="0" y="0"/>
                  </a:moveTo>
                  <a:lnTo>
                    <a:pt x="9802368" y="0"/>
                  </a:lnTo>
                  <a:lnTo>
                    <a:pt x="9802368" y="329184"/>
                  </a:lnTo>
                  <a:lnTo>
                    <a:pt x="0" y="329184"/>
                  </a:lnTo>
                  <a:close/>
                </a:path>
              </a:pathLst>
            </a:custGeom>
            <a:blipFill>
              <a:blip r:embed="rId3">
                <a:alphaModFix amt="0"/>
              </a:blip>
              <a:stretch>
                <a:fillRect t="-530221" b="-530221"/>
              </a:stretch>
            </a:blipFill>
          </p:spPr>
          <p:txBody>
            <a:bodyPr/>
            <a:lstStyle/>
            <a:p>
              <a:endParaRPr lang="es-CL"/>
            </a:p>
          </p:txBody>
        </p:sp>
        <p:sp>
          <p:nvSpPr>
            <p:cNvPr id="40" name="TextBox 40"/>
            <p:cNvSpPr txBox="1"/>
            <p:nvPr/>
          </p:nvSpPr>
          <p:spPr>
            <a:xfrm>
              <a:off x="0" y="0"/>
              <a:ext cx="98023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Todos los contenedores en estado Up</a:t>
              </a:r>
            </a:p>
          </p:txBody>
        </p:sp>
      </p:grpSp>
      <p:grpSp>
        <p:nvGrpSpPr>
          <p:cNvPr id="41" name="Group 41"/>
          <p:cNvGrpSpPr/>
          <p:nvPr/>
        </p:nvGrpSpPr>
        <p:grpSpPr>
          <a:xfrm>
            <a:off x="9224200" y="5589460"/>
            <a:ext cx="7680579" cy="2742819"/>
            <a:chOff x="0" y="0"/>
            <a:chExt cx="10240772" cy="3657092"/>
          </a:xfrm>
        </p:grpSpPr>
        <p:sp>
          <p:nvSpPr>
            <p:cNvPr id="42" name="Freeform 42"/>
            <p:cNvSpPr/>
            <p:nvPr/>
          </p:nvSpPr>
          <p:spPr>
            <a:xfrm>
              <a:off x="0" y="0"/>
              <a:ext cx="10240773" cy="3657092"/>
            </a:xfrm>
            <a:custGeom>
              <a:avLst/>
              <a:gdLst/>
              <a:ahLst/>
              <a:cxnLst/>
              <a:rect l="l" t="t" r="r" b="b"/>
              <a:pathLst>
                <a:path w="10240773" h="3657092">
                  <a:moveTo>
                    <a:pt x="0" y="147066"/>
                  </a:moveTo>
                  <a:cubicBezTo>
                    <a:pt x="0" y="65786"/>
                    <a:pt x="65786" y="0"/>
                    <a:pt x="147066" y="0"/>
                  </a:cubicBezTo>
                  <a:lnTo>
                    <a:pt x="10093706" y="0"/>
                  </a:lnTo>
                  <a:cubicBezTo>
                    <a:pt x="10174860" y="0"/>
                    <a:pt x="10240773" y="65786"/>
                    <a:pt x="10240773" y="147066"/>
                  </a:cubicBezTo>
                  <a:lnTo>
                    <a:pt x="10240773" y="3510026"/>
                  </a:lnTo>
                  <a:cubicBezTo>
                    <a:pt x="10240773" y="3591179"/>
                    <a:pt x="10174987" y="3657092"/>
                    <a:pt x="10093706" y="3657092"/>
                  </a:cubicBezTo>
                  <a:lnTo>
                    <a:pt x="147066" y="3657092"/>
                  </a:lnTo>
                  <a:cubicBezTo>
                    <a:pt x="65786" y="3657092"/>
                    <a:pt x="0" y="3591306"/>
                    <a:pt x="0" y="3510026"/>
                  </a:cubicBezTo>
                  <a:close/>
                </a:path>
              </a:pathLst>
            </a:custGeom>
            <a:solidFill>
              <a:srgbClr val="FFFFFF"/>
            </a:solidFill>
            <a:ln w="13335" cap="sq">
              <a:solidFill>
                <a:srgbClr val="CBD5E1"/>
              </a:solidFill>
              <a:prstDash val="solid"/>
              <a:miter/>
            </a:ln>
          </p:spPr>
          <p:txBody>
            <a:bodyPr/>
            <a:lstStyle/>
            <a:p>
              <a:endParaRPr lang="es-CL"/>
            </a:p>
          </p:txBody>
        </p:sp>
      </p:grpSp>
      <p:grpSp>
        <p:nvGrpSpPr>
          <p:cNvPr id="43" name="Group 43"/>
          <p:cNvGrpSpPr/>
          <p:nvPr/>
        </p:nvGrpSpPr>
        <p:grpSpPr>
          <a:xfrm>
            <a:off x="9551718" y="5719572"/>
            <a:ext cx="7025535" cy="2180844"/>
            <a:chOff x="0" y="0"/>
            <a:chExt cx="9367380" cy="2907792"/>
          </a:xfrm>
        </p:grpSpPr>
        <p:sp>
          <p:nvSpPr>
            <p:cNvPr id="44" name="Freeform 44" descr="/mnt/data/evidencias/Evidencias_EP2_ISY1101/SS-33_VolumenEC2.png"/>
            <p:cNvSpPr/>
            <p:nvPr/>
          </p:nvSpPr>
          <p:spPr>
            <a:xfrm>
              <a:off x="0" y="0"/>
              <a:ext cx="9367393" cy="2907792"/>
            </a:xfrm>
            <a:custGeom>
              <a:avLst/>
              <a:gdLst/>
              <a:ahLst/>
              <a:cxnLst/>
              <a:rect l="l" t="t" r="r" b="b"/>
              <a:pathLst>
                <a:path w="9367393" h="2907792">
                  <a:moveTo>
                    <a:pt x="0" y="0"/>
                  </a:moveTo>
                  <a:lnTo>
                    <a:pt x="9367393" y="0"/>
                  </a:lnTo>
                  <a:lnTo>
                    <a:pt x="9367393" y="2907792"/>
                  </a:lnTo>
                  <a:lnTo>
                    <a:pt x="0" y="2907792"/>
                  </a:lnTo>
                  <a:lnTo>
                    <a:pt x="0" y="0"/>
                  </a:lnTo>
                  <a:close/>
                </a:path>
              </a:pathLst>
            </a:custGeom>
            <a:blipFill>
              <a:blip r:embed="rId8"/>
              <a:stretch>
                <a:fillRect/>
              </a:stretch>
            </a:blipFill>
          </p:spPr>
          <p:txBody>
            <a:bodyPr/>
            <a:lstStyle/>
            <a:p>
              <a:endParaRPr lang="es-CL"/>
            </a:p>
          </p:txBody>
        </p:sp>
      </p:grpSp>
      <p:grpSp>
        <p:nvGrpSpPr>
          <p:cNvPr id="45" name="Group 45"/>
          <p:cNvGrpSpPr/>
          <p:nvPr/>
        </p:nvGrpSpPr>
        <p:grpSpPr>
          <a:xfrm>
            <a:off x="9422892" y="7968996"/>
            <a:ext cx="7283196" cy="246888"/>
            <a:chOff x="0" y="0"/>
            <a:chExt cx="9710928" cy="329184"/>
          </a:xfrm>
        </p:grpSpPr>
        <p:sp>
          <p:nvSpPr>
            <p:cNvPr id="46" name="Freeform 46"/>
            <p:cNvSpPr/>
            <p:nvPr/>
          </p:nvSpPr>
          <p:spPr>
            <a:xfrm>
              <a:off x="0" y="0"/>
              <a:ext cx="9710928" cy="329184"/>
            </a:xfrm>
            <a:custGeom>
              <a:avLst/>
              <a:gdLst/>
              <a:ahLst/>
              <a:cxnLst/>
              <a:rect l="l" t="t" r="r" b="b"/>
              <a:pathLst>
                <a:path w="9710928" h="329184">
                  <a:moveTo>
                    <a:pt x="0" y="0"/>
                  </a:moveTo>
                  <a:lnTo>
                    <a:pt x="9710928" y="0"/>
                  </a:lnTo>
                  <a:lnTo>
                    <a:pt x="9710928" y="329184"/>
                  </a:lnTo>
                  <a:lnTo>
                    <a:pt x="0" y="329184"/>
                  </a:lnTo>
                  <a:close/>
                </a:path>
              </a:pathLst>
            </a:custGeom>
            <a:blipFill>
              <a:blip r:embed="rId3">
                <a:alphaModFix amt="0"/>
              </a:blip>
              <a:stretch>
                <a:fillRect t="-524808" b="-524808"/>
              </a:stretch>
            </a:blipFill>
          </p:spPr>
          <p:txBody>
            <a:bodyPr/>
            <a:lstStyle/>
            <a:p>
              <a:endParaRPr lang="es-CL"/>
            </a:p>
          </p:txBody>
        </p:sp>
        <p:sp>
          <p:nvSpPr>
            <p:cNvPr id="47" name="TextBox 47"/>
            <p:cNvSpPr txBox="1"/>
            <p:nvPr/>
          </p:nvSpPr>
          <p:spPr>
            <a:xfrm>
              <a:off x="0" y="0"/>
              <a:ext cx="971092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Volumen Docker creado en EC2</a:t>
              </a:r>
            </a:p>
          </p:txBody>
        </p:sp>
      </p:grpSp>
      <p:grpSp>
        <p:nvGrpSpPr>
          <p:cNvPr id="48" name="Group 48"/>
          <p:cNvGrpSpPr/>
          <p:nvPr/>
        </p:nvGrpSpPr>
        <p:grpSpPr>
          <a:xfrm>
            <a:off x="754380" y="9779508"/>
            <a:ext cx="7406640" cy="246888"/>
            <a:chOff x="0" y="0"/>
            <a:chExt cx="9875520" cy="329184"/>
          </a:xfrm>
        </p:grpSpPr>
        <p:sp>
          <p:nvSpPr>
            <p:cNvPr id="49" name="Freeform 49"/>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50" name="TextBox 50"/>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51" name="Group 51"/>
          <p:cNvGrpSpPr/>
          <p:nvPr/>
        </p:nvGrpSpPr>
        <p:grpSpPr>
          <a:xfrm>
            <a:off x="16952976" y="9669780"/>
            <a:ext cx="576072" cy="356616"/>
            <a:chOff x="0" y="0"/>
            <a:chExt cx="768096" cy="475488"/>
          </a:xfrm>
        </p:grpSpPr>
        <p:sp>
          <p:nvSpPr>
            <p:cNvPr id="52" name="Freeform 52"/>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53" name="TextBox 53"/>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12</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Validación externa</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Servicios publicados y endpoints operativos</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8092059" cy="6308979"/>
            <a:chOff x="0" y="0"/>
            <a:chExt cx="10789412" cy="8411972"/>
          </a:xfrm>
        </p:grpSpPr>
        <p:sp>
          <p:nvSpPr>
            <p:cNvPr id="14" name="Freeform 14"/>
            <p:cNvSpPr/>
            <p:nvPr/>
          </p:nvSpPr>
          <p:spPr>
            <a:xfrm>
              <a:off x="0" y="0"/>
              <a:ext cx="10789412" cy="8411972"/>
            </a:xfrm>
            <a:custGeom>
              <a:avLst/>
              <a:gdLst/>
              <a:ahLst/>
              <a:cxnLst/>
              <a:rect l="l" t="t" r="r" b="b"/>
              <a:pathLst>
                <a:path w="10789412" h="8411972">
                  <a:moveTo>
                    <a:pt x="0" y="146558"/>
                  </a:moveTo>
                  <a:cubicBezTo>
                    <a:pt x="0" y="65659"/>
                    <a:pt x="65659" y="0"/>
                    <a:pt x="146558" y="0"/>
                  </a:cubicBezTo>
                  <a:lnTo>
                    <a:pt x="10642854" y="0"/>
                  </a:lnTo>
                  <a:cubicBezTo>
                    <a:pt x="10723880" y="0"/>
                    <a:pt x="10789412" y="65659"/>
                    <a:pt x="10789412" y="146558"/>
                  </a:cubicBezTo>
                  <a:lnTo>
                    <a:pt x="10789412" y="8265414"/>
                  </a:lnTo>
                  <a:cubicBezTo>
                    <a:pt x="10789412" y="8346440"/>
                    <a:pt x="10723753" y="8411972"/>
                    <a:pt x="10642854" y="8411972"/>
                  </a:cubicBezTo>
                  <a:lnTo>
                    <a:pt x="146558" y="8411972"/>
                  </a:lnTo>
                  <a:cubicBezTo>
                    <a:pt x="65659" y="8411972"/>
                    <a:pt x="0" y="8346313"/>
                    <a:pt x="0" y="826541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138428" y="2927804"/>
            <a:ext cx="7804404" cy="4061060"/>
            <a:chOff x="0" y="0"/>
            <a:chExt cx="10405872" cy="5414747"/>
          </a:xfrm>
        </p:grpSpPr>
        <p:sp>
          <p:nvSpPr>
            <p:cNvPr id="16" name="Freeform 16" descr="/mnt/data/evidencias/Evidencias_EP2_ISY1101/SS-30_FrontendPublicoEC2.png"/>
            <p:cNvSpPr/>
            <p:nvPr/>
          </p:nvSpPr>
          <p:spPr>
            <a:xfrm>
              <a:off x="0" y="0"/>
              <a:ext cx="10405872" cy="5414772"/>
            </a:xfrm>
            <a:custGeom>
              <a:avLst/>
              <a:gdLst/>
              <a:ahLst/>
              <a:cxnLst/>
              <a:rect l="l" t="t" r="r" b="b"/>
              <a:pathLst>
                <a:path w="10405872" h="5414772">
                  <a:moveTo>
                    <a:pt x="0" y="0"/>
                  </a:moveTo>
                  <a:lnTo>
                    <a:pt x="10405872" y="0"/>
                  </a:lnTo>
                  <a:lnTo>
                    <a:pt x="10405872" y="5414772"/>
                  </a:lnTo>
                  <a:lnTo>
                    <a:pt x="0" y="5414772"/>
                  </a:lnTo>
                  <a:lnTo>
                    <a:pt x="0" y="0"/>
                  </a:lnTo>
                  <a:close/>
                </a:path>
              </a:pathLst>
            </a:custGeom>
            <a:blipFill>
              <a:blip r:embed="rId4"/>
              <a:stretch>
                <a:fillRect/>
              </a:stretch>
            </a:blipFill>
          </p:spPr>
          <p:txBody>
            <a:bodyPr/>
            <a:lstStyle/>
            <a:p>
              <a:endParaRPr lang="es-CL"/>
            </a:p>
          </p:txBody>
        </p:sp>
      </p:grpSp>
      <p:grpSp>
        <p:nvGrpSpPr>
          <p:cNvPr id="17" name="Group 17"/>
          <p:cNvGrpSpPr/>
          <p:nvPr/>
        </p:nvGrpSpPr>
        <p:grpSpPr>
          <a:xfrm>
            <a:off x="1193292" y="7900416"/>
            <a:ext cx="7694676" cy="246888"/>
            <a:chOff x="0" y="0"/>
            <a:chExt cx="10259568" cy="329184"/>
          </a:xfrm>
        </p:grpSpPr>
        <p:sp>
          <p:nvSpPr>
            <p:cNvPr id="18" name="Freeform 18"/>
            <p:cNvSpPr/>
            <p:nvPr/>
          </p:nvSpPr>
          <p:spPr>
            <a:xfrm>
              <a:off x="0" y="0"/>
              <a:ext cx="10259568" cy="329184"/>
            </a:xfrm>
            <a:custGeom>
              <a:avLst/>
              <a:gdLst/>
              <a:ahLst/>
              <a:cxnLst/>
              <a:rect l="l" t="t" r="r" b="b"/>
              <a:pathLst>
                <a:path w="10259568" h="329184">
                  <a:moveTo>
                    <a:pt x="0" y="0"/>
                  </a:moveTo>
                  <a:lnTo>
                    <a:pt x="10259568" y="0"/>
                  </a:lnTo>
                  <a:lnTo>
                    <a:pt x="10259568" y="329184"/>
                  </a:lnTo>
                  <a:lnTo>
                    <a:pt x="0" y="329184"/>
                  </a:lnTo>
                  <a:close/>
                </a:path>
              </a:pathLst>
            </a:custGeom>
            <a:blipFill>
              <a:blip r:embed="rId3">
                <a:alphaModFix amt="0"/>
              </a:blip>
              <a:stretch>
                <a:fillRect t="-557283" b="-557283"/>
              </a:stretch>
            </a:blipFill>
          </p:spPr>
          <p:txBody>
            <a:bodyPr/>
            <a:lstStyle/>
            <a:p>
              <a:endParaRPr lang="es-CL"/>
            </a:p>
          </p:txBody>
        </p:sp>
        <p:sp>
          <p:nvSpPr>
            <p:cNvPr id="19" name="TextBox 19"/>
            <p:cNvSpPr txBox="1"/>
            <p:nvPr/>
          </p:nvSpPr>
          <p:spPr>
            <a:xfrm>
              <a:off x="0" y="0"/>
              <a:ext cx="1025956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Frontend publicado: http://3.86.149.11:8080</a:t>
              </a:r>
            </a:p>
          </p:txBody>
        </p:sp>
      </p:grpSp>
      <p:grpSp>
        <p:nvGrpSpPr>
          <p:cNvPr id="20" name="Group 20"/>
          <p:cNvGrpSpPr/>
          <p:nvPr/>
        </p:nvGrpSpPr>
        <p:grpSpPr>
          <a:xfrm>
            <a:off x="9498520" y="2091880"/>
            <a:ext cx="7611999" cy="2194179"/>
            <a:chOff x="0" y="0"/>
            <a:chExt cx="10149332" cy="2925572"/>
          </a:xfrm>
        </p:grpSpPr>
        <p:sp>
          <p:nvSpPr>
            <p:cNvPr id="21" name="Freeform 21"/>
            <p:cNvSpPr/>
            <p:nvPr/>
          </p:nvSpPr>
          <p:spPr>
            <a:xfrm>
              <a:off x="0" y="0"/>
              <a:ext cx="10149332" cy="2925572"/>
            </a:xfrm>
            <a:custGeom>
              <a:avLst/>
              <a:gdLst/>
              <a:ahLst/>
              <a:cxnLst/>
              <a:rect l="l" t="t" r="r" b="b"/>
              <a:pathLst>
                <a:path w="10149332" h="2925572">
                  <a:moveTo>
                    <a:pt x="0" y="147193"/>
                  </a:moveTo>
                  <a:cubicBezTo>
                    <a:pt x="0" y="65913"/>
                    <a:pt x="65913" y="0"/>
                    <a:pt x="147193" y="0"/>
                  </a:cubicBezTo>
                  <a:lnTo>
                    <a:pt x="10002139" y="0"/>
                  </a:lnTo>
                  <a:cubicBezTo>
                    <a:pt x="10083419" y="0"/>
                    <a:pt x="10149332" y="65913"/>
                    <a:pt x="10149332" y="147193"/>
                  </a:cubicBezTo>
                  <a:lnTo>
                    <a:pt x="10149332" y="2778379"/>
                  </a:lnTo>
                  <a:cubicBezTo>
                    <a:pt x="10149332" y="2859659"/>
                    <a:pt x="10083419" y="2925572"/>
                    <a:pt x="10002139" y="2925572"/>
                  </a:cubicBezTo>
                  <a:lnTo>
                    <a:pt x="147193" y="2925572"/>
                  </a:lnTo>
                  <a:cubicBezTo>
                    <a:pt x="65913" y="2925572"/>
                    <a:pt x="0" y="2859659"/>
                    <a:pt x="0" y="2778379"/>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2" name="Group 22"/>
          <p:cNvGrpSpPr/>
          <p:nvPr/>
        </p:nvGrpSpPr>
        <p:grpSpPr>
          <a:xfrm>
            <a:off x="11277505" y="2221992"/>
            <a:ext cx="4054031" cy="1632204"/>
            <a:chOff x="0" y="0"/>
            <a:chExt cx="5405374" cy="2176272"/>
          </a:xfrm>
        </p:grpSpPr>
        <p:sp>
          <p:nvSpPr>
            <p:cNvPr id="23" name="Freeform 23" descr="/mnt/data/evidencias/Evidencias_EP2_ISY1101/SS-31_BackendVentasEC2.png"/>
            <p:cNvSpPr/>
            <p:nvPr/>
          </p:nvSpPr>
          <p:spPr>
            <a:xfrm>
              <a:off x="0" y="0"/>
              <a:ext cx="5405374" cy="2176272"/>
            </a:xfrm>
            <a:custGeom>
              <a:avLst/>
              <a:gdLst/>
              <a:ahLst/>
              <a:cxnLst/>
              <a:rect l="l" t="t" r="r" b="b"/>
              <a:pathLst>
                <a:path w="5405374" h="2176272">
                  <a:moveTo>
                    <a:pt x="0" y="0"/>
                  </a:moveTo>
                  <a:lnTo>
                    <a:pt x="5405374" y="0"/>
                  </a:lnTo>
                  <a:lnTo>
                    <a:pt x="5405374" y="2176272"/>
                  </a:lnTo>
                  <a:lnTo>
                    <a:pt x="0" y="2176272"/>
                  </a:lnTo>
                  <a:lnTo>
                    <a:pt x="0" y="0"/>
                  </a:lnTo>
                  <a:close/>
                </a:path>
              </a:pathLst>
            </a:custGeom>
            <a:blipFill>
              <a:blip r:embed="rId5"/>
              <a:stretch>
                <a:fillRect/>
              </a:stretch>
            </a:blipFill>
          </p:spPr>
          <p:txBody>
            <a:bodyPr/>
            <a:lstStyle/>
            <a:p>
              <a:endParaRPr lang="es-CL"/>
            </a:p>
          </p:txBody>
        </p:sp>
      </p:grpSp>
      <p:grpSp>
        <p:nvGrpSpPr>
          <p:cNvPr id="24" name="Group 24"/>
          <p:cNvGrpSpPr/>
          <p:nvPr/>
        </p:nvGrpSpPr>
        <p:grpSpPr>
          <a:xfrm>
            <a:off x="9697212" y="3922776"/>
            <a:ext cx="7214616" cy="246888"/>
            <a:chOff x="0" y="0"/>
            <a:chExt cx="9619488" cy="329184"/>
          </a:xfrm>
        </p:grpSpPr>
        <p:sp>
          <p:nvSpPr>
            <p:cNvPr id="25" name="Freeform 25"/>
            <p:cNvSpPr/>
            <p:nvPr/>
          </p:nvSpPr>
          <p:spPr>
            <a:xfrm>
              <a:off x="0" y="0"/>
              <a:ext cx="9619488" cy="329184"/>
            </a:xfrm>
            <a:custGeom>
              <a:avLst/>
              <a:gdLst/>
              <a:ahLst/>
              <a:cxnLst/>
              <a:rect l="l" t="t" r="r" b="b"/>
              <a:pathLst>
                <a:path w="9619488" h="329184">
                  <a:moveTo>
                    <a:pt x="0" y="0"/>
                  </a:moveTo>
                  <a:lnTo>
                    <a:pt x="9619488" y="0"/>
                  </a:lnTo>
                  <a:lnTo>
                    <a:pt x="9619488" y="329184"/>
                  </a:lnTo>
                  <a:lnTo>
                    <a:pt x="0" y="329184"/>
                  </a:lnTo>
                  <a:close/>
                </a:path>
              </a:pathLst>
            </a:custGeom>
            <a:blipFill>
              <a:blip r:embed="rId3">
                <a:alphaModFix amt="0"/>
              </a:blip>
              <a:stretch>
                <a:fillRect t="-519396" b="-519396"/>
              </a:stretch>
            </a:blipFill>
          </p:spPr>
          <p:txBody>
            <a:bodyPr/>
            <a:lstStyle/>
            <a:p>
              <a:endParaRPr lang="es-CL"/>
            </a:p>
          </p:txBody>
        </p:sp>
        <p:sp>
          <p:nvSpPr>
            <p:cNvPr id="26" name="TextBox 26"/>
            <p:cNvSpPr txBox="1"/>
            <p:nvPr/>
          </p:nvSpPr>
          <p:spPr>
            <a:xfrm>
              <a:off x="0" y="0"/>
              <a:ext cx="961948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Ventas: http://3.86.149.11:8081/api/v1/ventas</a:t>
              </a:r>
            </a:p>
          </p:txBody>
        </p:sp>
      </p:grpSp>
      <p:grpSp>
        <p:nvGrpSpPr>
          <p:cNvPr id="27" name="Group 27"/>
          <p:cNvGrpSpPr/>
          <p:nvPr/>
        </p:nvGrpSpPr>
        <p:grpSpPr>
          <a:xfrm>
            <a:off x="9498520" y="4697920"/>
            <a:ext cx="7611999" cy="2194179"/>
            <a:chOff x="0" y="0"/>
            <a:chExt cx="10149332" cy="2925572"/>
          </a:xfrm>
        </p:grpSpPr>
        <p:sp>
          <p:nvSpPr>
            <p:cNvPr id="28" name="Freeform 28"/>
            <p:cNvSpPr/>
            <p:nvPr/>
          </p:nvSpPr>
          <p:spPr>
            <a:xfrm>
              <a:off x="0" y="0"/>
              <a:ext cx="10149332" cy="2925572"/>
            </a:xfrm>
            <a:custGeom>
              <a:avLst/>
              <a:gdLst/>
              <a:ahLst/>
              <a:cxnLst/>
              <a:rect l="l" t="t" r="r" b="b"/>
              <a:pathLst>
                <a:path w="10149332" h="2925572">
                  <a:moveTo>
                    <a:pt x="0" y="147193"/>
                  </a:moveTo>
                  <a:cubicBezTo>
                    <a:pt x="0" y="65913"/>
                    <a:pt x="65913" y="0"/>
                    <a:pt x="147193" y="0"/>
                  </a:cubicBezTo>
                  <a:lnTo>
                    <a:pt x="10002139" y="0"/>
                  </a:lnTo>
                  <a:cubicBezTo>
                    <a:pt x="10083419" y="0"/>
                    <a:pt x="10149332" y="65913"/>
                    <a:pt x="10149332" y="147193"/>
                  </a:cubicBezTo>
                  <a:lnTo>
                    <a:pt x="10149332" y="2778379"/>
                  </a:lnTo>
                  <a:cubicBezTo>
                    <a:pt x="10149332" y="2859659"/>
                    <a:pt x="10083419" y="2925572"/>
                    <a:pt x="10002139" y="2925572"/>
                  </a:cubicBezTo>
                  <a:lnTo>
                    <a:pt x="147193" y="2925572"/>
                  </a:lnTo>
                  <a:cubicBezTo>
                    <a:pt x="65913" y="2925572"/>
                    <a:pt x="0" y="2859659"/>
                    <a:pt x="0" y="2778379"/>
                  </a:cubicBezTo>
                  <a:close/>
                </a:path>
              </a:pathLst>
            </a:custGeom>
            <a:solidFill>
              <a:srgbClr val="FFFFFF"/>
            </a:solidFill>
            <a:ln w="13335" cap="sq">
              <a:solidFill>
                <a:srgbClr val="CBD5E1"/>
              </a:solidFill>
              <a:prstDash val="solid"/>
              <a:miter/>
            </a:ln>
          </p:spPr>
          <p:txBody>
            <a:bodyPr/>
            <a:lstStyle/>
            <a:p>
              <a:endParaRPr lang="es-CL"/>
            </a:p>
          </p:txBody>
        </p:sp>
      </p:grpSp>
      <p:grpSp>
        <p:nvGrpSpPr>
          <p:cNvPr id="29" name="Group 29"/>
          <p:cNvGrpSpPr/>
          <p:nvPr/>
        </p:nvGrpSpPr>
        <p:grpSpPr>
          <a:xfrm>
            <a:off x="10260816" y="4828032"/>
            <a:ext cx="6087399" cy="1632204"/>
            <a:chOff x="0" y="0"/>
            <a:chExt cx="8116532" cy="2176272"/>
          </a:xfrm>
        </p:grpSpPr>
        <p:sp>
          <p:nvSpPr>
            <p:cNvPr id="30" name="Freeform 30" descr="/mnt/data/evidencias/Evidencias_EP2_ISY1101/SS-32_BackendDespachosEC2.png"/>
            <p:cNvSpPr/>
            <p:nvPr/>
          </p:nvSpPr>
          <p:spPr>
            <a:xfrm>
              <a:off x="0" y="0"/>
              <a:ext cx="8116570" cy="2176272"/>
            </a:xfrm>
            <a:custGeom>
              <a:avLst/>
              <a:gdLst/>
              <a:ahLst/>
              <a:cxnLst/>
              <a:rect l="l" t="t" r="r" b="b"/>
              <a:pathLst>
                <a:path w="8116570" h="2176272">
                  <a:moveTo>
                    <a:pt x="0" y="0"/>
                  </a:moveTo>
                  <a:lnTo>
                    <a:pt x="8116570" y="0"/>
                  </a:lnTo>
                  <a:lnTo>
                    <a:pt x="8116570" y="2176272"/>
                  </a:lnTo>
                  <a:lnTo>
                    <a:pt x="0" y="2176272"/>
                  </a:lnTo>
                  <a:lnTo>
                    <a:pt x="0" y="0"/>
                  </a:lnTo>
                  <a:close/>
                </a:path>
              </a:pathLst>
            </a:custGeom>
            <a:blipFill>
              <a:blip r:embed="rId6"/>
              <a:stretch>
                <a:fillRect/>
              </a:stretch>
            </a:blipFill>
          </p:spPr>
          <p:txBody>
            <a:bodyPr/>
            <a:lstStyle/>
            <a:p>
              <a:endParaRPr lang="es-CL"/>
            </a:p>
          </p:txBody>
        </p:sp>
      </p:grpSp>
      <p:grpSp>
        <p:nvGrpSpPr>
          <p:cNvPr id="31" name="Group 31"/>
          <p:cNvGrpSpPr/>
          <p:nvPr/>
        </p:nvGrpSpPr>
        <p:grpSpPr>
          <a:xfrm>
            <a:off x="9697212" y="6528816"/>
            <a:ext cx="7214616" cy="246888"/>
            <a:chOff x="0" y="0"/>
            <a:chExt cx="9619488" cy="329184"/>
          </a:xfrm>
        </p:grpSpPr>
        <p:sp>
          <p:nvSpPr>
            <p:cNvPr id="32" name="Freeform 32"/>
            <p:cNvSpPr/>
            <p:nvPr/>
          </p:nvSpPr>
          <p:spPr>
            <a:xfrm>
              <a:off x="0" y="0"/>
              <a:ext cx="9619488" cy="329184"/>
            </a:xfrm>
            <a:custGeom>
              <a:avLst/>
              <a:gdLst/>
              <a:ahLst/>
              <a:cxnLst/>
              <a:rect l="l" t="t" r="r" b="b"/>
              <a:pathLst>
                <a:path w="9619488" h="329184">
                  <a:moveTo>
                    <a:pt x="0" y="0"/>
                  </a:moveTo>
                  <a:lnTo>
                    <a:pt x="9619488" y="0"/>
                  </a:lnTo>
                  <a:lnTo>
                    <a:pt x="9619488" y="329184"/>
                  </a:lnTo>
                  <a:lnTo>
                    <a:pt x="0" y="329184"/>
                  </a:lnTo>
                  <a:close/>
                </a:path>
              </a:pathLst>
            </a:custGeom>
            <a:blipFill>
              <a:blip r:embed="rId3">
                <a:alphaModFix amt="0"/>
              </a:blip>
              <a:stretch>
                <a:fillRect t="-519396" b="-519396"/>
              </a:stretch>
            </a:blipFill>
          </p:spPr>
          <p:txBody>
            <a:bodyPr/>
            <a:lstStyle/>
            <a:p>
              <a:endParaRPr lang="es-CL"/>
            </a:p>
          </p:txBody>
        </p:sp>
        <p:sp>
          <p:nvSpPr>
            <p:cNvPr id="33" name="TextBox 33"/>
            <p:cNvSpPr txBox="1"/>
            <p:nvPr/>
          </p:nvSpPr>
          <p:spPr>
            <a:xfrm>
              <a:off x="0" y="0"/>
              <a:ext cx="961948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Despachos: http://3.86.149.11:8082/api/v1/despachos</a:t>
              </a:r>
            </a:p>
          </p:txBody>
        </p:sp>
      </p:grpSp>
      <p:grpSp>
        <p:nvGrpSpPr>
          <p:cNvPr id="34" name="Group 34"/>
          <p:cNvGrpSpPr/>
          <p:nvPr/>
        </p:nvGrpSpPr>
        <p:grpSpPr>
          <a:xfrm>
            <a:off x="9669780" y="7571232"/>
            <a:ext cx="356616" cy="274320"/>
            <a:chOff x="0" y="0"/>
            <a:chExt cx="475488" cy="365760"/>
          </a:xfrm>
        </p:grpSpPr>
        <p:sp>
          <p:nvSpPr>
            <p:cNvPr id="35" name="Freeform 35"/>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6" name="TextBox 36"/>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37" name="Group 37"/>
          <p:cNvGrpSpPr/>
          <p:nvPr/>
        </p:nvGrpSpPr>
        <p:grpSpPr>
          <a:xfrm>
            <a:off x="10108692" y="7598664"/>
            <a:ext cx="6967728" cy="356616"/>
            <a:chOff x="0" y="0"/>
            <a:chExt cx="9290304" cy="475488"/>
          </a:xfrm>
        </p:grpSpPr>
        <p:sp>
          <p:nvSpPr>
            <p:cNvPr id="38" name="Freeform 38"/>
            <p:cNvSpPr/>
            <p:nvPr/>
          </p:nvSpPr>
          <p:spPr>
            <a:xfrm>
              <a:off x="0" y="0"/>
              <a:ext cx="9290304" cy="475488"/>
            </a:xfrm>
            <a:custGeom>
              <a:avLst/>
              <a:gdLst/>
              <a:ahLst/>
              <a:cxnLst/>
              <a:rect l="l" t="t" r="r" b="b"/>
              <a:pathLst>
                <a:path w="9290304" h="475488">
                  <a:moveTo>
                    <a:pt x="0" y="0"/>
                  </a:moveTo>
                  <a:lnTo>
                    <a:pt x="9290304" y="0"/>
                  </a:lnTo>
                  <a:lnTo>
                    <a:pt x="9290304" y="475488"/>
                  </a:lnTo>
                  <a:lnTo>
                    <a:pt x="0" y="475488"/>
                  </a:lnTo>
                  <a:close/>
                </a:path>
              </a:pathLst>
            </a:custGeom>
            <a:blipFill>
              <a:blip r:embed="rId3">
                <a:alphaModFix amt="0"/>
              </a:blip>
              <a:stretch>
                <a:fillRect t="-330707" b="-330707"/>
              </a:stretch>
            </a:blipFill>
          </p:spPr>
          <p:txBody>
            <a:bodyPr/>
            <a:lstStyle/>
            <a:p>
              <a:endParaRPr lang="es-CL"/>
            </a:p>
          </p:txBody>
        </p:sp>
        <p:sp>
          <p:nvSpPr>
            <p:cNvPr id="39" name="TextBox 39"/>
            <p:cNvSpPr txBox="1"/>
            <p:nvPr/>
          </p:nvSpPr>
          <p:spPr>
            <a:xfrm>
              <a:off x="0" y="-9525"/>
              <a:ext cx="929030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Frontend accesible desde navegador mediante IP pública</a:t>
              </a:r>
            </a:p>
          </p:txBody>
        </p:sp>
      </p:grpSp>
      <p:grpSp>
        <p:nvGrpSpPr>
          <p:cNvPr id="40" name="Group 40"/>
          <p:cNvGrpSpPr/>
          <p:nvPr/>
        </p:nvGrpSpPr>
        <p:grpSpPr>
          <a:xfrm>
            <a:off x="9669780" y="8092440"/>
            <a:ext cx="356616" cy="274320"/>
            <a:chOff x="0" y="0"/>
            <a:chExt cx="475488" cy="365760"/>
          </a:xfrm>
        </p:grpSpPr>
        <p:sp>
          <p:nvSpPr>
            <p:cNvPr id="41" name="Freeform 41"/>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42" name="TextBox 42"/>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3" name="Group 43"/>
          <p:cNvGrpSpPr/>
          <p:nvPr/>
        </p:nvGrpSpPr>
        <p:grpSpPr>
          <a:xfrm>
            <a:off x="10108692" y="8119872"/>
            <a:ext cx="6967728" cy="356616"/>
            <a:chOff x="0" y="0"/>
            <a:chExt cx="9290304" cy="475488"/>
          </a:xfrm>
        </p:grpSpPr>
        <p:sp>
          <p:nvSpPr>
            <p:cNvPr id="44" name="Freeform 44"/>
            <p:cNvSpPr/>
            <p:nvPr/>
          </p:nvSpPr>
          <p:spPr>
            <a:xfrm>
              <a:off x="0" y="0"/>
              <a:ext cx="9290304" cy="475488"/>
            </a:xfrm>
            <a:custGeom>
              <a:avLst/>
              <a:gdLst/>
              <a:ahLst/>
              <a:cxnLst/>
              <a:rect l="l" t="t" r="r" b="b"/>
              <a:pathLst>
                <a:path w="9290304" h="475488">
                  <a:moveTo>
                    <a:pt x="0" y="0"/>
                  </a:moveTo>
                  <a:lnTo>
                    <a:pt x="9290304" y="0"/>
                  </a:lnTo>
                  <a:lnTo>
                    <a:pt x="9290304" y="475488"/>
                  </a:lnTo>
                  <a:lnTo>
                    <a:pt x="0" y="475488"/>
                  </a:lnTo>
                  <a:close/>
                </a:path>
              </a:pathLst>
            </a:custGeom>
            <a:blipFill>
              <a:blip r:embed="rId3">
                <a:alphaModFix amt="0"/>
              </a:blip>
              <a:stretch>
                <a:fillRect t="-330707" b="-330707"/>
              </a:stretch>
            </a:blipFill>
          </p:spPr>
          <p:txBody>
            <a:bodyPr/>
            <a:lstStyle/>
            <a:p>
              <a:endParaRPr lang="es-CL"/>
            </a:p>
          </p:txBody>
        </p:sp>
        <p:sp>
          <p:nvSpPr>
            <p:cNvPr id="45" name="TextBox 45"/>
            <p:cNvSpPr txBox="1"/>
            <p:nvPr/>
          </p:nvSpPr>
          <p:spPr>
            <a:xfrm>
              <a:off x="0" y="-9525"/>
              <a:ext cx="929030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Backends responden JSON [] y se conectan a MySQL</a:t>
              </a:r>
            </a:p>
          </p:txBody>
        </p:sp>
      </p:grpSp>
      <p:grpSp>
        <p:nvGrpSpPr>
          <p:cNvPr id="46" name="Group 46"/>
          <p:cNvGrpSpPr/>
          <p:nvPr/>
        </p:nvGrpSpPr>
        <p:grpSpPr>
          <a:xfrm>
            <a:off x="754380" y="9779508"/>
            <a:ext cx="7406640" cy="246888"/>
            <a:chOff x="0" y="0"/>
            <a:chExt cx="9875520" cy="329184"/>
          </a:xfrm>
        </p:grpSpPr>
        <p:sp>
          <p:nvSpPr>
            <p:cNvPr id="47" name="Freeform 47"/>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48" name="TextBox 48"/>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49" name="Group 49"/>
          <p:cNvGrpSpPr/>
          <p:nvPr/>
        </p:nvGrpSpPr>
        <p:grpSpPr>
          <a:xfrm>
            <a:off x="16952976" y="9669780"/>
            <a:ext cx="576072" cy="356616"/>
            <a:chOff x="0" y="0"/>
            <a:chExt cx="768096" cy="475488"/>
          </a:xfrm>
        </p:grpSpPr>
        <p:sp>
          <p:nvSpPr>
            <p:cNvPr id="50" name="Freeform 50"/>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51" name="TextBox 51"/>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13</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Prueba funcional clave</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Integración final: Frontend → Backend en EC2</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994600" y="1954720"/>
            <a:ext cx="11040999" cy="7200519"/>
            <a:chOff x="0" y="0"/>
            <a:chExt cx="14721332" cy="9600692"/>
          </a:xfrm>
        </p:grpSpPr>
        <p:sp>
          <p:nvSpPr>
            <p:cNvPr id="14" name="Freeform 14"/>
            <p:cNvSpPr/>
            <p:nvPr/>
          </p:nvSpPr>
          <p:spPr>
            <a:xfrm>
              <a:off x="0" y="0"/>
              <a:ext cx="14721332" cy="9600692"/>
            </a:xfrm>
            <a:custGeom>
              <a:avLst/>
              <a:gdLst/>
              <a:ahLst/>
              <a:cxnLst/>
              <a:rect l="l" t="t" r="r" b="b"/>
              <a:pathLst>
                <a:path w="14721332" h="9600692">
                  <a:moveTo>
                    <a:pt x="0" y="146558"/>
                  </a:moveTo>
                  <a:cubicBezTo>
                    <a:pt x="0" y="65659"/>
                    <a:pt x="65659" y="0"/>
                    <a:pt x="146558" y="0"/>
                  </a:cubicBezTo>
                  <a:lnTo>
                    <a:pt x="14574774" y="0"/>
                  </a:lnTo>
                  <a:cubicBezTo>
                    <a:pt x="14655800" y="0"/>
                    <a:pt x="14721332" y="65659"/>
                    <a:pt x="14721332" y="146558"/>
                  </a:cubicBezTo>
                  <a:lnTo>
                    <a:pt x="14721332" y="9454134"/>
                  </a:lnTo>
                  <a:cubicBezTo>
                    <a:pt x="14721332" y="9535160"/>
                    <a:pt x="14655673" y="9600692"/>
                    <a:pt x="14574774" y="9600692"/>
                  </a:cubicBezTo>
                  <a:lnTo>
                    <a:pt x="146558" y="9600692"/>
                  </a:lnTo>
                  <a:cubicBezTo>
                    <a:pt x="65659" y="9600692"/>
                    <a:pt x="0" y="9535033"/>
                    <a:pt x="0" y="9454134"/>
                  </a:cubicBezTo>
                  <a:close/>
                </a:path>
              </a:pathLst>
            </a:custGeom>
            <a:solidFill>
              <a:srgbClr val="FFFFFF"/>
            </a:solidFill>
            <a:ln w="13335" cap="sq">
              <a:solidFill>
                <a:srgbClr val="CBD5E1"/>
              </a:solidFill>
              <a:prstDash val="solid"/>
              <a:miter/>
            </a:ln>
          </p:spPr>
          <p:txBody>
            <a:bodyPr/>
            <a:lstStyle/>
            <a:p>
              <a:endParaRPr lang="es-CL"/>
            </a:p>
          </p:txBody>
        </p:sp>
      </p:grpSp>
      <p:grpSp>
        <p:nvGrpSpPr>
          <p:cNvPr id="15" name="Group 15"/>
          <p:cNvGrpSpPr/>
          <p:nvPr/>
        </p:nvGrpSpPr>
        <p:grpSpPr>
          <a:xfrm>
            <a:off x="1097280" y="2057400"/>
            <a:ext cx="10835640" cy="6679692"/>
            <a:chOff x="0" y="0"/>
            <a:chExt cx="14447520" cy="8906256"/>
          </a:xfrm>
        </p:grpSpPr>
        <p:sp>
          <p:nvSpPr>
            <p:cNvPr id="16" name="Freeform 16" descr="/mnt/data/evidencias/Evidencias_EP2_ISY1101/SS-34_FrontBackEC2Network.png"/>
            <p:cNvSpPr/>
            <p:nvPr/>
          </p:nvSpPr>
          <p:spPr>
            <a:xfrm>
              <a:off x="0" y="0"/>
              <a:ext cx="14447520" cy="8906256"/>
            </a:xfrm>
            <a:custGeom>
              <a:avLst/>
              <a:gdLst/>
              <a:ahLst/>
              <a:cxnLst/>
              <a:rect l="l" t="t" r="r" b="b"/>
              <a:pathLst>
                <a:path w="14447520" h="8906256">
                  <a:moveTo>
                    <a:pt x="0" y="0"/>
                  </a:moveTo>
                  <a:lnTo>
                    <a:pt x="14447520" y="0"/>
                  </a:lnTo>
                  <a:lnTo>
                    <a:pt x="14447520" y="8906256"/>
                  </a:lnTo>
                  <a:lnTo>
                    <a:pt x="0" y="8906256"/>
                  </a:lnTo>
                  <a:lnTo>
                    <a:pt x="0" y="0"/>
                  </a:lnTo>
                  <a:close/>
                </a:path>
              </a:pathLst>
            </a:custGeom>
            <a:blipFill>
              <a:blip r:embed="rId4"/>
              <a:stretch>
                <a:fillRect l="-7093" r="-7093"/>
              </a:stretch>
            </a:blipFill>
          </p:spPr>
          <p:txBody>
            <a:bodyPr/>
            <a:lstStyle/>
            <a:p>
              <a:endParaRPr lang="es-CL"/>
            </a:p>
          </p:txBody>
        </p:sp>
      </p:grpSp>
      <p:grpSp>
        <p:nvGrpSpPr>
          <p:cNvPr id="17" name="Group 17"/>
          <p:cNvGrpSpPr/>
          <p:nvPr/>
        </p:nvGrpSpPr>
        <p:grpSpPr>
          <a:xfrm>
            <a:off x="1193292" y="8791956"/>
            <a:ext cx="10643616" cy="246888"/>
            <a:chOff x="0" y="0"/>
            <a:chExt cx="14191488" cy="329184"/>
          </a:xfrm>
        </p:grpSpPr>
        <p:sp>
          <p:nvSpPr>
            <p:cNvPr id="18" name="Freeform 18"/>
            <p:cNvSpPr/>
            <p:nvPr/>
          </p:nvSpPr>
          <p:spPr>
            <a:xfrm>
              <a:off x="0" y="0"/>
              <a:ext cx="14191489" cy="329184"/>
            </a:xfrm>
            <a:custGeom>
              <a:avLst/>
              <a:gdLst/>
              <a:ahLst/>
              <a:cxnLst/>
              <a:rect l="l" t="t" r="r" b="b"/>
              <a:pathLst>
                <a:path w="14191489" h="329184">
                  <a:moveTo>
                    <a:pt x="0" y="0"/>
                  </a:moveTo>
                  <a:lnTo>
                    <a:pt x="14191489" y="0"/>
                  </a:lnTo>
                  <a:lnTo>
                    <a:pt x="14191489" y="329184"/>
                  </a:lnTo>
                  <a:lnTo>
                    <a:pt x="0" y="329184"/>
                  </a:lnTo>
                  <a:close/>
                </a:path>
              </a:pathLst>
            </a:custGeom>
            <a:blipFill>
              <a:blip r:embed="rId3">
                <a:alphaModFix amt="0"/>
              </a:blip>
              <a:stretch>
                <a:fillRect t="-790021" b="-790021"/>
              </a:stretch>
            </a:blipFill>
          </p:spPr>
          <p:txBody>
            <a:bodyPr/>
            <a:lstStyle/>
            <a:p>
              <a:endParaRPr lang="es-CL"/>
            </a:p>
          </p:txBody>
        </p:sp>
        <p:sp>
          <p:nvSpPr>
            <p:cNvPr id="19" name="TextBox 19"/>
            <p:cNvSpPr txBox="1"/>
            <p:nvPr/>
          </p:nvSpPr>
          <p:spPr>
            <a:xfrm>
              <a:off x="0" y="0"/>
              <a:ext cx="14191488" cy="329184"/>
            </a:xfrm>
            <a:prstGeom prst="rect">
              <a:avLst/>
            </a:prstGeom>
          </p:spPr>
          <p:txBody>
            <a:bodyPr lIns="0" tIns="0" rIns="0" bIns="0" rtlCol="0" anchor="ctr"/>
            <a:lstStyle/>
            <a:p>
              <a:pPr algn="ctr">
                <a:lnSpc>
                  <a:spcPts val="1386"/>
                </a:lnSpc>
              </a:pPr>
              <a:r>
                <a:rPr lang="en-US" sz="1155">
                  <a:solidFill>
                    <a:srgbClr val="64748B"/>
                  </a:solidFill>
                  <a:latin typeface="Aptos"/>
                  <a:ea typeface="Aptos"/>
                  <a:cs typeface="Aptos"/>
                  <a:sym typeface="Aptos"/>
                </a:rPr>
                <a:t>DevTools Network: ventas y despachos con estado 200</a:t>
              </a:r>
            </a:p>
          </p:txBody>
        </p:sp>
      </p:grpSp>
      <p:grpSp>
        <p:nvGrpSpPr>
          <p:cNvPr id="20" name="Group 20"/>
          <p:cNvGrpSpPr/>
          <p:nvPr/>
        </p:nvGrpSpPr>
        <p:grpSpPr>
          <a:xfrm>
            <a:off x="12550140" y="2194560"/>
            <a:ext cx="4389120" cy="480060"/>
            <a:chOff x="0" y="0"/>
            <a:chExt cx="5852160" cy="640080"/>
          </a:xfrm>
        </p:grpSpPr>
        <p:sp>
          <p:nvSpPr>
            <p:cNvPr id="21" name="Freeform 21"/>
            <p:cNvSpPr/>
            <p:nvPr/>
          </p:nvSpPr>
          <p:spPr>
            <a:xfrm>
              <a:off x="0" y="0"/>
              <a:ext cx="5852160" cy="640080"/>
            </a:xfrm>
            <a:custGeom>
              <a:avLst/>
              <a:gdLst/>
              <a:ahLst/>
              <a:cxnLst/>
              <a:rect l="l" t="t" r="r" b="b"/>
              <a:pathLst>
                <a:path w="5852160" h="640080">
                  <a:moveTo>
                    <a:pt x="0" y="0"/>
                  </a:moveTo>
                  <a:lnTo>
                    <a:pt x="5852160" y="0"/>
                  </a:lnTo>
                  <a:lnTo>
                    <a:pt x="5852160" y="640080"/>
                  </a:lnTo>
                  <a:lnTo>
                    <a:pt x="0" y="640080"/>
                  </a:lnTo>
                  <a:close/>
                </a:path>
              </a:pathLst>
            </a:custGeom>
            <a:blipFill>
              <a:blip r:embed="rId3">
                <a:alphaModFix amt="0"/>
              </a:blip>
              <a:stretch>
                <a:fillRect t="-128148" b="-128148"/>
              </a:stretch>
            </a:blipFill>
          </p:spPr>
          <p:txBody>
            <a:bodyPr/>
            <a:lstStyle/>
            <a:p>
              <a:endParaRPr lang="es-CL"/>
            </a:p>
          </p:txBody>
        </p:sp>
        <p:sp>
          <p:nvSpPr>
            <p:cNvPr id="22" name="TextBox 22"/>
            <p:cNvSpPr txBox="1"/>
            <p:nvPr/>
          </p:nvSpPr>
          <p:spPr>
            <a:xfrm>
              <a:off x="0" y="0"/>
              <a:ext cx="5852160" cy="640080"/>
            </a:xfrm>
            <a:prstGeom prst="rect">
              <a:avLst/>
            </a:prstGeom>
          </p:spPr>
          <p:txBody>
            <a:bodyPr lIns="0" tIns="0" rIns="0" bIns="0" rtlCol="0" anchor="ctr"/>
            <a:lstStyle/>
            <a:p>
              <a:pPr algn="l">
                <a:lnSpc>
                  <a:spcPts val="3419"/>
                </a:lnSpc>
              </a:pPr>
              <a:r>
                <a:rPr lang="en-US" sz="2850" b="1">
                  <a:solidFill>
                    <a:srgbClr val="18212F"/>
                  </a:solidFill>
                  <a:latin typeface="Aptos Bold"/>
                  <a:ea typeface="Aptos Bold"/>
                  <a:cs typeface="Aptos Bold"/>
                  <a:sym typeface="Aptos Bold"/>
                </a:rPr>
                <a:t>Resultado</a:t>
              </a:r>
            </a:p>
          </p:txBody>
        </p:sp>
      </p:grpSp>
      <p:grpSp>
        <p:nvGrpSpPr>
          <p:cNvPr id="23" name="Group 23"/>
          <p:cNvGrpSpPr/>
          <p:nvPr/>
        </p:nvGrpSpPr>
        <p:grpSpPr>
          <a:xfrm>
            <a:off x="12550140" y="3086100"/>
            <a:ext cx="356616" cy="274320"/>
            <a:chOff x="0" y="0"/>
            <a:chExt cx="475488" cy="365760"/>
          </a:xfrm>
        </p:grpSpPr>
        <p:sp>
          <p:nvSpPr>
            <p:cNvPr id="24" name="Freeform 24"/>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25" name="TextBox 25"/>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26" name="Group 26"/>
          <p:cNvGrpSpPr/>
          <p:nvPr/>
        </p:nvGrpSpPr>
        <p:grpSpPr>
          <a:xfrm>
            <a:off x="12989052" y="3113532"/>
            <a:ext cx="3950208" cy="356616"/>
            <a:chOff x="0" y="0"/>
            <a:chExt cx="5266944" cy="475488"/>
          </a:xfrm>
        </p:grpSpPr>
        <p:sp>
          <p:nvSpPr>
            <p:cNvPr id="27" name="Freeform 27"/>
            <p:cNvSpPr/>
            <p:nvPr/>
          </p:nvSpPr>
          <p:spPr>
            <a:xfrm>
              <a:off x="0" y="0"/>
              <a:ext cx="5266944" cy="475488"/>
            </a:xfrm>
            <a:custGeom>
              <a:avLst/>
              <a:gdLst/>
              <a:ahLst/>
              <a:cxnLst/>
              <a:rect l="l" t="t" r="r" b="b"/>
              <a:pathLst>
                <a:path w="5266944" h="475488">
                  <a:moveTo>
                    <a:pt x="0" y="0"/>
                  </a:moveTo>
                  <a:lnTo>
                    <a:pt x="5266944" y="0"/>
                  </a:lnTo>
                  <a:lnTo>
                    <a:pt x="5266944" y="475488"/>
                  </a:lnTo>
                  <a:lnTo>
                    <a:pt x="0" y="475488"/>
                  </a:lnTo>
                  <a:close/>
                </a:path>
              </a:pathLst>
            </a:custGeom>
            <a:blipFill>
              <a:blip r:embed="rId3">
                <a:alphaModFix amt="0"/>
              </a:blip>
              <a:stretch>
                <a:fillRect t="-165834" b="-165834"/>
              </a:stretch>
            </a:blipFill>
          </p:spPr>
          <p:txBody>
            <a:bodyPr/>
            <a:lstStyle/>
            <a:p>
              <a:endParaRPr lang="es-CL"/>
            </a:p>
          </p:txBody>
        </p:sp>
        <p:sp>
          <p:nvSpPr>
            <p:cNvPr id="28" name="TextBox 28"/>
            <p:cNvSpPr txBox="1"/>
            <p:nvPr/>
          </p:nvSpPr>
          <p:spPr>
            <a:xfrm>
              <a:off x="0" y="-9525"/>
              <a:ext cx="526694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Frontend consume API de ventas</a:t>
              </a:r>
            </a:p>
          </p:txBody>
        </p:sp>
      </p:grpSp>
      <p:grpSp>
        <p:nvGrpSpPr>
          <p:cNvPr id="29" name="Group 29"/>
          <p:cNvGrpSpPr/>
          <p:nvPr/>
        </p:nvGrpSpPr>
        <p:grpSpPr>
          <a:xfrm>
            <a:off x="12550140" y="3771900"/>
            <a:ext cx="356616" cy="274320"/>
            <a:chOff x="0" y="0"/>
            <a:chExt cx="475488" cy="365760"/>
          </a:xfrm>
        </p:grpSpPr>
        <p:sp>
          <p:nvSpPr>
            <p:cNvPr id="30" name="Freeform 30"/>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1" name="TextBox 31"/>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32" name="Group 32"/>
          <p:cNvGrpSpPr/>
          <p:nvPr/>
        </p:nvGrpSpPr>
        <p:grpSpPr>
          <a:xfrm>
            <a:off x="12989052" y="3799332"/>
            <a:ext cx="3950208" cy="356616"/>
            <a:chOff x="0" y="0"/>
            <a:chExt cx="5266944" cy="475488"/>
          </a:xfrm>
        </p:grpSpPr>
        <p:sp>
          <p:nvSpPr>
            <p:cNvPr id="33" name="Freeform 33"/>
            <p:cNvSpPr/>
            <p:nvPr/>
          </p:nvSpPr>
          <p:spPr>
            <a:xfrm>
              <a:off x="0" y="0"/>
              <a:ext cx="5266944" cy="475488"/>
            </a:xfrm>
            <a:custGeom>
              <a:avLst/>
              <a:gdLst/>
              <a:ahLst/>
              <a:cxnLst/>
              <a:rect l="l" t="t" r="r" b="b"/>
              <a:pathLst>
                <a:path w="5266944" h="475488">
                  <a:moveTo>
                    <a:pt x="0" y="0"/>
                  </a:moveTo>
                  <a:lnTo>
                    <a:pt x="5266944" y="0"/>
                  </a:lnTo>
                  <a:lnTo>
                    <a:pt x="5266944" y="475488"/>
                  </a:lnTo>
                  <a:lnTo>
                    <a:pt x="0" y="475488"/>
                  </a:lnTo>
                  <a:close/>
                </a:path>
              </a:pathLst>
            </a:custGeom>
            <a:blipFill>
              <a:blip r:embed="rId3">
                <a:alphaModFix amt="0"/>
              </a:blip>
              <a:stretch>
                <a:fillRect t="-165834" b="-165834"/>
              </a:stretch>
            </a:blipFill>
          </p:spPr>
          <p:txBody>
            <a:bodyPr/>
            <a:lstStyle/>
            <a:p>
              <a:endParaRPr lang="es-CL"/>
            </a:p>
          </p:txBody>
        </p:sp>
        <p:sp>
          <p:nvSpPr>
            <p:cNvPr id="34" name="TextBox 34"/>
            <p:cNvSpPr txBox="1"/>
            <p:nvPr/>
          </p:nvSpPr>
          <p:spPr>
            <a:xfrm>
              <a:off x="0" y="-9525"/>
              <a:ext cx="526694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Frontend consume API de despachos</a:t>
              </a:r>
            </a:p>
          </p:txBody>
        </p:sp>
      </p:grpSp>
      <p:grpSp>
        <p:nvGrpSpPr>
          <p:cNvPr id="35" name="Group 35"/>
          <p:cNvGrpSpPr/>
          <p:nvPr/>
        </p:nvGrpSpPr>
        <p:grpSpPr>
          <a:xfrm>
            <a:off x="12550140" y="4457700"/>
            <a:ext cx="356616" cy="274320"/>
            <a:chOff x="0" y="0"/>
            <a:chExt cx="475488" cy="365760"/>
          </a:xfrm>
        </p:grpSpPr>
        <p:sp>
          <p:nvSpPr>
            <p:cNvPr id="36" name="Freeform 36"/>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7" name="TextBox 37"/>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38" name="Group 38"/>
          <p:cNvGrpSpPr/>
          <p:nvPr/>
        </p:nvGrpSpPr>
        <p:grpSpPr>
          <a:xfrm>
            <a:off x="12989052" y="4485132"/>
            <a:ext cx="3950208" cy="356616"/>
            <a:chOff x="0" y="0"/>
            <a:chExt cx="5266944" cy="475488"/>
          </a:xfrm>
        </p:grpSpPr>
        <p:sp>
          <p:nvSpPr>
            <p:cNvPr id="39" name="Freeform 39"/>
            <p:cNvSpPr/>
            <p:nvPr/>
          </p:nvSpPr>
          <p:spPr>
            <a:xfrm>
              <a:off x="0" y="0"/>
              <a:ext cx="5266944" cy="475488"/>
            </a:xfrm>
            <a:custGeom>
              <a:avLst/>
              <a:gdLst/>
              <a:ahLst/>
              <a:cxnLst/>
              <a:rect l="l" t="t" r="r" b="b"/>
              <a:pathLst>
                <a:path w="5266944" h="475488">
                  <a:moveTo>
                    <a:pt x="0" y="0"/>
                  </a:moveTo>
                  <a:lnTo>
                    <a:pt x="5266944" y="0"/>
                  </a:lnTo>
                  <a:lnTo>
                    <a:pt x="5266944" y="475488"/>
                  </a:lnTo>
                  <a:lnTo>
                    <a:pt x="0" y="475488"/>
                  </a:lnTo>
                  <a:close/>
                </a:path>
              </a:pathLst>
            </a:custGeom>
            <a:blipFill>
              <a:blip r:embed="rId3">
                <a:alphaModFix amt="0"/>
              </a:blip>
              <a:stretch>
                <a:fillRect t="-165834" b="-165834"/>
              </a:stretch>
            </a:blipFill>
          </p:spPr>
          <p:txBody>
            <a:bodyPr/>
            <a:lstStyle/>
            <a:p>
              <a:endParaRPr lang="es-CL"/>
            </a:p>
          </p:txBody>
        </p:sp>
        <p:sp>
          <p:nvSpPr>
            <p:cNvPr id="40" name="TextBox 40"/>
            <p:cNvSpPr txBox="1"/>
            <p:nvPr/>
          </p:nvSpPr>
          <p:spPr>
            <a:xfrm>
              <a:off x="0" y="-9525"/>
              <a:ext cx="526694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Respuestas HTTP 200</a:t>
              </a:r>
            </a:p>
          </p:txBody>
        </p:sp>
      </p:grpSp>
      <p:grpSp>
        <p:nvGrpSpPr>
          <p:cNvPr id="41" name="Group 41"/>
          <p:cNvGrpSpPr/>
          <p:nvPr/>
        </p:nvGrpSpPr>
        <p:grpSpPr>
          <a:xfrm>
            <a:off x="12550140" y="5143500"/>
            <a:ext cx="356616" cy="274320"/>
            <a:chOff x="0" y="0"/>
            <a:chExt cx="475488" cy="365760"/>
          </a:xfrm>
        </p:grpSpPr>
        <p:sp>
          <p:nvSpPr>
            <p:cNvPr id="42" name="Freeform 42"/>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43" name="TextBox 43"/>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4" name="Group 44"/>
          <p:cNvGrpSpPr/>
          <p:nvPr/>
        </p:nvGrpSpPr>
        <p:grpSpPr>
          <a:xfrm>
            <a:off x="12989052" y="5170932"/>
            <a:ext cx="3950208" cy="356616"/>
            <a:chOff x="0" y="0"/>
            <a:chExt cx="5266944" cy="475488"/>
          </a:xfrm>
        </p:grpSpPr>
        <p:sp>
          <p:nvSpPr>
            <p:cNvPr id="45" name="Freeform 45"/>
            <p:cNvSpPr/>
            <p:nvPr/>
          </p:nvSpPr>
          <p:spPr>
            <a:xfrm>
              <a:off x="0" y="0"/>
              <a:ext cx="5266944" cy="475488"/>
            </a:xfrm>
            <a:custGeom>
              <a:avLst/>
              <a:gdLst/>
              <a:ahLst/>
              <a:cxnLst/>
              <a:rect l="l" t="t" r="r" b="b"/>
              <a:pathLst>
                <a:path w="5266944" h="475488">
                  <a:moveTo>
                    <a:pt x="0" y="0"/>
                  </a:moveTo>
                  <a:lnTo>
                    <a:pt x="5266944" y="0"/>
                  </a:lnTo>
                  <a:lnTo>
                    <a:pt x="5266944" y="475488"/>
                  </a:lnTo>
                  <a:lnTo>
                    <a:pt x="0" y="475488"/>
                  </a:lnTo>
                  <a:close/>
                </a:path>
              </a:pathLst>
            </a:custGeom>
            <a:blipFill>
              <a:blip r:embed="rId3">
                <a:alphaModFix amt="0"/>
              </a:blip>
              <a:stretch>
                <a:fillRect t="-165834" b="-165834"/>
              </a:stretch>
            </a:blipFill>
          </p:spPr>
          <p:txBody>
            <a:bodyPr/>
            <a:lstStyle/>
            <a:p>
              <a:endParaRPr lang="es-CL"/>
            </a:p>
          </p:txBody>
        </p:sp>
        <p:sp>
          <p:nvSpPr>
            <p:cNvPr id="46" name="TextBox 46"/>
            <p:cNvSpPr txBox="1"/>
            <p:nvPr/>
          </p:nvSpPr>
          <p:spPr>
            <a:xfrm>
              <a:off x="0" y="-9525"/>
              <a:ext cx="526694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CORS y URLs EC2 corregidas</a:t>
              </a:r>
            </a:p>
          </p:txBody>
        </p:sp>
      </p:grpSp>
      <p:grpSp>
        <p:nvGrpSpPr>
          <p:cNvPr id="47" name="Group 47"/>
          <p:cNvGrpSpPr/>
          <p:nvPr/>
        </p:nvGrpSpPr>
        <p:grpSpPr>
          <a:xfrm>
            <a:off x="12540615" y="6231255"/>
            <a:ext cx="4202430" cy="1527810"/>
            <a:chOff x="0" y="0"/>
            <a:chExt cx="5603240" cy="2037080"/>
          </a:xfrm>
        </p:grpSpPr>
        <p:sp>
          <p:nvSpPr>
            <p:cNvPr id="48" name="Freeform 48"/>
            <p:cNvSpPr/>
            <p:nvPr/>
          </p:nvSpPr>
          <p:spPr>
            <a:xfrm>
              <a:off x="0" y="0"/>
              <a:ext cx="5603240" cy="2037080"/>
            </a:xfrm>
            <a:custGeom>
              <a:avLst/>
              <a:gdLst/>
              <a:ahLst/>
              <a:cxnLst/>
              <a:rect l="l" t="t" r="r" b="b"/>
              <a:pathLst>
                <a:path w="5603240" h="2037080">
                  <a:moveTo>
                    <a:pt x="0" y="185166"/>
                  </a:moveTo>
                  <a:cubicBezTo>
                    <a:pt x="0" y="82931"/>
                    <a:pt x="82931" y="0"/>
                    <a:pt x="185166" y="0"/>
                  </a:cubicBezTo>
                  <a:lnTo>
                    <a:pt x="5418074" y="0"/>
                  </a:lnTo>
                  <a:cubicBezTo>
                    <a:pt x="5520309" y="0"/>
                    <a:pt x="5603240" y="82931"/>
                    <a:pt x="5603240" y="185166"/>
                  </a:cubicBezTo>
                  <a:lnTo>
                    <a:pt x="5603240" y="1851914"/>
                  </a:lnTo>
                  <a:cubicBezTo>
                    <a:pt x="5603240" y="1954149"/>
                    <a:pt x="5520309" y="2037080"/>
                    <a:pt x="5418074" y="2037080"/>
                  </a:cubicBezTo>
                  <a:lnTo>
                    <a:pt x="185166" y="2037080"/>
                  </a:lnTo>
                  <a:cubicBezTo>
                    <a:pt x="82931" y="2037080"/>
                    <a:pt x="0" y="1954149"/>
                    <a:pt x="0" y="1851914"/>
                  </a:cubicBezTo>
                  <a:close/>
                </a:path>
              </a:pathLst>
            </a:custGeom>
            <a:solidFill>
              <a:srgbClr val="DCFCE7"/>
            </a:solidFill>
            <a:ln w="19050" cap="sq">
              <a:solidFill>
                <a:srgbClr val="BBF7D0"/>
              </a:solidFill>
              <a:prstDash val="solid"/>
              <a:miter/>
            </a:ln>
          </p:spPr>
          <p:txBody>
            <a:bodyPr/>
            <a:lstStyle/>
            <a:p>
              <a:endParaRPr lang="es-CL"/>
            </a:p>
          </p:txBody>
        </p:sp>
      </p:grpSp>
      <p:grpSp>
        <p:nvGrpSpPr>
          <p:cNvPr id="49" name="Group 49"/>
          <p:cNvGrpSpPr/>
          <p:nvPr/>
        </p:nvGrpSpPr>
        <p:grpSpPr>
          <a:xfrm>
            <a:off x="12865608" y="6652260"/>
            <a:ext cx="3566160" cy="274320"/>
            <a:chOff x="0" y="0"/>
            <a:chExt cx="4754880" cy="365760"/>
          </a:xfrm>
        </p:grpSpPr>
        <p:sp>
          <p:nvSpPr>
            <p:cNvPr id="50" name="Freeform 50"/>
            <p:cNvSpPr/>
            <p:nvPr/>
          </p:nvSpPr>
          <p:spPr>
            <a:xfrm>
              <a:off x="0" y="0"/>
              <a:ext cx="4754880" cy="365760"/>
            </a:xfrm>
            <a:custGeom>
              <a:avLst/>
              <a:gdLst/>
              <a:ahLst/>
              <a:cxnLst/>
              <a:rect l="l" t="t" r="r" b="b"/>
              <a:pathLst>
                <a:path w="4754880" h="365760">
                  <a:moveTo>
                    <a:pt x="0" y="0"/>
                  </a:moveTo>
                  <a:lnTo>
                    <a:pt x="4754880" y="0"/>
                  </a:lnTo>
                  <a:lnTo>
                    <a:pt x="4754880" y="365760"/>
                  </a:lnTo>
                  <a:lnTo>
                    <a:pt x="0" y="365760"/>
                  </a:lnTo>
                  <a:close/>
                </a:path>
              </a:pathLst>
            </a:custGeom>
            <a:blipFill>
              <a:blip r:embed="rId3">
                <a:alphaModFix amt="0"/>
              </a:blip>
              <a:stretch>
                <a:fillRect t="-203305" b="-203305"/>
              </a:stretch>
            </a:blipFill>
          </p:spPr>
          <p:txBody>
            <a:bodyPr/>
            <a:lstStyle/>
            <a:p>
              <a:endParaRPr lang="es-CL"/>
            </a:p>
          </p:txBody>
        </p:sp>
        <p:sp>
          <p:nvSpPr>
            <p:cNvPr id="51" name="TextBox 51"/>
            <p:cNvSpPr txBox="1"/>
            <p:nvPr/>
          </p:nvSpPr>
          <p:spPr>
            <a:xfrm>
              <a:off x="0" y="0"/>
              <a:ext cx="4754880" cy="365760"/>
            </a:xfrm>
            <a:prstGeom prst="rect">
              <a:avLst/>
            </a:prstGeom>
          </p:spPr>
          <p:txBody>
            <a:bodyPr lIns="0" tIns="0" rIns="0" bIns="0" rtlCol="0" anchor="ctr"/>
            <a:lstStyle/>
            <a:p>
              <a:pPr algn="ctr">
                <a:lnSpc>
                  <a:spcPts val="2304"/>
                </a:lnSpc>
              </a:pPr>
              <a:r>
                <a:rPr lang="en-US" sz="1920" b="1">
                  <a:solidFill>
                    <a:srgbClr val="166534"/>
                  </a:solidFill>
                  <a:latin typeface="Aptos Bold"/>
                  <a:ea typeface="Aptos Bold"/>
                  <a:cs typeface="Aptos Bold"/>
                  <a:sym typeface="Aptos Bold"/>
                </a:rPr>
                <a:t>Validación final aprobada</a:t>
              </a:r>
            </a:p>
          </p:txBody>
        </p:sp>
      </p:grpSp>
      <p:grpSp>
        <p:nvGrpSpPr>
          <p:cNvPr id="52" name="Group 52"/>
          <p:cNvGrpSpPr/>
          <p:nvPr/>
        </p:nvGrpSpPr>
        <p:grpSpPr>
          <a:xfrm>
            <a:off x="12865608" y="7104888"/>
            <a:ext cx="3566160" cy="274320"/>
            <a:chOff x="0" y="0"/>
            <a:chExt cx="4754880" cy="365760"/>
          </a:xfrm>
        </p:grpSpPr>
        <p:sp>
          <p:nvSpPr>
            <p:cNvPr id="53" name="Freeform 53"/>
            <p:cNvSpPr/>
            <p:nvPr/>
          </p:nvSpPr>
          <p:spPr>
            <a:xfrm>
              <a:off x="0" y="0"/>
              <a:ext cx="4754880" cy="365760"/>
            </a:xfrm>
            <a:custGeom>
              <a:avLst/>
              <a:gdLst/>
              <a:ahLst/>
              <a:cxnLst/>
              <a:rect l="l" t="t" r="r" b="b"/>
              <a:pathLst>
                <a:path w="4754880" h="365760">
                  <a:moveTo>
                    <a:pt x="0" y="0"/>
                  </a:moveTo>
                  <a:lnTo>
                    <a:pt x="4754880" y="0"/>
                  </a:lnTo>
                  <a:lnTo>
                    <a:pt x="4754880" y="365760"/>
                  </a:lnTo>
                  <a:lnTo>
                    <a:pt x="0" y="365760"/>
                  </a:lnTo>
                  <a:close/>
                </a:path>
              </a:pathLst>
            </a:custGeom>
            <a:blipFill>
              <a:blip r:embed="rId3">
                <a:alphaModFix amt="0"/>
              </a:blip>
              <a:stretch>
                <a:fillRect t="-203305" b="-203305"/>
              </a:stretch>
            </a:blipFill>
          </p:spPr>
          <p:txBody>
            <a:bodyPr/>
            <a:lstStyle/>
            <a:p>
              <a:endParaRPr lang="es-CL"/>
            </a:p>
          </p:txBody>
        </p:sp>
        <p:sp>
          <p:nvSpPr>
            <p:cNvPr id="54" name="TextBox 54"/>
            <p:cNvSpPr txBox="1"/>
            <p:nvPr/>
          </p:nvSpPr>
          <p:spPr>
            <a:xfrm>
              <a:off x="0" y="0"/>
              <a:ext cx="4754880" cy="365760"/>
            </a:xfrm>
            <a:prstGeom prst="rect">
              <a:avLst/>
            </a:prstGeom>
          </p:spPr>
          <p:txBody>
            <a:bodyPr lIns="0" tIns="0" rIns="0" bIns="0" rtlCol="0" anchor="ctr"/>
            <a:lstStyle/>
            <a:p>
              <a:pPr algn="ctr">
                <a:lnSpc>
                  <a:spcPts val="1584"/>
                </a:lnSpc>
              </a:pPr>
              <a:r>
                <a:rPr lang="en-US" sz="1320">
                  <a:solidFill>
                    <a:srgbClr val="166534"/>
                  </a:solidFill>
                  <a:latin typeface="Aptos"/>
                  <a:ea typeface="Aptos"/>
                  <a:cs typeface="Aptos"/>
                  <a:sym typeface="Aptos"/>
                </a:rPr>
                <a:t>Stack completo funcionando en AWS EC2</a:t>
              </a:r>
            </a:p>
          </p:txBody>
        </p:sp>
      </p:grpSp>
      <p:grpSp>
        <p:nvGrpSpPr>
          <p:cNvPr id="55" name="Group 55"/>
          <p:cNvGrpSpPr/>
          <p:nvPr/>
        </p:nvGrpSpPr>
        <p:grpSpPr>
          <a:xfrm>
            <a:off x="754380" y="9779508"/>
            <a:ext cx="7406640" cy="246888"/>
            <a:chOff x="0" y="0"/>
            <a:chExt cx="9875520" cy="329184"/>
          </a:xfrm>
        </p:grpSpPr>
        <p:sp>
          <p:nvSpPr>
            <p:cNvPr id="56" name="Freeform 56"/>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57" name="TextBox 57"/>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58" name="Group 58"/>
          <p:cNvGrpSpPr/>
          <p:nvPr/>
        </p:nvGrpSpPr>
        <p:grpSpPr>
          <a:xfrm>
            <a:off x="16952976" y="9669780"/>
            <a:ext cx="576072" cy="356616"/>
            <a:chOff x="0" y="0"/>
            <a:chExt cx="768096" cy="475488"/>
          </a:xfrm>
        </p:grpSpPr>
        <p:sp>
          <p:nvSpPr>
            <p:cNvPr id="59" name="Freeform 59"/>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60" name="TextBox 60"/>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14</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850392" y="438912"/>
            <a:ext cx="5212080" cy="329184"/>
            <a:chOff x="0" y="0"/>
            <a:chExt cx="6949440" cy="438912"/>
          </a:xfrm>
        </p:grpSpPr>
        <p:sp>
          <p:nvSpPr>
            <p:cNvPr id="3" name="Freeform 3"/>
            <p:cNvSpPr/>
            <p:nvPr/>
          </p:nvSpPr>
          <p:spPr>
            <a:xfrm>
              <a:off x="0" y="0"/>
              <a:ext cx="6949440" cy="438912"/>
            </a:xfrm>
            <a:custGeom>
              <a:avLst/>
              <a:gdLst/>
              <a:ahLst/>
              <a:cxnLst/>
              <a:rect l="l" t="t" r="r" b="b"/>
              <a:pathLst>
                <a:path w="6949440" h="438912">
                  <a:moveTo>
                    <a:pt x="0" y="0"/>
                  </a:moveTo>
                  <a:lnTo>
                    <a:pt x="6949440" y="0"/>
                  </a:lnTo>
                  <a:lnTo>
                    <a:pt x="6949440" y="438912"/>
                  </a:lnTo>
                  <a:lnTo>
                    <a:pt x="0" y="438912"/>
                  </a:lnTo>
                  <a:close/>
                </a:path>
              </a:pathLst>
            </a:custGeom>
            <a:blipFill>
              <a:blip r:embed="rId3">
                <a:alphaModFix amt="0"/>
              </a:blip>
              <a:stretch>
                <a:fillRect t="-258513" b="-258513"/>
              </a:stretch>
            </a:blipFill>
          </p:spPr>
          <p:txBody>
            <a:bodyPr/>
            <a:lstStyle/>
            <a:p>
              <a:endParaRPr lang="es-CL"/>
            </a:p>
          </p:txBody>
        </p:sp>
        <p:sp>
          <p:nvSpPr>
            <p:cNvPr id="4" name="TextBox 4"/>
            <p:cNvSpPr txBox="1"/>
            <p:nvPr/>
          </p:nvSpPr>
          <p:spPr>
            <a:xfrm>
              <a:off x="0" y="-9525"/>
              <a:ext cx="6949440" cy="448437"/>
            </a:xfrm>
            <a:prstGeom prst="rect">
              <a:avLst/>
            </a:prstGeom>
          </p:spPr>
          <p:txBody>
            <a:bodyPr lIns="0" tIns="0" rIns="0" bIns="0" rtlCol="0" anchor="ctr"/>
            <a:lstStyle/>
            <a:p>
              <a:pPr algn="l">
                <a:lnSpc>
                  <a:spcPts val="1530"/>
                </a:lnSpc>
              </a:pPr>
              <a:r>
                <a:rPr lang="en-US" sz="1275" b="1">
                  <a:solidFill>
                    <a:srgbClr val="0D9488"/>
                  </a:solidFill>
                  <a:latin typeface="Aptos Bold"/>
                  <a:ea typeface="Aptos Bold"/>
                  <a:cs typeface="Aptos Bold"/>
                  <a:sym typeface="Aptos Bold"/>
                </a:rPr>
                <a:t>Síntesis final</a:t>
              </a:r>
            </a:p>
          </p:txBody>
        </p:sp>
      </p:grpSp>
      <p:grpSp>
        <p:nvGrpSpPr>
          <p:cNvPr id="5" name="Group 5"/>
          <p:cNvGrpSpPr/>
          <p:nvPr/>
        </p:nvGrpSpPr>
        <p:grpSpPr>
          <a:xfrm>
            <a:off x="850392" y="822960"/>
            <a:ext cx="12207240" cy="795528"/>
            <a:chOff x="0" y="0"/>
            <a:chExt cx="16276320" cy="1060704"/>
          </a:xfrm>
        </p:grpSpPr>
        <p:sp>
          <p:nvSpPr>
            <p:cNvPr id="6" name="Freeform 6"/>
            <p:cNvSpPr/>
            <p:nvPr/>
          </p:nvSpPr>
          <p:spPr>
            <a:xfrm>
              <a:off x="0" y="0"/>
              <a:ext cx="16276320" cy="1060704"/>
            </a:xfrm>
            <a:custGeom>
              <a:avLst/>
              <a:gdLst/>
              <a:ahLst/>
              <a:cxnLst/>
              <a:rect l="l" t="t" r="r" b="b"/>
              <a:pathLst>
                <a:path w="16276320" h="1060704">
                  <a:moveTo>
                    <a:pt x="0" y="0"/>
                  </a:moveTo>
                  <a:lnTo>
                    <a:pt x="16276320" y="0"/>
                  </a:lnTo>
                  <a:lnTo>
                    <a:pt x="16276320" y="1060704"/>
                  </a:lnTo>
                  <a:lnTo>
                    <a:pt x="0" y="1060704"/>
                  </a:lnTo>
                  <a:close/>
                </a:path>
              </a:pathLst>
            </a:custGeom>
            <a:blipFill>
              <a:blip r:embed="rId3">
                <a:alphaModFix amt="0"/>
              </a:blip>
              <a:stretch>
                <a:fillRect t="-248994" b="-248994"/>
              </a:stretch>
            </a:blipFill>
          </p:spPr>
          <p:txBody>
            <a:bodyPr/>
            <a:lstStyle/>
            <a:p>
              <a:endParaRPr lang="es-CL"/>
            </a:p>
          </p:txBody>
        </p:sp>
        <p:sp>
          <p:nvSpPr>
            <p:cNvPr id="7" name="TextBox 7"/>
            <p:cNvSpPr txBox="1"/>
            <p:nvPr/>
          </p:nvSpPr>
          <p:spPr>
            <a:xfrm>
              <a:off x="0" y="0"/>
              <a:ext cx="16276320" cy="1060704"/>
            </a:xfrm>
            <a:prstGeom prst="rect">
              <a:avLst/>
            </a:prstGeom>
          </p:spPr>
          <p:txBody>
            <a:bodyPr lIns="0" tIns="0" rIns="0" bIns="0" rtlCol="0" anchor="ctr"/>
            <a:lstStyle/>
            <a:p>
              <a:pPr algn="l">
                <a:lnSpc>
                  <a:spcPts val="4500"/>
                </a:lnSpc>
              </a:pPr>
              <a:r>
                <a:rPr lang="en-US" sz="3750" b="1">
                  <a:solidFill>
                    <a:srgbClr val="18212F"/>
                  </a:solidFill>
                  <a:latin typeface="Aptos Bold"/>
                  <a:ea typeface="Aptos Bold"/>
                  <a:cs typeface="Aptos Bold"/>
                  <a:sym typeface="Aptos Bold"/>
                </a:rPr>
                <a:t>Cierre: cumplimiento técnico y defensa</a:t>
              </a:r>
            </a:p>
          </p:txBody>
        </p:sp>
      </p:grpSp>
      <p:grpSp>
        <p:nvGrpSpPr>
          <p:cNvPr id="8" name="Group 8"/>
          <p:cNvGrpSpPr/>
          <p:nvPr/>
        </p:nvGrpSpPr>
        <p:grpSpPr>
          <a:xfrm>
            <a:off x="15937992" y="493776"/>
            <a:ext cx="1371600" cy="329184"/>
            <a:chOff x="0" y="0"/>
            <a:chExt cx="1828800" cy="438912"/>
          </a:xfrm>
        </p:grpSpPr>
        <p:sp>
          <p:nvSpPr>
            <p:cNvPr id="9" name="Freeform 9"/>
            <p:cNvSpPr/>
            <p:nvPr/>
          </p:nvSpPr>
          <p:spPr>
            <a:xfrm>
              <a:off x="0" y="0"/>
              <a:ext cx="1828800" cy="438912"/>
            </a:xfrm>
            <a:custGeom>
              <a:avLst/>
              <a:gdLst/>
              <a:ahLst/>
              <a:cxnLst/>
              <a:rect l="l" t="t" r="r" b="b"/>
              <a:pathLst>
                <a:path w="1828800" h="438912">
                  <a:moveTo>
                    <a:pt x="0" y="0"/>
                  </a:moveTo>
                  <a:lnTo>
                    <a:pt x="1828800" y="0"/>
                  </a:lnTo>
                  <a:lnTo>
                    <a:pt x="1828800" y="438912"/>
                  </a:lnTo>
                  <a:lnTo>
                    <a:pt x="0" y="438912"/>
                  </a:lnTo>
                  <a:close/>
                </a:path>
              </a:pathLst>
            </a:custGeom>
            <a:blipFill>
              <a:blip r:embed="rId3">
                <a:alphaModFix amt="0"/>
              </a:blip>
              <a:stretch>
                <a:fillRect t="-31187" b="-31187"/>
              </a:stretch>
            </a:blipFill>
          </p:spPr>
          <p:txBody>
            <a:bodyPr/>
            <a:lstStyle/>
            <a:p>
              <a:endParaRPr lang="es-CL"/>
            </a:p>
          </p:txBody>
        </p:sp>
        <p:sp>
          <p:nvSpPr>
            <p:cNvPr id="10" name="TextBox 10"/>
            <p:cNvSpPr txBox="1"/>
            <p:nvPr/>
          </p:nvSpPr>
          <p:spPr>
            <a:xfrm>
              <a:off x="0" y="0"/>
              <a:ext cx="1828800" cy="438912"/>
            </a:xfrm>
            <a:prstGeom prst="rect">
              <a:avLst/>
            </a:prstGeom>
          </p:spPr>
          <p:txBody>
            <a:bodyPr lIns="0" tIns="0" rIns="0" bIns="0" rtlCol="0" anchor="ctr"/>
            <a:lstStyle/>
            <a:p>
              <a:pPr algn="r">
                <a:lnSpc>
                  <a:spcPts val="1709"/>
                </a:lnSpc>
              </a:pPr>
              <a:r>
                <a:rPr lang="en-US" sz="1425" b="1">
                  <a:solidFill>
                    <a:srgbClr val="18212F"/>
                  </a:solidFill>
                  <a:latin typeface="Aptos Bold"/>
                  <a:ea typeface="Aptos Bold"/>
                  <a:cs typeface="Aptos Bold"/>
                  <a:sym typeface="Aptos Bold"/>
                </a:rPr>
                <a:t>DUOC UC</a:t>
              </a:r>
            </a:p>
          </p:txBody>
        </p:sp>
      </p:grpSp>
      <p:grpSp>
        <p:nvGrpSpPr>
          <p:cNvPr id="11" name="Group 11"/>
          <p:cNvGrpSpPr/>
          <p:nvPr/>
        </p:nvGrpSpPr>
        <p:grpSpPr>
          <a:xfrm>
            <a:off x="843248" y="1666208"/>
            <a:ext cx="16610648" cy="14288"/>
            <a:chOff x="0" y="0"/>
            <a:chExt cx="22147530" cy="19050"/>
          </a:xfrm>
        </p:grpSpPr>
        <p:sp>
          <p:nvSpPr>
            <p:cNvPr id="12" name="Freeform 12"/>
            <p:cNvSpPr/>
            <p:nvPr/>
          </p:nvSpPr>
          <p:spPr>
            <a:xfrm>
              <a:off x="0" y="0"/>
              <a:ext cx="22147530" cy="19050"/>
            </a:xfrm>
            <a:custGeom>
              <a:avLst/>
              <a:gdLst/>
              <a:ahLst/>
              <a:cxnLst/>
              <a:rect l="l" t="t" r="r" b="b"/>
              <a:pathLst>
                <a:path w="22147530" h="19050">
                  <a:moveTo>
                    <a:pt x="0" y="0"/>
                  </a:moveTo>
                  <a:lnTo>
                    <a:pt x="22147530" y="19050"/>
                  </a:lnTo>
                </a:path>
              </a:pathLst>
            </a:custGeom>
            <a:blipFill>
              <a:blip r:embed="rId3">
                <a:alphaModFix amt="0"/>
              </a:blip>
              <a:stretch>
                <a:fillRect t="-22603305" b="-22603305"/>
              </a:stretch>
            </a:blipFill>
            <a:ln w="14288" cap="sq">
              <a:solidFill>
                <a:srgbClr val="CBD5E1"/>
              </a:solidFill>
              <a:prstDash val="solid"/>
              <a:miter/>
            </a:ln>
          </p:spPr>
          <p:txBody>
            <a:bodyPr/>
            <a:lstStyle/>
            <a:p>
              <a:endParaRPr lang="es-CL"/>
            </a:p>
          </p:txBody>
        </p:sp>
      </p:grpSp>
      <p:grpSp>
        <p:nvGrpSpPr>
          <p:cNvPr id="13" name="Group 13"/>
          <p:cNvGrpSpPr/>
          <p:nvPr/>
        </p:nvGrpSpPr>
        <p:grpSpPr>
          <a:xfrm>
            <a:off x="1234440" y="2057400"/>
            <a:ext cx="356616" cy="274320"/>
            <a:chOff x="0" y="0"/>
            <a:chExt cx="475488" cy="365760"/>
          </a:xfrm>
        </p:grpSpPr>
        <p:sp>
          <p:nvSpPr>
            <p:cNvPr id="14" name="Freeform 14"/>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15" name="TextBox 15"/>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16" name="Group 16"/>
          <p:cNvGrpSpPr/>
          <p:nvPr/>
        </p:nvGrpSpPr>
        <p:grpSpPr>
          <a:xfrm>
            <a:off x="1673352" y="2084832"/>
            <a:ext cx="7242048" cy="356616"/>
            <a:chOff x="0" y="0"/>
            <a:chExt cx="9656064" cy="475488"/>
          </a:xfrm>
        </p:grpSpPr>
        <p:sp>
          <p:nvSpPr>
            <p:cNvPr id="17" name="Freeform 17"/>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18" name="TextBox 18"/>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IE1 Dockerfile multi-stage y usuario no root</a:t>
              </a:r>
            </a:p>
          </p:txBody>
        </p:sp>
      </p:grpSp>
      <p:grpSp>
        <p:nvGrpSpPr>
          <p:cNvPr id="19" name="Group 19"/>
          <p:cNvGrpSpPr/>
          <p:nvPr/>
        </p:nvGrpSpPr>
        <p:grpSpPr>
          <a:xfrm>
            <a:off x="9464040" y="2057400"/>
            <a:ext cx="356616" cy="274320"/>
            <a:chOff x="0" y="0"/>
            <a:chExt cx="475488" cy="365760"/>
          </a:xfrm>
        </p:grpSpPr>
        <p:sp>
          <p:nvSpPr>
            <p:cNvPr id="20" name="Freeform 20"/>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21" name="TextBox 21"/>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22" name="Group 22"/>
          <p:cNvGrpSpPr/>
          <p:nvPr/>
        </p:nvGrpSpPr>
        <p:grpSpPr>
          <a:xfrm>
            <a:off x="9902952" y="2084832"/>
            <a:ext cx="7242048" cy="356616"/>
            <a:chOff x="0" y="0"/>
            <a:chExt cx="9656064" cy="475488"/>
          </a:xfrm>
        </p:grpSpPr>
        <p:sp>
          <p:nvSpPr>
            <p:cNvPr id="23" name="Freeform 23"/>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24" name="TextBox 24"/>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IE2 Docker Compose con servicios, red, variables y dependencias</a:t>
              </a:r>
            </a:p>
          </p:txBody>
        </p:sp>
      </p:grpSp>
      <p:grpSp>
        <p:nvGrpSpPr>
          <p:cNvPr id="25" name="Group 25"/>
          <p:cNvGrpSpPr/>
          <p:nvPr/>
        </p:nvGrpSpPr>
        <p:grpSpPr>
          <a:xfrm>
            <a:off x="1234440" y="2907792"/>
            <a:ext cx="356616" cy="274320"/>
            <a:chOff x="0" y="0"/>
            <a:chExt cx="475488" cy="365760"/>
          </a:xfrm>
        </p:grpSpPr>
        <p:sp>
          <p:nvSpPr>
            <p:cNvPr id="26" name="Freeform 26"/>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27" name="TextBox 27"/>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28" name="Group 28"/>
          <p:cNvGrpSpPr/>
          <p:nvPr/>
        </p:nvGrpSpPr>
        <p:grpSpPr>
          <a:xfrm>
            <a:off x="1673352" y="2935224"/>
            <a:ext cx="7242048" cy="356616"/>
            <a:chOff x="0" y="0"/>
            <a:chExt cx="9656064" cy="475488"/>
          </a:xfrm>
        </p:grpSpPr>
        <p:sp>
          <p:nvSpPr>
            <p:cNvPr id="29" name="Freeform 29"/>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30" name="TextBox 30"/>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IE3 Volumen Docker para persistencia de MySQL</a:t>
              </a:r>
            </a:p>
          </p:txBody>
        </p:sp>
      </p:grpSp>
      <p:grpSp>
        <p:nvGrpSpPr>
          <p:cNvPr id="31" name="Group 31"/>
          <p:cNvGrpSpPr/>
          <p:nvPr/>
        </p:nvGrpSpPr>
        <p:grpSpPr>
          <a:xfrm>
            <a:off x="9464040" y="2907792"/>
            <a:ext cx="356616" cy="274320"/>
            <a:chOff x="0" y="0"/>
            <a:chExt cx="475488" cy="365760"/>
          </a:xfrm>
        </p:grpSpPr>
        <p:sp>
          <p:nvSpPr>
            <p:cNvPr id="32" name="Freeform 32"/>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3" name="TextBox 33"/>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34" name="Group 34"/>
          <p:cNvGrpSpPr/>
          <p:nvPr/>
        </p:nvGrpSpPr>
        <p:grpSpPr>
          <a:xfrm>
            <a:off x="9902952" y="2935224"/>
            <a:ext cx="7242048" cy="356616"/>
            <a:chOff x="0" y="0"/>
            <a:chExt cx="9656064" cy="475488"/>
          </a:xfrm>
        </p:grpSpPr>
        <p:sp>
          <p:nvSpPr>
            <p:cNvPr id="35" name="Freeform 35"/>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36" name="TextBox 36"/>
            <p:cNvSpPr txBox="1"/>
            <p:nvPr/>
          </p:nvSpPr>
          <p:spPr>
            <a:xfrm>
              <a:off x="0" y="0"/>
              <a:ext cx="9656064" cy="475488"/>
            </a:xfrm>
            <a:prstGeom prst="rect">
              <a:avLst/>
            </a:prstGeom>
          </p:spPr>
          <p:txBody>
            <a:bodyPr lIns="0" tIns="0" rIns="0" bIns="0" rtlCol="0" anchor="ctr"/>
            <a:lstStyle/>
            <a:p>
              <a:pPr algn="l">
                <a:lnSpc>
                  <a:spcPts val="3240"/>
                </a:lnSpc>
              </a:pPr>
              <a:r>
                <a:rPr lang="en-US" sz="2700">
                  <a:solidFill>
                    <a:srgbClr val="000000"/>
                  </a:solidFill>
                  <a:latin typeface="Aptos"/>
                  <a:ea typeface="Aptos"/>
                  <a:cs typeface="Aptos"/>
                  <a:sym typeface="Aptos"/>
                </a:rPr>
                <a:t>IE4 Pipeline build + push; EC2 actualizada con Docker Compose</a:t>
              </a:r>
            </a:p>
          </p:txBody>
        </p:sp>
      </p:grpSp>
      <p:grpSp>
        <p:nvGrpSpPr>
          <p:cNvPr id="37" name="Group 37"/>
          <p:cNvGrpSpPr/>
          <p:nvPr/>
        </p:nvGrpSpPr>
        <p:grpSpPr>
          <a:xfrm>
            <a:off x="1234440" y="3758184"/>
            <a:ext cx="356616" cy="274320"/>
            <a:chOff x="0" y="0"/>
            <a:chExt cx="475488" cy="365760"/>
          </a:xfrm>
        </p:grpSpPr>
        <p:sp>
          <p:nvSpPr>
            <p:cNvPr id="38" name="Freeform 38"/>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39" name="TextBox 39"/>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0" name="Group 40"/>
          <p:cNvGrpSpPr/>
          <p:nvPr/>
        </p:nvGrpSpPr>
        <p:grpSpPr>
          <a:xfrm>
            <a:off x="1673352" y="3785616"/>
            <a:ext cx="7242048" cy="356616"/>
            <a:chOff x="0" y="0"/>
            <a:chExt cx="9656064" cy="475488"/>
          </a:xfrm>
        </p:grpSpPr>
        <p:sp>
          <p:nvSpPr>
            <p:cNvPr id="41" name="Freeform 41"/>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42" name="TextBox 42"/>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IE5 Frontend accesible desde EC2 por IP pública</a:t>
              </a:r>
            </a:p>
          </p:txBody>
        </p:sp>
      </p:grpSp>
      <p:grpSp>
        <p:nvGrpSpPr>
          <p:cNvPr id="43" name="Group 43"/>
          <p:cNvGrpSpPr/>
          <p:nvPr/>
        </p:nvGrpSpPr>
        <p:grpSpPr>
          <a:xfrm>
            <a:off x="9464040" y="3758184"/>
            <a:ext cx="356616" cy="274320"/>
            <a:chOff x="0" y="0"/>
            <a:chExt cx="475488" cy="365760"/>
          </a:xfrm>
        </p:grpSpPr>
        <p:sp>
          <p:nvSpPr>
            <p:cNvPr id="44" name="Freeform 44"/>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45" name="TextBox 45"/>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46" name="Group 46"/>
          <p:cNvGrpSpPr/>
          <p:nvPr/>
        </p:nvGrpSpPr>
        <p:grpSpPr>
          <a:xfrm>
            <a:off x="9902952" y="3785616"/>
            <a:ext cx="7242048" cy="356616"/>
            <a:chOff x="0" y="0"/>
            <a:chExt cx="9656064" cy="475488"/>
          </a:xfrm>
        </p:grpSpPr>
        <p:sp>
          <p:nvSpPr>
            <p:cNvPr id="47" name="Freeform 47"/>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48" name="TextBox 48"/>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IE6 Backend conectado a BD y respondiendo solicitudes</a:t>
              </a:r>
            </a:p>
          </p:txBody>
        </p:sp>
      </p:grpSp>
      <p:grpSp>
        <p:nvGrpSpPr>
          <p:cNvPr id="49" name="Group 49"/>
          <p:cNvGrpSpPr/>
          <p:nvPr/>
        </p:nvGrpSpPr>
        <p:grpSpPr>
          <a:xfrm>
            <a:off x="1234440" y="4608576"/>
            <a:ext cx="356616" cy="274320"/>
            <a:chOff x="0" y="0"/>
            <a:chExt cx="475488" cy="365760"/>
          </a:xfrm>
        </p:grpSpPr>
        <p:sp>
          <p:nvSpPr>
            <p:cNvPr id="50" name="Freeform 50"/>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51" name="TextBox 51"/>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52" name="Group 52"/>
          <p:cNvGrpSpPr/>
          <p:nvPr/>
        </p:nvGrpSpPr>
        <p:grpSpPr>
          <a:xfrm>
            <a:off x="1673352" y="4636008"/>
            <a:ext cx="7242048" cy="356616"/>
            <a:chOff x="0" y="0"/>
            <a:chExt cx="9656064" cy="475488"/>
          </a:xfrm>
        </p:grpSpPr>
        <p:sp>
          <p:nvSpPr>
            <p:cNvPr id="53" name="Freeform 53"/>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54" name="TextBox 54"/>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IE7 Integración Front → Back validada con HTTP 200</a:t>
              </a:r>
            </a:p>
          </p:txBody>
        </p:sp>
      </p:grpSp>
      <p:grpSp>
        <p:nvGrpSpPr>
          <p:cNvPr id="55" name="Group 55"/>
          <p:cNvGrpSpPr/>
          <p:nvPr/>
        </p:nvGrpSpPr>
        <p:grpSpPr>
          <a:xfrm>
            <a:off x="9464040" y="4608576"/>
            <a:ext cx="356616" cy="274320"/>
            <a:chOff x="0" y="0"/>
            <a:chExt cx="475488" cy="365760"/>
          </a:xfrm>
        </p:grpSpPr>
        <p:sp>
          <p:nvSpPr>
            <p:cNvPr id="56" name="Freeform 56"/>
            <p:cNvSpPr/>
            <p:nvPr/>
          </p:nvSpPr>
          <p:spPr>
            <a:xfrm>
              <a:off x="0" y="0"/>
              <a:ext cx="475488" cy="365760"/>
            </a:xfrm>
            <a:custGeom>
              <a:avLst/>
              <a:gdLst/>
              <a:ahLst/>
              <a:cxnLst/>
              <a:rect l="l" t="t" r="r" b="b"/>
              <a:pathLst>
                <a:path w="475488" h="365760">
                  <a:moveTo>
                    <a:pt x="0" y="0"/>
                  </a:moveTo>
                  <a:lnTo>
                    <a:pt x="475488" y="0"/>
                  </a:lnTo>
                  <a:lnTo>
                    <a:pt x="475488" y="365760"/>
                  </a:lnTo>
                  <a:lnTo>
                    <a:pt x="0" y="365760"/>
                  </a:lnTo>
                  <a:close/>
                </a:path>
              </a:pathLst>
            </a:custGeom>
            <a:blipFill>
              <a:blip r:embed="rId3">
                <a:alphaModFix amt="0"/>
              </a:blip>
              <a:stretch>
                <a:fillRect l="-48695" r="-48695"/>
              </a:stretch>
            </a:blipFill>
          </p:spPr>
          <p:txBody>
            <a:bodyPr/>
            <a:lstStyle/>
            <a:p>
              <a:endParaRPr lang="es-CL"/>
            </a:p>
          </p:txBody>
        </p:sp>
        <p:sp>
          <p:nvSpPr>
            <p:cNvPr id="57" name="TextBox 57"/>
            <p:cNvSpPr txBox="1"/>
            <p:nvPr/>
          </p:nvSpPr>
          <p:spPr>
            <a:xfrm>
              <a:off x="0" y="0"/>
              <a:ext cx="475488" cy="365760"/>
            </a:xfrm>
            <a:prstGeom prst="rect">
              <a:avLst/>
            </a:prstGeom>
          </p:spPr>
          <p:txBody>
            <a:bodyPr lIns="0" tIns="0" rIns="0" bIns="0" rtlCol="0" anchor="ctr"/>
            <a:lstStyle/>
            <a:p>
              <a:pPr algn="l">
                <a:lnSpc>
                  <a:spcPts val="2160"/>
                </a:lnSpc>
              </a:pPr>
              <a:r>
                <a:rPr lang="en-US" sz="1800" b="1">
                  <a:solidFill>
                    <a:srgbClr val="16A34A"/>
                  </a:solidFill>
                  <a:latin typeface="Aptos Bold"/>
                  <a:ea typeface="Aptos Bold"/>
                  <a:cs typeface="Aptos Bold"/>
                  <a:sym typeface="Aptos Bold"/>
                </a:rPr>
                <a:t>✓</a:t>
              </a:r>
            </a:p>
          </p:txBody>
        </p:sp>
      </p:grpSp>
      <p:grpSp>
        <p:nvGrpSpPr>
          <p:cNvPr id="58" name="Group 58"/>
          <p:cNvGrpSpPr/>
          <p:nvPr/>
        </p:nvGrpSpPr>
        <p:grpSpPr>
          <a:xfrm>
            <a:off x="9902952" y="4636008"/>
            <a:ext cx="7242048" cy="356616"/>
            <a:chOff x="0" y="0"/>
            <a:chExt cx="9656064" cy="475488"/>
          </a:xfrm>
        </p:grpSpPr>
        <p:sp>
          <p:nvSpPr>
            <p:cNvPr id="59" name="Freeform 59"/>
            <p:cNvSpPr/>
            <p:nvPr/>
          </p:nvSpPr>
          <p:spPr>
            <a:xfrm>
              <a:off x="0" y="0"/>
              <a:ext cx="9656064" cy="475488"/>
            </a:xfrm>
            <a:custGeom>
              <a:avLst/>
              <a:gdLst/>
              <a:ahLst/>
              <a:cxnLst/>
              <a:rect l="l" t="t" r="r" b="b"/>
              <a:pathLst>
                <a:path w="9656064" h="475488">
                  <a:moveTo>
                    <a:pt x="0" y="0"/>
                  </a:moveTo>
                  <a:lnTo>
                    <a:pt x="9656064" y="0"/>
                  </a:lnTo>
                  <a:lnTo>
                    <a:pt x="9656064" y="475488"/>
                  </a:lnTo>
                  <a:lnTo>
                    <a:pt x="0" y="475488"/>
                  </a:lnTo>
                  <a:close/>
                </a:path>
              </a:pathLst>
            </a:custGeom>
            <a:blipFill>
              <a:blip r:embed="rId3">
                <a:alphaModFix amt="0"/>
              </a:blip>
              <a:stretch>
                <a:fillRect t="-345696" b="-345696"/>
              </a:stretch>
            </a:blipFill>
          </p:spPr>
          <p:txBody>
            <a:bodyPr/>
            <a:lstStyle/>
            <a:p>
              <a:endParaRPr lang="es-CL"/>
            </a:p>
          </p:txBody>
        </p:sp>
        <p:sp>
          <p:nvSpPr>
            <p:cNvPr id="60" name="TextBox 60"/>
            <p:cNvSpPr txBox="1"/>
            <p:nvPr/>
          </p:nvSpPr>
          <p:spPr>
            <a:xfrm>
              <a:off x="0" y="-9525"/>
              <a:ext cx="9656064" cy="485013"/>
            </a:xfrm>
            <a:prstGeom prst="rect">
              <a:avLst/>
            </a:prstGeom>
          </p:spPr>
          <p:txBody>
            <a:bodyPr lIns="0" tIns="0" rIns="0" bIns="0" rtlCol="0" anchor="ctr"/>
            <a:lstStyle/>
            <a:p>
              <a:pPr algn="l">
                <a:lnSpc>
                  <a:spcPts val="1620"/>
                </a:lnSpc>
              </a:pPr>
              <a:r>
                <a:rPr lang="en-US" sz="1350">
                  <a:solidFill>
                    <a:srgbClr val="18212F"/>
                  </a:solidFill>
                  <a:latin typeface="Aptos"/>
                  <a:ea typeface="Aptos"/>
                  <a:cs typeface="Aptos"/>
                  <a:sym typeface="Aptos"/>
                </a:rPr>
                <a:t>IE8 README y repositorio documentado con commits explicativos</a:t>
              </a:r>
            </a:p>
          </p:txBody>
        </p:sp>
      </p:grpSp>
      <p:grpSp>
        <p:nvGrpSpPr>
          <p:cNvPr id="61" name="Group 61"/>
          <p:cNvGrpSpPr/>
          <p:nvPr/>
        </p:nvGrpSpPr>
        <p:grpSpPr>
          <a:xfrm>
            <a:off x="1430655" y="6299835"/>
            <a:ext cx="15380970" cy="1774698"/>
            <a:chOff x="0" y="0"/>
            <a:chExt cx="20507960" cy="2366264"/>
          </a:xfrm>
        </p:grpSpPr>
        <p:sp>
          <p:nvSpPr>
            <p:cNvPr id="62" name="Freeform 62"/>
            <p:cNvSpPr/>
            <p:nvPr/>
          </p:nvSpPr>
          <p:spPr>
            <a:xfrm>
              <a:off x="0" y="0"/>
              <a:ext cx="20507961" cy="2366264"/>
            </a:xfrm>
            <a:custGeom>
              <a:avLst/>
              <a:gdLst/>
              <a:ahLst/>
              <a:cxnLst/>
              <a:rect l="l" t="t" r="r" b="b"/>
              <a:pathLst>
                <a:path w="20507961" h="2366264">
                  <a:moveTo>
                    <a:pt x="0" y="295783"/>
                  </a:moveTo>
                  <a:cubicBezTo>
                    <a:pt x="0" y="132461"/>
                    <a:pt x="132461" y="0"/>
                    <a:pt x="295783" y="0"/>
                  </a:cubicBezTo>
                  <a:lnTo>
                    <a:pt x="20212177" y="0"/>
                  </a:lnTo>
                  <a:cubicBezTo>
                    <a:pt x="20375499" y="0"/>
                    <a:pt x="20507961" y="132461"/>
                    <a:pt x="20507961" y="295783"/>
                  </a:cubicBezTo>
                  <a:lnTo>
                    <a:pt x="20507961" y="2070481"/>
                  </a:lnTo>
                  <a:cubicBezTo>
                    <a:pt x="20507961" y="2233803"/>
                    <a:pt x="20375499" y="2366264"/>
                    <a:pt x="20212177" y="2366264"/>
                  </a:cubicBezTo>
                  <a:lnTo>
                    <a:pt x="295783" y="2366264"/>
                  </a:lnTo>
                  <a:cubicBezTo>
                    <a:pt x="132461" y="2366264"/>
                    <a:pt x="0" y="2233803"/>
                    <a:pt x="0" y="2070481"/>
                  </a:cubicBezTo>
                  <a:close/>
                </a:path>
              </a:pathLst>
            </a:custGeom>
            <a:solidFill>
              <a:srgbClr val="0B1320"/>
            </a:solidFill>
            <a:ln w="19050" cap="sq">
              <a:solidFill>
                <a:srgbClr val="0B1320"/>
              </a:solidFill>
              <a:prstDash val="solid"/>
              <a:miter/>
            </a:ln>
          </p:spPr>
          <p:txBody>
            <a:bodyPr/>
            <a:lstStyle/>
            <a:p>
              <a:endParaRPr lang="es-CL"/>
            </a:p>
          </p:txBody>
        </p:sp>
      </p:grpSp>
      <p:grpSp>
        <p:nvGrpSpPr>
          <p:cNvPr id="63" name="Group 63"/>
          <p:cNvGrpSpPr/>
          <p:nvPr/>
        </p:nvGrpSpPr>
        <p:grpSpPr>
          <a:xfrm>
            <a:off x="1673352" y="6432582"/>
            <a:ext cx="15083409" cy="741807"/>
            <a:chOff x="0" y="0"/>
            <a:chExt cx="20111212" cy="989076"/>
          </a:xfrm>
        </p:grpSpPr>
        <p:sp>
          <p:nvSpPr>
            <p:cNvPr id="64" name="Freeform 64"/>
            <p:cNvSpPr/>
            <p:nvPr/>
          </p:nvSpPr>
          <p:spPr>
            <a:xfrm>
              <a:off x="0" y="0"/>
              <a:ext cx="20111211" cy="989076"/>
            </a:xfrm>
            <a:custGeom>
              <a:avLst/>
              <a:gdLst/>
              <a:ahLst/>
              <a:cxnLst/>
              <a:rect l="l" t="t" r="r" b="b"/>
              <a:pathLst>
                <a:path w="20111211" h="989076">
                  <a:moveTo>
                    <a:pt x="0" y="0"/>
                  </a:moveTo>
                  <a:lnTo>
                    <a:pt x="20111211" y="0"/>
                  </a:lnTo>
                  <a:lnTo>
                    <a:pt x="20111211" y="989076"/>
                  </a:lnTo>
                  <a:lnTo>
                    <a:pt x="0" y="989076"/>
                  </a:lnTo>
                  <a:close/>
                </a:path>
              </a:pathLst>
            </a:custGeom>
            <a:blipFill>
              <a:blip r:embed="rId3">
                <a:alphaModFix amt="0"/>
              </a:blip>
              <a:stretch>
                <a:fillRect t="-269446" r="24524" b="-228614"/>
              </a:stretch>
            </a:blipFill>
          </p:spPr>
          <p:txBody>
            <a:bodyPr/>
            <a:lstStyle/>
            <a:p>
              <a:endParaRPr lang="es-CL"/>
            </a:p>
          </p:txBody>
        </p:sp>
        <p:sp>
          <p:nvSpPr>
            <p:cNvPr id="65" name="TextBox 65"/>
            <p:cNvSpPr txBox="1"/>
            <p:nvPr/>
          </p:nvSpPr>
          <p:spPr>
            <a:xfrm>
              <a:off x="0" y="0"/>
              <a:ext cx="20111212" cy="989076"/>
            </a:xfrm>
            <a:prstGeom prst="rect">
              <a:avLst/>
            </a:prstGeom>
          </p:spPr>
          <p:txBody>
            <a:bodyPr lIns="0" tIns="0" rIns="0" bIns="0" rtlCol="0" anchor="ctr"/>
            <a:lstStyle/>
            <a:p>
              <a:pPr algn="l">
                <a:lnSpc>
                  <a:spcPts val="2760"/>
                </a:lnSpc>
              </a:pPr>
              <a:r>
                <a:rPr lang="en-US" sz="2300" b="1">
                  <a:solidFill>
                    <a:srgbClr val="FFFFFF"/>
                  </a:solidFill>
                  <a:latin typeface="Aptos Bold"/>
                  <a:ea typeface="Aptos Bold"/>
                  <a:cs typeface="Aptos Bold"/>
                  <a:sym typeface="Aptos Bold"/>
                </a:rPr>
                <a:t>Solución multicontenedor reproducible, versionada, publicada en registry y operativa en AWS EC2.</a:t>
              </a:r>
            </a:p>
          </p:txBody>
        </p:sp>
      </p:grpSp>
      <p:grpSp>
        <p:nvGrpSpPr>
          <p:cNvPr id="66" name="Group 66"/>
          <p:cNvGrpSpPr/>
          <p:nvPr/>
        </p:nvGrpSpPr>
        <p:grpSpPr>
          <a:xfrm>
            <a:off x="1591056" y="7236651"/>
            <a:ext cx="14907130" cy="771081"/>
            <a:chOff x="0" y="0"/>
            <a:chExt cx="17816494" cy="921570"/>
          </a:xfrm>
        </p:grpSpPr>
        <p:sp>
          <p:nvSpPr>
            <p:cNvPr id="67" name="Freeform 67"/>
            <p:cNvSpPr/>
            <p:nvPr/>
          </p:nvSpPr>
          <p:spPr>
            <a:xfrm>
              <a:off x="0" y="0"/>
              <a:ext cx="17816494" cy="921570"/>
            </a:xfrm>
            <a:custGeom>
              <a:avLst/>
              <a:gdLst/>
              <a:ahLst/>
              <a:cxnLst/>
              <a:rect l="l" t="t" r="r" b="b"/>
              <a:pathLst>
                <a:path w="17816494" h="921570">
                  <a:moveTo>
                    <a:pt x="0" y="0"/>
                  </a:moveTo>
                  <a:lnTo>
                    <a:pt x="17816494" y="0"/>
                  </a:lnTo>
                  <a:lnTo>
                    <a:pt x="17816494" y="921570"/>
                  </a:lnTo>
                  <a:lnTo>
                    <a:pt x="0" y="921570"/>
                  </a:lnTo>
                  <a:close/>
                </a:path>
              </a:pathLst>
            </a:custGeom>
            <a:blipFill>
              <a:blip r:embed="rId3">
                <a:alphaModFix amt="0"/>
              </a:blip>
              <a:stretch>
                <a:fillRect t="-293153" r="14803" b="-248717"/>
              </a:stretch>
            </a:blipFill>
          </p:spPr>
          <p:txBody>
            <a:bodyPr/>
            <a:lstStyle/>
            <a:p>
              <a:endParaRPr lang="es-CL"/>
            </a:p>
          </p:txBody>
        </p:sp>
        <p:sp>
          <p:nvSpPr>
            <p:cNvPr id="68" name="TextBox 68"/>
            <p:cNvSpPr txBox="1"/>
            <p:nvPr/>
          </p:nvSpPr>
          <p:spPr>
            <a:xfrm>
              <a:off x="0" y="0"/>
              <a:ext cx="17816494" cy="921570"/>
            </a:xfrm>
            <a:prstGeom prst="rect">
              <a:avLst/>
            </a:prstGeom>
          </p:spPr>
          <p:txBody>
            <a:bodyPr lIns="0" tIns="0" rIns="0" bIns="0" rtlCol="0" anchor="ctr"/>
            <a:lstStyle/>
            <a:p>
              <a:pPr algn="l">
                <a:lnSpc>
                  <a:spcPts val="2760"/>
                </a:lnSpc>
              </a:pPr>
              <a:r>
                <a:rPr lang="en-US" sz="2300">
                  <a:solidFill>
                    <a:srgbClr val="FFFFFF"/>
                  </a:solidFill>
                  <a:latin typeface="Aptos"/>
                  <a:ea typeface="Aptos"/>
                  <a:cs typeface="Aptos"/>
                  <a:sym typeface="Aptos"/>
                </a:rPr>
                <a:t>Mejora productiva: restringir backends a red privada, agregar HTTPS y automatizar pull/up en EC2 directamente desde GitHub Actions.</a:t>
              </a:r>
            </a:p>
          </p:txBody>
        </p:sp>
      </p:grpSp>
      <p:grpSp>
        <p:nvGrpSpPr>
          <p:cNvPr id="69" name="Group 69"/>
          <p:cNvGrpSpPr/>
          <p:nvPr/>
        </p:nvGrpSpPr>
        <p:grpSpPr>
          <a:xfrm>
            <a:off x="7465695" y="8700135"/>
            <a:ext cx="3036570" cy="485394"/>
            <a:chOff x="0" y="0"/>
            <a:chExt cx="4048760" cy="647192"/>
          </a:xfrm>
        </p:grpSpPr>
        <p:sp>
          <p:nvSpPr>
            <p:cNvPr id="70" name="Freeform 70"/>
            <p:cNvSpPr/>
            <p:nvPr/>
          </p:nvSpPr>
          <p:spPr>
            <a:xfrm>
              <a:off x="0" y="0"/>
              <a:ext cx="4048760" cy="647192"/>
            </a:xfrm>
            <a:custGeom>
              <a:avLst/>
              <a:gdLst/>
              <a:ahLst/>
              <a:cxnLst/>
              <a:rect l="l" t="t" r="r" b="b"/>
              <a:pathLst>
                <a:path w="4048760" h="647192">
                  <a:moveTo>
                    <a:pt x="0" y="152273"/>
                  </a:moveTo>
                  <a:cubicBezTo>
                    <a:pt x="0" y="68199"/>
                    <a:pt x="68199" y="0"/>
                    <a:pt x="152273" y="0"/>
                  </a:cubicBezTo>
                  <a:lnTo>
                    <a:pt x="3896487" y="0"/>
                  </a:lnTo>
                  <a:cubicBezTo>
                    <a:pt x="3980561" y="0"/>
                    <a:pt x="4048760" y="68199"/>
                    <a:pt x="4048760" y="152273"/>
                  </a:cubicBezTo>
                  <a:lnTo>
                    <a:pt x="4048760" y="494919"/>
                  </a:lnTo>
                  <a:cubicBezTo>
                    <a:pt x="4048760" y="578993"/>
                    <a:pt x="3980561" y="647192"/>
                    <a:pt x="3896487" y="647192"/>
                  </a:cubicBezTo>
                  <a:lnTo>
                    <a:pt x="152273" y="647192"/>
                  </a:lnTo>
                  <a:cubicBezTo>
                    <a:pt x="68199" y="647192"/>
                    <a:pt x="0" y="578993"/>
                    <a:pt x="0" y="494919"/>
                  </a:cubicBezTo>
                  <a:close/>
                </a:path>
              </a:pathLst>
            </a:custGeom>
            <a:solidFill>
              <a:srgbClr val="0D9488"/>
            </a:solidFill>
            <a:ln w="19050" cap="sq">
              <a:solidFill>
                <a:srgbClr val="0D9488"/>
              </a:solidFill>
              <a:prstDash val="solid"/>
              <a:miter/>
            </a:ln>
          </p:spPr>
          <p:txBody>
            <a:bodyPr/>
            <a:lstStyle/>
            <a:p>
              <a:endParaRPr lang="es-CL"/>
            </a:p>
          </p:txBody>
        </p:sp>
      </p:grpSp>
      <p:grpSp>
        <p:nvGrpSpPr>
          <p:cNvPr id="71" name="Group 71"/>
          <p:cNvGrpSpPr/>
          <p:nvPr/>
        </p:nvGrpSpPr>
        <p:grpSpPr>
          <a:xfrm>
            <a:off x="7639812" y="8812530"/>
            <a:ext cx="2688336" cy="205740"/>
            <a:chOff x="0" y="0"/>
            <a:chExt cx="3584448" cy="274320"/>
          </a:xfrm>
        </p:grpSpPr>
        <p:sp>
          <p:nvSpPr>
            <p:cNvPr id="72" name="Freeform 72"/>
            <p:cNvSpPr/>
            <p:nvPr/>
          </p:nvSpPr>
          <p:spPr>
            <a:xfrm>
              <a:off x="0" y="0"/>
              <a:ext cx="3584448" cy="274320"/>
            </a:xfrm>
            <a:custGeom>
              <a:avLst/>
              <a:gdLst/>
              <a:ahLst/>
              <a:cxnLst/>
              <a:rect l="l" t="t" r="r" b="b"/>
              <a:pathLst>
                <a:path w="3584448" h="274320">
                  <a:moveTo>
                    <a:pt x="0" y="0"/>
                  </a:moveTo>
                  <a:lnTo>
                    <a:pt x="3584448" y="0"/>
                  </a:lnTo>
                  <a:lnTo>
                    <a:pt x="3584448" y="274320"/>
                  </a:lnTo>
                  <a:lnTo>
                    <a:pt x="0" y="274320"/>
                  </a:lnTo>
                  <a:close/>
                </a:path>
              </a:pathLst>
            </a:custGeom>
            <a:blipFill>
              <a:blip r:embed="rId3">
                <a:alphaModFix amt="0"/>
              </a:blip>
              <a:stretch>
                <a:fillRect t="-204604" b="-204604"/>
              </a:stretch>
            </a:blipFill>
          </p:spPr>
          <p:txBody>
            <a:bodyPr/>
            <a:lstStyle/>
            <a:p>
              <a:endParaRPr lang="es-CL"/>
            </a:p>
          </p:txBody>
        </p:sp>
        <p:sp>
          <p:nvSpPr>
            <p:cNvPr id="73" name="TextBox 73"/>
            <p:cNvSpPr txBox="1"/>
            <p:nvPr/>
          </p:nvSpPr>
          <p:spPr>
            <a:xfrm>
              <a:off x="0" y="0"/>
              <a:ext cx="3584448" cy="274320"/>
            </a:xfrm>
            <a:prstGeom prst="rect">
              <a:avLst/>
            </a:prstGeom>
          </p:spPr>
          <p:txBody>
            <a:bodyPr lIns="0" tIns="0" rIns="0" bIns="0" rtlCol="0" anchor="ctr"/>
            <a:lstStyle/>
            <a:p>
              <a:pPr algn="ctr">
                <a:lnSpc>
                  <a:spcPts val="1439"/>
                </a:lnSpc>
              </a:pPr>
              <a:r>
                <a:rPr lang="en-US" sz="1200" b="1">
                  <a:solidFill>
                    <a:srgbClr val="FFFFFF"/>
                  </a:solidFill>
                  <a:latin typeface="Aptos Bold"/>
                  <a:ea typeface="Aptos Bold"/>
                  <a:cs typeface="Aptos Bold"/>
                  <a:sym typeface="Aptos Bold"/>
                </a:rPr>
                <a:t>Gracias</a:t>
              </a:r>
            </a:p>
          </p:txBody>
        </p:sp>
      </p:grpSp>
      <p:grpSp>
        <p:nvGrpSpPr>
          <p:cNvPr id="74" name="Group 74"/>
          <p:cNvGrpSpPr/>
          <p:nvPr/>
        </p:nvGrpSpPr>
        <p:grpSpPr>
          <a:xfrm>
            <a:off x="754380" y="9779508"/>
            <a:ext cx="7406640" cy="246888"/>
            <a:chOff x="0" y="0"/>
            <a:chExt cx="9875520" cy="329184"/>
          </a:xfrm>
        </p:grpSpPr>
        <p:sp>
          <p:nvSpPr>
            <p:cNvPr id="75" name="Freeform 75"/>
            <p:cNvSpPr/>
            <p:nvPr/>
          </p:nvSpPr>
          <p:spPr>
            <a:xfrm>
              <a:off x="0" y="0"/>
              <a:ext cx="9875520" cy="329184"/>
            </a:xfrm>
            <a:custGeom>
              <a:avLst/>
              <a:gdLst/>
              <a:ahLst/>
              <a:cxnLst/>
              <a:rect l="l" t="t" r="r" b="b"/>
              <a:pathLst>
                <a:path w="9875520" h="329184">
                  <a:moveTo>
                    <a:pt x="0" y="0"/>
                  </a:moveTo>
                  <a:lnTo>
                    <a:pt x="9875520" y="0"/>
                  </a:lnTo>
                  <a:lnTo>
                    <a:pt x="9875520" y="329184"/>
                  </a:lnTo>
                  <a:lnTo>
                    <a:pt x="0" y="329184"/>
                  </a:lnTo>
                  <a:close/>
                </a:path>
              </a:pathLst>
            </a:custGeom>
            <a:blipFill>
              <a:blip r:embed="rId3">
                <a:alphaModFix amt="0"/>
              </a:blip>
              <a:stretch>
                <a:fillRect t="-534551" b="-534551"/>
              </a:stretch>
            </a:blipFill>
          </p:spPr>
          <p:txBody>
            <a:bodyPr/>
            <a:lstStyle/>
            <a:p>
              <a:endParaRPr lang="es-CL"/>
            </a:p>
          </p:txBody>
        </p:sp>
        <p:sp>
          <p:nvSpPr>
            <p:cNvPr id="76" name="TextBox 76"/>
            <p:cNvSpPr txBox="1"/>
            <p:nvPr/>
          </p:nvSpPr>
          <p:spPr>
            <a:xfrm>
              <a:off x="0" y="-9525"/>
              <a:ext cx="9875520" cy="338709"/>
            </a:xfrm>
            <a:prstGeom prst="rect">
              <a:avLst/>
            </a:prstGeom>
          </p:spPr>
          <p:txBody>
            <a:bodyPr lIns="0" tIns="0" rIns="0" bIns="0" rtlCol="0" anchor="ctr"/>
            <a:lstStyle/>
            <a:p>
              <a:pPr algn="l">
                <a:lnSpc>
                  <a:spcPts val="1223"/>
                </a:lnSpc>
              </a:pPr>
              <a:r>
                <a:rPr lang="en-US" sz="1019">
                  <a:solidFill>
                    <a:srgbClr val="64748B"/>
                  </a:solidFill>
                  <a:latin typeface="Aptos"/>
                  <a:ea typeface="Aptos"/>
                  <a:cs typeface="Aptos"/>
                  <a:sym typeface="Aptos"/>
                </a:rPr>
                <a:t>EP2 ISY1101 · DevOps</a:t>
              </a:r>
            </a:p>
          </p:txBody>
        </p:sp>
      </p:grpSp>
      <p:grpSp>
        <p:nvGrpSpPr>
          <p:cNvPr id="77" name="Group 77"/>
          <p:cNvGrpSpPr/>
          <p:nvPr/>
        </p:nvGrpSpPr>
        <p:grpSpPr>
          <a:xfrm>
            <a:off x="16952976" y="9669780"/>
            <a:ext cx="576072" cy="356616"/>
            <a:chOff x="0" y="0"/>
            <a:chExt cx="768096" cy="475488"/>
          </a:xfrm>
        </p:grpSpPr>
        <p:sp>
          <p:nvSpPr>
            <p:cNvPr id="78" name="Freeform 78"/>
            <p:cNvSpPr/>
            <p:nvPr/>
          </p:nvSpPr>
          <p:spPr>
            <a:xfrm>
              <a:off x="0" y="0"/>
              <a:ext cx="768096" cy="475488"/>
            </a:xfrm>
            <a:custGeom>
              <a:avLst/>
              <a:gdLst/>
              <a:ahLst/>
              <a:cxnLst/>
              <a:rect l="l" t="t" r="r" b="b"/>
              <a:pathLst>
                <a:path w="768096" h="475488">
                  <a:moveTo>
                    <a:pt x="0" y="0"/>
                  </a:moveTo>
                  <a:lnTo>
                    <a:pt x="768096" y="0"/>
                  </a:lnTo>
                  <a:lnTo>
                    <a:pt x="768096" y="475488"/>
                  </a:lnTo>
                  <a:lnTo>
                    <a:pt x="0" y="475488"/>
                  </a:lnTo>
                  <a:close/>
                </a:path>
              </a:pathLst>
            </a:custGeom>
            <a:blipFill>
              <a:blip r:embed="rId3">
                <a:alphaModFix amt="0"/>
              </a:blip>
              <a:stretch>
                <a:fillRect l="-29426" r="-29426"/>
              </a:stretch>
            </a:blipFill>
          </p:spPr>
          <p:txBody>
            <a:bodyPr/>
            <a:lstStyle/>
            <a:p>
              <a:endParaRPr lang="es-CL"/>
            </a:p>
          </p:txBody>
        </p:sp>
        <p:sp>
          <p:nvSpPr>
            <p:cNvPr id="79" name="TextBox 79"/>
            <p:cNvSpPr txBox="1"/>
            <p:nvPr/>
          </p:nvSpPr>
          <p:spPr>
            <a:xfrm>
              <a:off x="0" y="0"/>
              <a:ext cx="768096" cy="475488"/>
            </a:xfrm>
            <a:prstGeom prst="rect">
              <a:avLst/>
            </a:prstGeom>
          </p:spPr>
          <p:txBody>
            <a:bodyPr lIns="0" tIns="0" rIns="0" bIns="0" rtlCol="0" anchor="ctr"/>
            <a:lstStyle/>
            <a:p>
              <a:pPr algn="ctr">
                <a:lnSpc>
                  <a:spcPts val="1439"/>
                </a:lnSpc>
              </a:pPr>
              <a:r>
                <a:rPr lang="en-US" sz="1200" b="1">
                  <a:solidFill>
                    <a:srgbClr val="0D9488"/>
                  </a:solidFill>
                  <a:latin typeface="Aptos Bold"/>
                  <a:ea typeface="Aptos Bold"/>
                  <a:cs typeface="Aptos Bold"/>
                  <a:sym typeface="Aptos Bold"/>
                </a:rPr>
                <a:t>15</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2502</Words>
  <Application>Microsoft Office PowerPoint</Application>
  <PresentationFormat>Personalizado</PresentationFormat>
  <Paragraphs>266</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 Bold</vt: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Presentacion_EP2_ISY1101_Profesional_Guion_Ajustada.pptx</dc:title>
  <cp:lastModifiedBy>MATIAS IGNACIO MERCADO ORTEGA</cp:lastModifiedBy>
  <cp:revision>2</cp:revision>
  <dcterms:created xsi:type="dcterms:W3CDTF">2006-08-16T00:00:00Z</dcterms:created>
  <dcterms:modified xsi:type="dcterms:W3CDTF">2026-05-22T19:16:40Z</dcterms:modified>
  <dc:identifier>DAHKanSo8U4</dc:identifier>
</cp:coreProperties>
</file>